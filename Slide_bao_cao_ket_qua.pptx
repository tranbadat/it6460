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71" r:id="rId21"/>
    <p:sldId id="269" r:id="rId19"/>
    <p:sldId id="270" r:id="rId20"/>
    <p:sldId id="272" r:id="rId22"/>
    <p:sldId id="273" r:id="rId23"/>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j3rthzhLPst2zs7GclfCnjSFev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33A356F-784D-4884-A680-775E4A61AB1C}">
  <a:tblStyle styleId="{333A356F-784D-4884-A680-775E4A61AB1C}"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customschemas.google.com/relationships/presentationmetadata" Target="meta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Ba phân hệ chức năng, CSDL và tích hợp</c:v>
                </c:pt>
              </c:strCache>
            </c:strRef>
          </c:tx>
          <c:spPr>
            <a:solidFill>
              <a:srgbClr val="B4523A"/>
            </a:solidFill>
            <a:effectLst/>
          </c:spPr>
          <c:invertIfNegative val="0"/>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strRef>
              <c:f>Sheet1!$A$2:$A$9</c:f>
              <c:strCache>
                <c:ptCount val="8"/>
                <c:pt idx="0">
                  <c:v>1. Quản lý dự án</c:v>
                </c:pt>
                <c:pt idx="1">
                  <c:v>2. Phân tích và thiết kế chung</c:v>
                </c:pt>
                <c:pt idx="2">
                  <c:v>3. Tìm kiếm và hiển thị sản phẩm</c:v>
                </c:pt>
                <c:pt idx="3">
                  <c:v>4. Phân hệ thành viên</c:v>
                </c:pt>
                <c:pt idx="4">
                  <c:v>5. Phân hệ đặt hàng</c:v>
                </c:pt>
                <c:pt idx="5">
                  <c:v>6. CSDL bán hàng và tích hợp</c:v>
                </c:pt>
                <c:pt idx="6">
                  <c:v>7. Kiểm thử hệ thống và vận hành</c:v>
                </c:pt>
                <c:pt idx="7">
                  <c:v>8. Triển khai và chuyển giao</c:v>
                </c:pt>
              </c:strCache>
            </c:strRef>
          </c:cat>
          <c:val>
            <c:numRef>
              <c:f>Sheet1!$B$2:$B$9</c:f>
              <c:numCache>
                <c:formatCode>General</c:formatCode>
                <c:ptCount val="8"/>
                <c:pt idx="0">
                  <c:v>0</c:v>
                </c:pt>
                <c:pt idx="1">
                  <c:v>0</c:v>
                </c:pt>
                <c:pt idx="2">
                  <c:v>95</c:v>
                </c:pt>
                <c:pt idx="3">
                  <c:v>91</c:v>
                </c:pt>
                <c:pt idx="4">
                  <c:v>129</c:v>
                </c:pt>
                <c:pt idx="5">
                  <c:v>93</c:v>
                </c:pt>
                <c:pt idx="6">
                  <c:v>0</c:v>
                </c:pt>
                <c:pt idx="7">
                  <c:v>0</c:v>
                </c:pt>
              </c:numCache>
            </c:numRef>
          </c:val>
        </c:ser>
        <c:ser>
          <c:idx val="1"/>
          <c:order val="1"/>
          <c:tx>
            <c:strRef>
              <c:f>Sheet1!$C$1</c:f>
              <c:strCache>
                <c:ptCount val="1"/>
                <c:pt idx="0">
                  <c:v>Quản lý, thiết kế chung, kiểm thử, chuyển giao</c:v>
                </c:pt>
              </c:strCache>
            </c:strRef>
          </c:tx>
          <c:spPr>
            <a:solidFill>
              <a:srgbClr val="6F8189"/>
            </a:solidFill>
            <a:effectLst/>
          </c:spPr>
          <c:invertIfNegative val="0"/>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strRef>
              <c:f>Sheet1!$A$2:$A$9</c:f>
              <c:strCache>
                <c:ptCount val="8"/>
                <c:pt idx="0">
                  <c:v>1. Quản lý dự án</c:v>
                </c:pt>
                <c:pt idx="1">
                  <c:v>2. Phân tích và thiết kế chung</c:v>
                </c:pt>
                <c:pt idx="2">
                  <c:v>3. Tìm kiếm và hiển thị sản phẩm</c:v>
                </c:pt>
                <c:pt idx="3">
                  <c:v>4. Phân hệ thành viên</c:v>
                </c:pt>
                <c:pt idx="4">
                  <c:v>5. Phân hệ đặt hàng</c:v>
                </c:pt>
                <c:pt idx="5">
                  <c:v>6. CSDL bán hàng và tích hợp</c:v>
                </c:pt>
                <c:pt idx="6">
                  <c:v>7. Kiểm thử hệ thống và vận hành</c:v>
                </c:pt>
                <c:pt idx="7">
                  <c:v>8. Triển khai và chuyển giao</c:v>
                </c:pt>
              </c:strCache>
            </c:strRef>
          </c:cat>
          <c:val>
            <c:numRef>
              <c:f>Sheet1!$C$2:$C$9</c:f>
              <c:numCache>
                <c:formatCode>General</c:formatCode>
                <c:ptCount val="8"/>
                <c:pt idx="0">
                  <c:v>60</c:v>
                </c:pt>
                <c:pt idx="1">
                  <c:v>66</c:v>
                </c:pt>
                <c:pt idx="2">
                  <c:v>0</c:v>
                </c:pt>
                <c:pt idx="3">
                  <c:v>0</c:v>
                </c:pt>
                <c:pt idx="4">
                  <c:v>0</c:v>
                </c:pt>
                <c:pt idx="5">
                  <c:v>0</c:v>
                </c:pt>
                <c:pt idx="6">
                  <c:v>73</c:v>
                </c:pt>
                <c:pt idx="7">
                  <c:v>50</c:v>
                </c:pt>
              </c:numCache>
            </c:numRef>
          </c:val>
        </c:ser>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D2327"/>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D232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43D"/>
                </a:solidFill>
                <a:latin typeface="+mn-lt"/>
              </a:defRPr>
            </a:pPr>
            <a:r>
              <a:rPr sz="1400" b="0" i="0" u="none" strike="noStrike">
                <a:solidFill>
                  <a:srgbClr val="24343D"/>
                </a:solidFill>
                <a:latin typeface="+mn-lt"/>
              </a:rPr>
              <a:t>Số người theo sprint</a:t>
            </a:r>
          </a:p>
        </c:rich>
      </c:tx>
      <c:layout/>
      <c:overlay val="0"/>
    </c:title>
    <c:autoTitleDeleted val="0"/>
    <c:plotArea>
      <c:layout/>
      <c:barChart>
        <c:barDir val="col"/>
        <c:grouping val="stacked"/>
        <c:varyColors val="0"/>
        <c:ser>
          <c:idx val="0"/>
          <c:order val="0"/>
          <c:tx>
            <c:strRef>
              <c:f>Sheet1!$B$1</c:f>
              <c:strCache>
                <c:ptCount val="1"/>
                <c:pt idx="0">
                  <c:v>Nhóm chính</c:v>
                </c:pt>
              </c:strCache>
            </c:strRef>
          </c:tx>
          <c:spPr>
            <a:solidFill>
              <a:srgbClr val="24343D"/>
            </a:solidFill>
            <a:effectLst/>
          </c:spPr>
          <c:invertIfNegative val="0"/>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strRef>
              <c:f>Sheet1!$A$2:$A$8</c:f>
              <c:strCache>
                <c:ptCount val="7"/>
                <c:pt idx="0">
                  <c:v>S1</c:v>
                </c:pt>
                <c:pt idx="1">
                  <c:v>S2</c:v>
                </c:pt>
                <c:pt idx="2">
                  <c:v>S3</c:v>
                </c:pt>
                <c:pt idx="3">
                  <c:v>S4</c:v>
                </c:pt>
                <c:pt idx="4">
                  <c:v>S5</c:v>
                </c:pt>
                <c:pt idx="5">
                  <c:v>S6</c:v>
                </c:pt>
                <c:pt idx="6">
                  <c:v>S7</c:v>
                </c:pt>
              </c:strCache>
            </c:strRef>
          </c:cat>
          <c:val>
            <c:numRef>
              <c:f>Sheet1!$B$2:$B$8</c:f>
              <c:numCache>
                <c:formatCode>General</c:formatCode>
                <c:ptCount val="7"/>
                <c:pt idx="0">
                  <c:v>5</c:v>
                </c:pt>
                <c:pt idx="1">
                  <c:v>5</c:v>
                </c:pt>
                <c:pt idx="2">
                  <c:v>5</c:v>
                </c:pt>
                <c:pt idx="3">
                  <c:v>5</c:v>
                </c:pt>
                <c:pt idx="4">
                  <c:v>5</c:v>
                </c:pt>
                <c:pt idx="5">
                  <c:v>5</c:v>
                </c:pt>
                <c:pt idx="6">
                  <c:v>5</c:v>
                </c:pt>
              </c:numCache>
            </c:numRef>
          </c:val>
        </c:ser>
        <c:ser>
          <c:idx val="1"/>
          <c:order val="1"/>
          <c:tx>
            <c:strRef>
              <c:f>Sheet1!$C$1</c:f>
              <c:strCache>
                <c:ptCount val="1"/>
                <c:pt idx="0">
                  <c:v>Vị trí bổ sung</c:v>
                </c:pt>
              </c:strCache>
            </c:strRef>
          </c:tx>
          <c:spPr>
            <a:solidFill>
              <a:srgbClr val="B4523A"/>
            </a:solidFill>
            <a:effectLst/>
          </c:spPr>
          <c:invertIfNegative val="0"/>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strRef>
              <c:f>Sheet1!$A$2:$A$8</c:f>
              <c:strCache>
                <c:ptCount val="7"/>
                <c:pt idx="0">
                  <c:v>S1</c:v>
                </c:pt>
                <c:pt idx="1">
                  <c:v>S2</c:v>
                </c:pt>
                <c:pt idx="2">
                  <c:v>S3</c:v>
                </c:pt>
                <c:pt idx="3">
                  <c:v>S4</c:v>
                </c:pt>
                <c:pt idx="4">
                  <c:v>S5</c:v>
                </c:pt>
                <c:pt idx="5">
                  <c:v>S6</c:v>
                </c:pt>
                <c:pt idx="6">
                  <c:v>S7</c:v>
                </c:pt>
              </c:strCache>
            </c:strRef>
          </c:cat>
          <c:val>
            <c:numRef>
              <c:f>Sheet1!$C$2:$C$8</c:f>
              <c:numCache>
                <c:formatCode>General</c:formatCode>
                <c:ptCount val="7"/>
                <c:pt idx="0">
                  <c:v>1</c:v>
                </c:pt>
                <c:pt idx="1">
                  <c:v>5</c:v>
                </c:pt>
                <c:pt idx="2">
                  <c:v>7</c:v>
                </c:pt>
                <c:pt idx="3">
                  <c:v>7</c:v>
                </c:pt>
                <c:pt idx="4">
                  <c:v>7</c:v>
                </c:pt>
                <c:pt idx="5">
                  <c:v>7</c:v>
                </c:pt>
                <c:pt idx="6">
                  <c:v>7</c:v>
                </c:pt>
              </c:numCache>
            </c:numRef>
          </c:val>
        </c:ser>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D2327"/>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D232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4343D"/>
                </a:solidFill>
                <a:latin typeface="+mn-lt"/>
              </a:defRPr>
            </a:pPr>
            <a:r>
              <a:rPr sz="1300" b="0" i="0" u="none" strike="noStrike">
                <a:solidFill>
                  <a:srgbClr val="24343D"/>
                </a:solidFill>
                <a:latin typeface="+mn-lt"/>
              </a:rPr>
              <a:t>Chi phí và giá, triệu đồng</a:t>
            </a:r>
          </a:p>
        </c:rich>
      </c:tx>
      <c:layout/>
      <c:overlay val="0"/>
    </c:title>
    <c:autoTitleDeleted val="0"/>
    <c:plotArea>
      <c:layout/>
      <c:barChart>
        <c:barDir val="bar"/>
        <c:grouping val="clustered"/>
        <c:varyColors val="0"/>
        <c:ser>
          <c:idx val="0"/>
          <c:order val="0"/>
          <c:tx>
            <c:strRef>
              <c:f>Sheet1!$B$1</c:f>
              <c:strCache>
                <c:ptCount val="1"/>
                <c:pt idx="0">
                  <c:v>Triệu đồng</c:v>
                </c:pt>
              </c:strCache>
            </c:strRef>
          </c:tx>
          <c:spPr>
            <a:solidFill>
              <a:srgbClr val="3E6F7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Sheet1!$A$2:$A$6</c:f>
              <c:strCache>
                <c:ptCount val="5"/>
                <c:pt idx="0">
                  <c:v>Lương và bảo hiểm theo công sức: 1.185,84</c:v>
                </c:pt>
                <c:pt idx="1">
                  <c:v>A - Nhân công: 1.420,05</c:v>
                </c:pt>
                <c:pt idx="2">
                  <c:v>A + B - Chi phí đã biết: 1.570,05</c:v>
                </c:pt>
                <c:pt idx="3">
                  <c:v>Giá chào: 1.750,00</c:v>
                </c:pt>
                <c:pt idx="4">
                  <c:v>Giá gói thầu: 2.000,00</c:v>
                </c:pt>
              </c:strCache>
            </c:strRef>
          </c:cat>
          <c:val>
            <c:numRef>
              <c:f>Sheet1!$B$2:$B$6</c:f>
              <c:numCache>
                <c:formatCode>General</c:formatCode>
                <c:ptCount val="5"/>
                <c:pt idx="0">
                  <c:v>1185.84</c:v>
                </c:pt>
                <c:pt idx="1">
                  <c:v>1420.05</c:v>
                </c:pt>
                <c:pt idx="2">
                  <c:v>1570.05</c:v>
                </c:pt>
                <c:pt idx="3">
                  <c:v>1750.0</c:v>
                </c:pt>
                <c:pt idx="4">
                  <c:v>2000.0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D2327"/>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25 giây</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Nhóm xin báo cáo kết quả bài tập ABC Wear. Nội dung gồm hai phần: hồ sơ mời thầu ở vai trò bên mời thầu và hồ sơ dự thầu cùng bộ kế hoạch dự án ở vai trò nhà thầu PM_26I_02: WBS, tiến độ, nhân sự, ước lượng, chi phí, rủi ro, thay đổi và chuyển giao. Mọi số liệu trình bày lấy từ bộ tài liệu đã qua kiểm tra lớp A và lớp B.</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Nguồn đối chiếu: [S1], [S2], [S5].</a:t>
            </a:r>
            <a:br>
              <a:rPr lang="en-US"/>
            </a:br>
            <a:br>
              <a:rPr lang="en-US"/>
            </a:br>
            <a:br>
              <a:rPr lang="en-US"/>
            </a:br>
            <a:br>
              <a:rPr lang="en-US"/>
            </a:br>
            <a:endParaRPr/>
          </a:p>
        </p:txBody>
      </p:sp>
      <p:sp>
        <p:nvSpPr>
          <p:cNvPr id="24" name="Google Shape;2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45 giây</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Bài tập yêu cầu lập phương án triển khai website bán hàng cho ABC Wear. Ở vai trò bên mời thầu, nhóm lập hồ sơ mời thầu theo Mẫu 5A. Ở vai trò nhà thầu PM_26I_02, nhóm phân rã ba phân hệ chức năng là tìm kiếm sản phẩm, thành viên, đặt hàng cùng cơ sở dữ liệu bán hàng và tích hợp Main System thành tám nhóm WBS, sau đó lập tiến độ, phân công, dự toán, hồ sơ dự thầu và các kế hoạch kiểm soát. Quản trị nội bộ và thanh toán trực tuyến qua cổng thanh toán không thuộc phạm vi.</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Nguồn đối chiếu: [S1], [S2], [S3] mục giả định ngoài phạm vi, [S5].</a:t>
            </a:r>
            <a:br>
              <a:rPr lang="en-US"/>
            </a:br>
            <a:br>
              <a:rPr lang="en-US"/>
            </a:br>
            <a:br>
              <a:rPr lang="en-US"/>
            </a:br>
            <a:br>
              <a:rPr lang="en-US"/>
            </a:br>
            <a:endParaRPr/>
          </a:p>
        </p:txBody>
      </p:sp>
      <p:sp>
        <p:nvSpPr>
          <p:cNvPr id="34" name="Google Shape;3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55 giây</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Ở vai trò bên mời thầu, nhóm lập E-HSMT theo Mẫu 5A cho gói thầu dịch vụ phi tư vấn, đấu thầu rộng rãi trong nước qua mạng, một giai đoạn một túi hồ sơ, hợp đồng trọn gói, giá gói thầu 2 tỷ đồng. Bảo đảm dự thầu 30 triệu đồng, thấp hơn 50 triệu đồng nên nhà thầu cam kết trong đơn dự thầu. Lịch đấu thầu bảo đảm hợp đồng có hiệu lực ngày 18/3 và giữ mốc cut over 01/7/2027. Đánh giá theo ba bước: năng lực và kinh nghiệm đạt hoặc không đạt, kỹ thuật năm tiêu chí tối thiểu 70 điểm, tài chính theo giá thấp nhất. Hợp đồng tạm ứng 15%, bốn đợt thanh toán gắn mốc xác nhận đặc tả, chức năng chính và tích hợp, đưa vào vận hành và nộp bảo lãnh bảo hành. Hồ sơ đủ 23 mục E-BDL, 25 mục E-ĐKCT và ghi sáu điểm điều chỉnh so với RFP có căn cứ pháp lý.</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Nguồn đối chiếu: [S1] E-TBMT, Chương II, III, VII và bảng điều chỉnh so với RFP.</a:t>
            </a:r>
            <a:br>
              <a:rPr lang="en-US"/>
            </a:br>
            <a:br>
              <a:rPr lang="en-US"/>
            </a:br>
            <a:br>
              <a:rPr lang="en-US"/>
            </a:br>
            <a:br>
              <a:rPr lang="en-US"/>
            </a:br>
            <a:endParaRPr/>
          </a:p>
        </p:txBody>
      </p:sp>
      <p:sp>
        <p:nvSpPr>
          <p:cNvPr id="63" name="Google Shape;6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50 giây</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WBS gồm tám nhóm, 144 gói công việc, tổng 657 MD. Ba phân hệ chức năng cùng cơ sở dữ liệu bán hàng và tích hợp chiếm 408 MD, quản lý dự án, thiết kế chung, kiểm thử hệ thống và chuyển giao chiếm 249 MD. Tổng từng nhóm bám ước lượng theo danh mục 106 chức năng và 25 đầu việc phi chức năng, nhóm 6 thấp hơn 2 MD và nhóm 7 cao hơn 2 MD, đều trong dung sai 10%. Mỗi gói lá có sản phẩm đầu ra và truy vết về yêu cầu RFP.</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Nguồn đối chiếu: [S3] WBS tổng hợp mục căn cứ ước lượng và bảng đối chiếu.</a:t>
            </a:r>
            <a:br>
              <a:rPr lang="en-US"/>
            </a:br>
            <a:br>
              <a:rPr lang="en-US"/>
            </a:br>
            <a:br>
              <a:rPr lang="en-US"/>
            </a:br>
            <a:br>
              <a:rPr lang="en-US"/>
            </a:br>
            <a:endParaRPr/>
          </a:p>
        </p:txBody>
      </p:sp>
      <p:sp>
        <p:nvSpPr>
          <p:cNvPr id="100" name="Google Shape;10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50 giây</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Phân hệ tìm kiếm và hiển thị sản phẩm gồm chỉ mục tìm kiếm, tìm kiếm và gợi ý, lọc và sắp xếp, danh mục và chi tiết sản phẩm, cùng ba nhóm màn hình. Lập trình và kiểm thử đơn vị là 39 MD trong tổng 95 MD. Dữ liệu sản phẩm, giá, tồn kho lấy từ Main System qua Selling DB, phân hệ chỉ hiển thị. Bộ nhớ đệm và tối ưu thời gian phản hồi nhằm đạt chỉ tiêu KT02.</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Nguồn đối chiếu: [S3] WBS nhóm 3, mã 3.1 đến 3.5.</a:t>
            </a:r>
            <a:br>
              <a:rPr lang="en-US"/>
            </a:br>
            <a:br>
              <a:rPr lang="en-US"/>
            </a:br>
            <a:br>
              <a:rPr lang="en-US"/>
            </a:br>
            <a:br>
              <a:rPr lang="en-US"/>
            </a:br>
            <a:endParaRPr/>
          </a:p>
        </p:txBody>
      </p:sp>
      <p:sp>
        <p:nvSpPr>
          <p:cNvPr id="117" name="Google Shape;11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45 giây</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Phân hệ thành viên gồm đăng ký và xác thực thư điện tử, đăng nhập và phiên làm việc có giới hạn đăng nhập sai, khôi phục mật khẩu, thông tin thành viên, sổ địa chỉ và đồng ý điều khoản bảo vệ dữ liệu cá nhân. Lập trình và kiểm thử đơn vị là 35 MD trong tổng 91 MD. Kiểm thử phân hệ 32 MD gồm kiểm thử bảo mật tài khoản theo OWASP Top 10.</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Nguồn đối chiếu: [S3] WBS nhóm 4, mã 4.1 đến 4.5.</a:t>
            </a:r>
            <a:br>
              <a:rPr lang="en-US"/>
            </a:br>
            <a:br>
              <a:rPr lang="en-US"/>
            </a:br>
            <a:br>
              <a:rPr lang="en-US"/>
            </a:br>
            <a:br>
              <a:rPr lang="en-US"/>
            </a:br>
            <a:endParaRPr/>
          </a:p>
        </p:txBody>
      </p:sp>
      <p:sp>
        <p:nvSpPr>
          <p:cNvPr id="144" name="Google Shape;14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55 giây</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Phân hệ đặt hàng có nỗ lực lớn nhất, 129 MD, vì gồm bảy chức năng: giỏ hàng, giữ tồn, phí vận chuyển, khuyến mại và mã giảm giá, đặt hàng và xác nhận, theo dõi và hủy đơn, đổi trả và hoàn tiền. Lập trình và kiểm thử đơn vị 53 MD, kiểm thử phân hệ 42 MD gồm luồng đặt hàng đầu cuối với dữ liệu biên và đồng thời. Các quy tắc nghiệp vụ do ABC Wear xác nhận tại gói 2.1.5, thanh toán trực tuyến không thuộc phạm vi.</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Nguồn đối chiếu: [S3] WBS nhóm 5, mã 5.1 đến 5.5.</a:t>
            </a:r>
            <a:br>
              <a:rPr lang="en-US"/>
            </a:br>
            <a:br>
              <a:rPr lang="en-US"/>
            </a:br>
            <a:br>
              <a:rPr lang="en-US"/>
            </a:br>
            <a:br>
              <a:rPr lang="en-US"/>
            </a:br>
            <a:endParaRPr/>
          </a:p>
        </p:txBody>
      </p:sp>
      <p:sp>
        <p:nvSpPr>
          <p:cNvPr id="171" name="Google Shape;17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50 giây</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Nhóm 6 gồm Selling DB và nền tảng dùng chung 22 MD, tích hợp Main System 58 MD và chuyển đổi dữ liệu 13 MD, tổng 93 MD. Tích hợp có năm luồng: đồng bộ sản phẩm và giá, tồn kho, chuyển đơn hàng, nhận trạng thái vận chuyển, giám sát và gửi lại. Dịch vụ giả lập Main System cho phép phát triển trước khi có môi trường thử ngày 20/5. Đặc tả giao diện phụ thuộc tài liệu ABC Wear cung cấp trước 14/4, đây là rủi ro hạng A RR02.</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Nguồn đối chiếu: [S3] WBS nhóm 6, [S7] RR02, cam kết CK1, CK2 trong [S4].</a:t>
            </a:r>
            <a:br>
              <a:rPr lang="en-US"/>
            </a:br>
            <a:br>
              <a:rPr lang="en-US"/>
            </a:br>
            <a:br>
              <a:rPr lang="en-US"/>
            </a:br>
            <a:br>
              <a:rPr lang="en-US"/>
            </a:br>
            <a:endParaRPr/>
          </a:p>
        </p:txBody>
      </p:sp>
      <p:sp>
        <p:nvSpPr>
          <p:cNvPr id="198" name="Google Shape;19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65 giây</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Kế hoạch gồm bảy sprint, mỗi sprint có sản phẩm trình diễn. S1, S2 khảo sát, đặc tả và nền tảng, S3 dài 13 ngày để trình đặc tả và giao diện ưu tiên ngày 06/5, hai bên xác nhận trước 10/5 (mốc M2, đợt thanh toán 2). S4, S5 phát triển và tích hợp, ABC Wear kiểm tra chức năng chính ngày 16/6 (mốc M3, đợt 3). S7 dành cho kiểm thử chấp nhận 18/6-29/6 và cut over 01/7. Đường găng 16 gói, dự trữ 4 ngày, nhóm chấp nhận phần EMV thời gian vượt dự trữ và báo ABC Wear khi dự trữ dưới 2 ngày.</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Nguồn đối chiếu: [S4] bảng sprint, mốc và đường găng, [S7] mục dự trữ.</a:t>
            </a:r>
            <a:br>
              <a:rPr lang="en-US"/>
            </a:br>
            <a:br>
              <a:rPr lang="en-US"/>
            </a:br>
            <a:br>
              <a:rPr lang="en-US"/>
            </a:br>
            <a:br>
              <a:rPr lang="en-US"/>
            </a:br>
            <a:endParaRPr/>
          </a:p>
        </p:txBody>
      </p:sp>
      <p:sp>
        <p:nvSpPr>
          <p:cNvPr id="219" name="Google Shape;21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55 giây</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Nhóm chính gồm năm thành viên, giữ đủ năm vị trí nhân sự chủ chốt theo Bảng số 02: một quản trị dự án, ba kỹ sư phát triển và một kỹ sư phân tích nghiệp vụ kiêm kiểm thử. Ma trận RACI 38 dòng xác định người chịu trách nhiệm từng hạng mục. Quỹ của nhóm chính là 365 MD, MD giao 299,33 MD, thấp hơn nhiều so với 657 MD cần thực hiện, nên phải huy động thêm bảy vị trí.</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Nguồn đối chiếu: [S9] mục RACI và tải theo sprint, [S2] Mẫu 06A.</a:t>
            </a:r>
            <a:br>
              <a:rPr lang="en-US"/>
            </a:br>
            <a:br>
              <a:rPr lang="en-US"/>
            </a:br>
            <a:br>
              <a:rPr lang="en-US"/>
            </a:br>
            <a:br>
              <a:rPr lang="en-US"/>
            </a:br>
            <a:endParaRPr/>
          </a:p>
        </p:txBody>
      </p:sp>
      <p:sp>
        <p:nvSpPr>
          <p:cNvPr id="244" name="Google Shape;24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65 giây</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Bảy vị trí bổ sung từ nhân sự của nhà thầu, tổng 357,67 MD. K tham gia từ S1, D1, D2, D3, Q1 từ S2, Q2 và D4 từ S3. D4 được bổ sung để lịch 657 MD kịp cut over, đồng thời là nguồn lực điều chuyển khi cần đẩy nhanh. Tổng quỹ 796 MD so với 657 MD giao, phần 139 MD là ngày sẵn sàng, không tính lương vì nhóm trả lương theo công sức. Rủi ro vị trí bổ sung không có mặt đúng sprint là RR04 hạng A, biện pháp là ký hợp đồng chậm nhất 10 ngày làm việc trước sprint huy động.</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Nguồn đối chiếu: [S4] quỹ và tải theo sprint, [S6] đối chiếu lương, [S7] RR04.</a:t>
            </a:r>
            <a:br>
              <a:rPr lang="en-US"/>
            </a:br>
            <a:br>
              <a:rPr lang="en-US"/>
            </a:br>
            <a:br>
              <a:rPr lang="en-US"/>
            </a:br>
            <a:br>
              <a:rPr lang="en-US"/>
            </a:br>
            <a:endParaRPr/>
          </a:p>
        </p:txBody>
      </p:sp>
      <p:sp>
        <p:nvSpPr>
          <p:cNvPr id="263" name="Google Shape;26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65 giây</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Ước lượng theo danh mục 106 chức năng và 25 đầu việc phi chức năng: 573,6 MD trước hiệu chỉnh, trừ tái sử dụng còn 550,3 MD, cộng 106,7 MD phi chức năng, tổng 657 MD, khoảng sai số từ -15% đến +30%. MD được chia theo năm loại công việc để áp đơn giá trọn gói theo người-tháng, ví dụ Dev 318 MD chia 20 nhân 42 triệu đồng được 667,8 triệu đồng. Bảng dưới cho thấy người thực hiện từng nhóm công việc theo giao việc, cộng đúng nhu cầu.</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Nguồn đối chiếu: [S3] mục căn cứ ước lượng, [S6] bảng nhân công theo loại công việc, [S9].</a:t>
            </a:r>
            <a:br>
              <a:rPr lang="en-US"/>
            </a:br>
            <a:br>
              <a:rPr lang="en-US"/>
            </a:br>
            <a:br>
              <a:rPr lang="en-US"/>
            </a:br>
            <a:br>
              <a:rPr lang="en-US"/>
            </a:br>
            <a:endParaRPr/>
          </a:p>
        </p:txBody>
      </p:sp>
      <p:sp>
        <p:nvSpPr>
          <p:cNvPr id="275" name="Google Shape;27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75 giây</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Dòng A là 1.420,05 triệu đồng theo đơn giá trọn gói từng loại công việc, cộng 150 triệu đồng khoản B gồm môi trường, công cụ, bảo hành và 50 triệu đồng dự phòng, chi phí đã biết 1.570,05 triệu đồng. Để kiểm tra dòng A, nhóm tính lương theo công sức của từng người với lương tham chiếu và bảo hiểm, được 1.185,84 triệu đồng cho 657 MD. Dòng A cao hơn 234,21 triệu đồng, đủ chi trả khi năng suất từ 83,5%. Dự phòng thấp hơn EMV rủi ro 147 triệu đồng, nhóm quyết định giữ 50 triệu đồng và bù phần vượt từ khoản còn lại sau lương 414,16 triệu đồng. Dòng tiền lũy kế âm từ S1 đến S6, thấp nhất khoảng 464,7 triệu đồng cuối S4, nhóm chuẩn bị vốn lưu động 500 triệu đồng. Giá chào 1.750 triệu đồng thấp hơn giá gói thầu 12,5%, dịch vụ phần mềm không chịu thuế GTGT.</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Nguồn đối chiếu: [S6] Cost_estimate.xlsx và thuyết minh dự toán mục 3 đến 8, khoản 21 Điều 5 Luật Thuế GTGT số 48/2024/QH15.</a:t>
            </a:r>
            <a:br>
              <a:rPr lang="en-US"/>
            </a:br>
            <a:br>
              <a:rPr lang="en-US"/>
            </a:br>
            <a:br>
              <a:rPr lang="en-US"/>
            </a:br>
            <a:br>
              <a:rPr lang="en-US"/>
            </a:br>
            <a:endParaRPr/>
          </a:p>
        </p:txBody>
      </p:sp>
      <p:sp>
        <p:nvSpPr>
          <p:cNvPr id="289" name="Google Shape;28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60 giây</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Sổ rủi ro có 21 rủi ro, trong đó 2 cơ hội, xếp theo ma trận 5x5 quy đổi ba hạng. Năm rủi ro hạng A, bảng nêu bốn rủi ro tiêu biểu với biện pháp lấy nguyên từ sổ rủi ro. Tổng EMV 147 triệu đồng, khoảng 110 đến 183 triệu đồng. EMV thời gian trên đường găng 5,4 ngày, lớn hơn dự trữ 4 ngày, nhóm chấp nhận và theo dõi hằng tuần. Báo cáo tiến độ gửi ngày cuối sprint, họp tiến độ hằng tuần với ABC Wear.</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Nguồn đối chiếu: [S7] sổ rủi ro, ma trận và mục dự phòng, [S5] mục truyền thông và báo cáo.</a:t>
            </a:r>
            <a:br>
              <a:rPr lang="en-US"/>
            </a:br>
            <a:br>
              <a:rPr lang="en-US"/>
            </a:br>
            <a:br>
              <a:rPr lang="en-US"/>
            </a:br>
            <a:br>
              <a:rPr lang="en-US"/>
            </a:br>
            <a:endParaRPr/>
          </a:p>
        </p:txBody>
      </p:sp>
      <p:sp>
        <p:nvSpPr>
          <p:cNvPr id="303" name="Google Shape;30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45 giây</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Điều kiện hoàn thành xác định theo tiêu chí. Kiểm thử chấp nhận và kiểm thử vận hành 18/6-29/6 phải đạt, lỗi nghiêm trọng và cao được khắc phục. Trước cut over đã diễn tập chuyển đổi dự phòng, diễn tập triển khai và có danh sách kiểm tra được ABC Wear xác nhận. Ngày 30/6 chuyển đổi dữ liệu chính thức, ngày 01/7 đưa hệ thống vào vận hành và bàn giao. Ba đường cơ sở là phạm vi 657 MD, tiến độ đến 01/7 và chi phí BAC 1.420,05 triệu đồng bằng khoản A, giá hợp đồng không dùng làm đường cơ sở chi phí.</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Nguồn đối chiếu: [S4] gói 7.3, 8.2, 8.3, [S5] mục đường cơ sở, [S2] mục bảo hành.</a:t>
            </a:r>
            <a:br>
              <a:rPr lang="en-US"/>
            </a:br>
            <a:br>
              <a:rPr lang="en-US"/>
            </a:br>
            <a:br>
              <a:rPr lang="en-US"/>
            </a:br>
            <a:br>
              <a:rPr lang="en-US"/>
            </a:br>
            <a:endParaRPr/>
          </a:p>
        </p:txBody>
      </p:sp>
      <p:sp>
        <p:nvSpPr>
          <p:cNvPr id="324" name="Google Shape;32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55 giây</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Kế hoạch chất lượng dùng năm chỉ tiêu kỹ thuật định lượng KT01 đến KT05 và tiêu chí hoàn thành cho gói, sprint và mốc. Mọi đề nghị thay đổi được chấm điểm tác động và xếp ba mức. Mức nhỏ là thay đổi nội bộ của nhà thầu, mức trung bình cần đầu mối ABC Wear đồng phê duyệt, mức lớn chạm cut over, mốc thanh toán, đặc tả đã xác nhận, phạm vi hoặc giá thì ban kiểm soát thay đổi xem xét và người đại diện hai bên ký phụ lục. Quản lý cấu hình có đường cơ sở tại M2, sổ phiên bản đăng ký tự động theo băm nội dung.</a:t>
            </a: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Nguồn đối chiếu: [S8] bảng phân loại, thẩm quyền và quản lý cấu hình, [S5] mục chất lượng, [S10].</a:t>
            </a:r>
            <a:br>
              <a:rPr lang="en-US"/>
            </a:br>
            <a:br>
              <a:rPr lang="en-US"/>
            </a:br>
            <a:br>
              <a:rPr lang="en-US"/>
            </a:br>
            <a:br>
              <a:rPr lang="en-US"/>
            </a:br>
            <a:endParaRPr/>
          </a:p>
        </p:txBody>
      </p:sp>
      <p:sp>
        <p:nvSpPr>
          <p:cNvPr id="367" name="Google Shape;36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30 giây</a:t>
            </a: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Kết quả gồm hồ sơ mời thầu theo Mẫu 5A, hồ sơ dự thầu và bộ tài liệu kế hoạch liên kết từ WBS đến sprint, nhân sự, dự toán và kiểm soát dự án. Khi triển khai thực tế, các giả định về nhân sự bổ sung, tài liệu và môi trường Main System, quy tắc nghiệp vụ của ABC Wear cần được xác nhận lại. Nhóm xin kết thúc phần báo cáo và sẵn sàng trả lời câu hỏi.</a:t>
            </a: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Nguồn đối chiếu: tổng hợp các đầu mục trên.</a:t>
            </a: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Danh mục nguồn (thư mục ket_qua):</a:t>
            </a: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[S1] 01_HSMT, Hồ sơ mời thầu</a:t>
            </a: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[S2] 02_HSDT, Hồ sơ dự thầu</a:t>
            </a: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[S3] 03_WBS, WBS tổng hợp và 8 tài liệu nhóm</a:t>
            </a: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[S4] 04_Master_schedule, Master schedule</a:t>
            </a: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[S5] 05_Master_plan, Kế hoạch tổng thể</a:t>
            </a: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[S6] 06_Cost_estimate, Cost estimate và thuyết minh dự toán</a:t>
            </a: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[S7] 07_Risk_management_plan, Kế hoạch quản lý rủi ro</a:t>
            </a: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[S8] 08_Change_management_plan, Kế hoạch quản lý thay đổi</a:t>
            </a: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[S9] 10_Responsibilities, Danh sách phân chia công việc</a:t>
            </a: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endParaRPr/>
          </a:p>
          <a:p>
            <a:pPr indent="0" lvl="0" marL="0" rtl="0" algn="l">
              <a:lnSpc>
                <a:spcPct val="100000"/>
              </a:lnSpc>
              <a:spcBef>
                <a:spcPts val="0"/>
              </a:spcBef>
              <a:spcAft>
                <a:spcPts val="0"/>
              </a:spcAft>
              <a:buSzPts val="1400"/>
              <a:buNone/>
            </a:pPr>
            <a:r>
              <a:rPr lang="en-US"/>
              <a:t>[S10] 15_Quan_ly_phien_ban, Tài liệu quản lý phiên bản</a:t>
            </a: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br>
              <a:rPr lang="en-US"/>
            </a:br>
            <a:endParaRPr/>
          </a:p>
        </p:txBody>
      </p:sp>
      <p:sp>
        <p:nvSpPr>
          <p:cNvPr id="406" name="Google Shape;40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h67f9e92cad1e895b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h67f9e92cad1e895b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0" name="Google Shape;430;h67f9e92cad1e895b_0_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bg>
      <p:bgPr>
        <a:solidFill>
          <a:schemeClr val="dk2"/>
        </a:solidFill>
      </p:bgPr>
    </p:bg>
    <p:spTree>
      <p:nvGrpSpPr>
        <p:cNvPr id="11" name="Shape 11"/>
        <p:cNvGrpSpPr/>
        <p:nvPr/>
      </p:nvGrpSpPr>
      <p:grpSpPr>
        <a:xfrm>
          <a:off x="0" y="0"/>
          <a:ext cx="0" cy="0"/>
          <a:chOff x="0" y="0"/>
          <a:chExt cx="0" cy="0"/>
        </a:xfrm>
      </p:grpSpPr>
      <p:sp>
        <p:nvSpPr>
          <p:cNvPr id="12" name="Google Shape;12;p19"/>
          <p:cNvSpPr txBox="1"/>
          <p:nvPr>
            <p:ph type="title"/>
          </p:nvPr>
        </p:nvSpPr>
        <p:spPr>
          <a:xfrm>
            <a:off x="731520" y="1417320"/>
            <a:ext cx="10698480" cy="914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lt1"/>
              </a:buClr>
              <a:buSzPts val="4000"/>
              <a:buFont typeface="Cambria"/>
              <a:buNone/>
              <a:defRPr b="1" i="0" sz="4000" u="none" cap="none" strike="noStrike">
                <a:solidFill>
                  <a:schemeClr val="lt1"/>
                </a:solidFill>
                <a:latin typeface="Cambria"/>
                <a:ea typeface="Cambria"/>
                <a:cs typeface="Cambria"/>
                <a:sym typeface="Cambr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chemeClr val="lt1"/>
        </a:solidFill>
      </p:bgPr>
    </p:bg>
    <p:spTree>
      <p:nvGrpSpPr>
        <p:cNvPr id="13" name="Shape 13"/>
        <p:cNvGrpSpPr/>
        <p:nvPr/>
      </p:nvGrpSpPr>
      <p:grpSpPr>
        <a:xfrm>
          <a:off x="0" y="0"/>
          <a:ext cx="0" cy="0"/>
          <a:chOff x="0" y="0"/>
          <a:chExt cx="0" cy="0"/>
        </a:xfrm>
      </p:grpSpPr>
      <p:sp>
        <p:nvSpPr>
          <p:cNvPr id="14" name="Google Shape;14;p20"/>
          <p:cNvSpPr txBox="1"/>
          <p:nvPr>
            <p:ph type="title"/>
          </p:nvPr>
        </p:nvSpPr>
        <p:spPr>
          <a:xfrm>
            <a:off x="548640" y="786384"/>
            <a:ext cx="11064240" cy="65836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2"/>
              </a:buClr>
              <a:buSzPts val="2800"/>
              <a:buFont typeface="Cambria"/>
              <a:buNone/>
              <a:defRPr b="1" i="0" sz="2800" u="none" cap="none" strike="noStrike">
                <a:solidFill>
                  <a:schemeClr val="dk2"/>
                </a:solidFill>
                <a:latin typeface="Cambria"/>
                <a:ea typeface="Cambria"/>
                <a:cs typeface="Cambria"/>
                <a:sym typeface="Cambr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 name="Google Shape;15;p20"/>
          <p:cNvSpPr/>
          <p:nvPr/>
        </p:nvSpPr>
        <p:spPr>
          <a:xfrm>
            <a:off x="548640" y="6400800"/>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4"/>
              </a:buClr>
              <a:buSzPts val="1000"/>
              <a:buFont typeface="Calibri"/>
              <a:buNone/>
            </a:pPr>
            <a:r>
              <a:rPr b="0" i="0" lang="en-US" sz="1000" u="none" cap="none" strike="noStrike">
                <a:solidFill>
                  <a:schemeClr val="accent4"/>
                </a:solidFill>
                <a:latin typeface="Calibri"/>
                <a:ea typeface="Calibri"/>
                <a:cs typeface="Calibri"/>
                <a:sym typeface="Calibri"/>
              </a:rPr>
              <a:t>ABC Wear - Báo cáo kết quả bài tập W3</a:t>
            </a:r>
            <a:endParaRPr b="0" i="0" sz="1000" u="none" cap="none" strike="noStrike">
              <a:solidFill>
                <a:schemeClr val="dk1"/>
              </a:solidFill>
              <a:latin typeface="Calibri"/>
              <a:ea typeface="Calibri"/>
              <a:cs typeface="Calibri"/>
              <a:sym typeface="Calibri"/>
            </a:endParaRPr>
          </a:p>
        </p:txBody>
      </p:sp>
      <p:sp>
        <p:nvSpPr>
          <p:cNvPr id="16" name="Google Shape;16;p20"/>
          <p:cNvSpPr txBox="1"/>
          <p:nvPr>
            <p:ph idx="12"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p:cSld name="CLOSING">
    <p:bg>
      <p:bgPr>
        <a:solidFill>
          <a:schemeClr val="dk2"/>
        </a:solidFill>
      </p:bgPr>
    </p:bg>
    <p:spTree>
      <p:nvGrpSpPr>
        <p:cNvPr id="17" name="Shape 17"/>
        <p:cNvGrpSpPr/>
        <p:nvPr/>
      </p:nvGrpSpPr>
      <p:grpSpPr>
        <a:xfrm>
          <a:off x="0" y="0"/>
          <a:ext cx="0" cy="0"/>
          <a:chOff x="0" y="0"/>
          <a:chExt cx="0" cy="0"/>
        </a:xfrm>
      </p:grpSpPr>
      <p:sp>
        <p:nvSpPr>
          <p:cNvPr id="18" name="Google Shape;18;p21"/>
          <p:cNvSpPr txBox="1"/>
          <p:nvPr>
            <p:ph type="title"/>
          </p:nvPr>
        </p:nvSpPr>
        <p:spPr>
          <a:xfrm>
            <a:off x="548640" y="548640"/>
            <a:ext cx="11064240" cy="73152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lt1"/>
              </a:buClr>
              <a:buSzPts val="3200"/>
              <a:buFont typeface="Cambria"/>
              <a:buNone/>
              <a:defRPr b="1" i="0" sz="3200" u="none" cap="none" strike="noStrike">
                <a:solidFill>
                  <a:schemeClr val="lt1"/>
                </a:solidFill>
                <a:latin typeface="Cambria"/>
                <a:ea typeface="Cambria"/>
                <a:cs typeface="Cambria"/>
                <a:sym typeface="Cambr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 name="Google Shape;19;p21"/>
          <p:cNvSpPr txBox="1"/>
          <p:nvPr>
            <p:ph idx="12"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A8C1C4"/>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A8C1C4"/>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A8C1C4"/>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A8C1C4"/>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A8C1C4"/>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A8C1C4"/>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A8C1C4"/>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A8C1C4"/>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A8C1C4"/>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0" name="Shape 2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8"/>
          <p:cNvSpPr txBox="1"/>
          <p:nvPr>
            <p:ph idx="12"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chart" Target="../charts/char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 name="Shape 25"/>
        <p:cNvGrpSpPr/>
        <p:nvPr/>
      </p:nvGrpSpPr>
      <p:grpSpPr>
        <a:xfrm>
          <a:off x="0" y="0"/>
          <a:ext cx="0" cy="0"/>
          <a:chOff x="0" y="0"/>
          <a:chExt cx="0" cy="0"/>
        </a:xfrm>
      </p:grpSpPr>
      <p:sp>
        <p:nvSpPr>
          <p:cNvPr id="26" name="Google Shape;26;p1"/>
          <p:cNvSpPr txBox="1"/>
          <p:nvPr>
            <p:ph type="title"/>
          </p:nvPr>
        </p:nvSpPr>
        <p:spPr>
          <a:xfrm>
            <a:off x="731520" y="1179195"/>
            <a:ext cx="10698600" cy="914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1"/>
              </a:buClr>
              <a:buSzPts val="4000"/>
              <a:buFont typeface="Cambria"/>
              <a:buNone/>
            </a:pPr>
            <a:r>
              <a:rPr b="1" lang="en-US" sz="4000">
                <a:solidFill>
                  <a:schemeClr val="lt1"/>
                </a:solidFill>
              </a:rPr>
              <a:t>Báo cáo kết quả bài tập W3</a:t>
            </a:r>
            <a:endParaRPr sz="4000"/>
          </a:p>
        </p:txBody>
      </p:sp>
      <p:sp>
        <p:nvSpPr>
          <p:cNvPr id="27" name="Google Shape;27;p1"/>
          <p:cNvSpPr txBox="1"/>
          <p:nvPr/>
        </p:nvSpPr>
        <p:spPr>
          <a:xfrm>
            <a:off x="731520" y="1544965"/>
            <a:ext cx="10698600" cy="548700"/>
          </a:xfrm>
          <a:prstGeom prst="rect">
            <a:avLst/>
          </a:prstGeom>
          <a:noFill/>
          <a:ln>
            <a:noFill/>
          </a:ln>
        </p:spPr>
        <p:txBody>
          <a:bodyPr anchorCtr="0" anchor="t" bIns="0" lIns="0" spcFirstLastPara="1" rIns="0" wrap="square" tIns="0">
            <a:noAutofit/>
          </a:bodyPr>
          <a:lstStyle/>
          <a:p>
            <a:pPr indent="0" lvl="0" marL="0" marR="0" rtl="0" algn="ctr">
              <a:lnSpc>
                <a:spcPct val="116000"/>
              </a:lnSpc>
              <a:spcBef>
                <a:spcPts val="0"/>
              </a:spcBef>
              <a:spcAft>
                <a:spcPts val="0"/>
              </a:spcAft>
              <a:buClr>
                <a:srgbClr val="000000"/>
              </a:buClr>
              <a:buSzPts val="2800"/>
              <a:buFont typeface="Arial"/>
              <a:buNone/>
            </a:pPr>
            <a:r>
              <a:rPr b="1" i="0" lang="en-US" sz="2800" u="none" cap="none" strike="noStrike">
                <a:solidFill>
                  <a:srgbClr val="C00000"/>
                </a:solidFill>
                <a:latin typeface="Times New Roman"/>
                <a:ea typeface="Times New Roman"/>
                <a:cs typeface="Times New Roman"/>
                <a:sym typeface="Times New Roman"/>
              </a:rPr>
              <a:t>BÁO CÁO KẾT QUẢ</a:t>
            </a:r>
            <a:endParaRPr b="0" i="0" sz="2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accent3"/>
              </a:buClr>
              <a:buSzPts val="2600"/>
              <a:buFont typeface="Cambria"/>
              <a:buNone/>
            </a:pPr>
            <a:r>
              <a:t/>
            </a:r>
            <a:endParaRPr b="0" i="0" sz="2600" u="none" cap="none" strike="noStrike">
              <a:solidFill>
                <a:schemeClr val="accent3"/>
              </a:solidFill>
              <a:latin typeface="Cambria"/>
              <a:ea typeface="Cambria"/>
              <a:cs typeface="Cambria"/>
              <a:sym typeface="Cambria"/>
            </a:endParaRPr>
          </a:p>
        </p:txBody>
      </p:sp>
      <p:sp>
        <p:nvSpPr>
          <p:cNvPr id="28" name="Google Shape;28;p1"/>
          <p:cNvSpPr txBox="1"/>
          <p:nvPr/>
        </p:nvSpPr>
        <p:spPr>
          <a:xfrm>
            <a:off x="14376" y="2470550"/>
            <a:ext cx="11949900" cy="1371600"/>
          </a:xfrm>
          <a:prstGeom prst="rect">
            <a:avLst/>
          </a:prstGeom>
          <a:noFill/>
          <a:ln>
            <a:noFill/>
          </a:ln>
        </p:spPr>
        <p:txBody>
          <a:bodyPr anchorCtr="0" anchor="t" bIns="0" lIns="0" spcFirstLastPara="1" rIns="0" wrap="square" tIns="0">
            <a:noAutofit/>
          </a:bodyPr>
          <a:lstStyle/>
          <a:p>
            <a:pPr indent="-336550" lvl="0" marL="457200" marR="0" rtl="0" algn="ctr">
              <a:lnSpc>
                <a:spcPct val="116000"/>
              </a:lnSpc>
              <a:spcBef>
                <a:spcPts val="0"/>
              </a:spcBef>
              <a:spcAft>
                <a:spcPts val="0"/>
              </a:spcAft>
              <a:buClr>
                <a:schemeClr val="lt1"/>
              </a:buClr>
              <a:buSzPts val="1700"/>
              <a:buFont typeface="Calibri"/>
              <a:buChar char="•"/>
            </a:pPr>
            <a:r>
              <a:rPr b="1" i="0" lang="en-US" sz="2600" u="none" cap="none" strike="noStrike">
                <a:solidFill>
                  <a:srgbClr val="C00000"/>
                </a:solidFill>
                <a:latin typeface="Times New Roman"/>
                <a:ea typeface="Times New Roman"/>
                <a:cs typeface="Times New Roman"/>
                <a:sym typeface="Times New Roman"/>
              </a:rPr>
              <a:t>Website bán hàng trực tuyến</a:t>
            </a:r>
            <a:r>
              <a:rPr b="0" i="0" lang="en-US" sz="1400" u="none" cap="none" strike="noStrike">
                <a:solidFill>
                  <a:srgbClr val="000000"/>
                </a:solidFill>
                <a:latin typeface="Arial"/>
                <a:ea typeface="Arial"/>
                <a:cs typeface="Arial"/>
                <a:sym typeface="Arial"/>
              </a:rPr>
              <a:t> </a:t>
            </a:r>
            <a:r>
              <a:rPr b="1" i="0" lang="en-US" sz="2600" u="none" cap="none" strike="noStrike">
                <a:solidFill>
                  <a:srgbClr val="C00000"/>
                </a:solidFill>
                <a:latin typeface="Times New Roman"/>
                <a:ea typeface="Times New Roman"/>
                <a:cs typeface="Times New Roman"/>
                <a:sym typeface="Times New Roman"/>
              </a:rPr>
              <a:t>ABC Wear</a:t>
            </a:r>
            <a:endParaRPr b="0" i="0" sz="2600" u="none" cap="none" strike="noStrike">
              <a:solidFill>
                <a:srgbClr val="000000"/>
              </a:solidFill>
              <a:latin typeface="Times New Roman"/>
              <a:ea typeface="Times New Roman"/>
              <a:cs typeface="Times New Roman"/>
              <a:sym typeface="Times New Roman"/>
            </a:endParaRPr>
          </a:p>
          <a:p>
            <a:pPr indent="-177800" lvl="0" marL="177800" marR="0" rtl="0" algn="l">
              <a:lnSpc>
                <a:spcPct val="100000"/>
              </a:lnSpc>
              <a:spcBef>
                <a:spcPts val="600"/>
              </a:spcBef>
              <a:spcAft>
                <a:spcPts val="0"/>
              </a:spcAft>
              <a:buClr>
                <a:schemeClr val="lt1"/>
              </a:buClr>
              <a:buSzPts val="1700"/>
              <a:buFont typeface="Calibri"/>
              <a:buChar char="•"/>
            </a:pPr>
            <a:r>
              <a:t/>
            </a:r>
            <a:endParaRPr b="0" i="0" sz="1700" u="none" cap="none" strike="noStrike">
              <a:solidFill>
                <a:schemeClr val="lt1"/>
              </a:solidFill>
              <a:latin typeface="Calibri"/>
              <a:ea typeface="Calibri"/>
              <a:cs typeface="Calibri"/>
              <a:sym typeface="Calibri"/>
            </a:endParaRPr>
          </a:p>
        </p:txBody>
      </p:sp>
      <p:sp>
        <p:nvSpPr>
          <p:cNvPr id="29" name="Google Shape;29;p1"/>
          <p:cNvSpPr txBox="1"/>
          <p:nvPr/>
        </p:nvSpPr>
        <p:spPr>
          <a:xfrm>
            <a:off x="543645" y="4298405"/>
            <a:ext cx="10515600" cy="150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400"/>
              <a:buFont typeface="Calibri"/>
              <a:buNone/>
            </a:pPr>
            <a:r>
              <a:rPr b="0" i="0" lang="en-US" sz="1500" u="none" cap="none" strike="noStrike">
                <a:solidFill>
                  <a:schemeClr val="dk1"/>
                </a:solidFill>
                <a:latin typeface="Calibri"/>
                <a:ea typeface="Calibri"/>
                <a:cs typeface="Calibri"/>
                <a:sym typeface="Calibri"/>
              </a:rPr>
              <a:t>Môn học: Quản trị dự án và Quản lý thay đổi</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chemeClr val="accent6"/>
              </a:buClr>
              <a:buSzPts val="1400"/>
              <a:buFont typeface="Calibri"/>
              <a:buNone/>
            </a:pPr>
            <a:r>
              <a:rPr b="0" i="0" lang="en-US" sz="1500" u="none" cap="none" strike="noStrike">
                <a:solidFill>
                  <a:schemeClr val="dk1"/>
                </a:solidFill>
                <a:latin typeface="Calibri"/>
                <a:ea typeface="Calibri"/>
                <a:cs typeface="Calibri"/>
                <a:sym typeface="Calibri"/>
              </a:rPr>
              <a:t>Giảng viên: Vũ Thị Hương Giang</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chemeClr val="accent6"/>
              </a:buClr>
              <a:buSzPts val="1400"/>
              <a:buFont typeface="Calibri"/>
              <a:buNone/>
            </a:pPr>
            <a:r>
              <a:rPr b="0" i="0" lang="en-US" sz="1500" u="none" cap="none" strike="noStrike">
                <a:solidFill>
                  <a:schemeClr val="dk1"/>
                </a:solidFill>
                <a:latin typeface="Calibri"/>
                <a:ea typeface="Calibri"/>
                <a:cs typeface="Calibri"/>
                <a:sym typeface="Calibri"/>
              </a:rPr>
              <a:t>Nhóm: PM_26I_02</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chemeClr val="accent6"/>
              </a:buClr>
              <a:buSzPts val="1400"/>
              <a:buFont typeface="Calibri"/>
              <a:buNone/>
            </a:pPr>
            <a:r>
              <a:rPr b="0" i="0" lang="en-US" sz="1500" u="none" cap="none" strike="noStrike">
                <a:solidFill>
                  <a:schemeClr val="dk1"/>
                </a:solidFill>
                <a:latin typeface="Calibri"/>
                <a:ea typeface="Calibri"/>
                <a:cs typeface="Calibri"/>
                <a:sym typeface="Calibri"/>
              </a:rPr>
              <a:t>Thành viên: Trần Bá Đạt, Phạm Tuấn Anh, Vũ Đức Minh, Ninh Đức Toàn, Nguyễn Thị Phương Liên</a:t>
            </a:r>
            <a:endParaRPr b="0" i="0" sz="1500" u="none" cap="none" strike="noStrike">
              <a:solidFill>
                <a:schemeClr val="dk1"/>
              </a:solidFill>
              <a:latin typeface="Calibri"/>
              <a:ea typeface="Calibri"/>
              <a:cs typeface="Calibri"/>
              <a:sym typeface="Calibri"/>
            </a:endParaRPr>
          </a:p>
        </p:txBody>
      </p:sp>
      <p:sp>
        <p:nvSpPr>
          <p:cNvPr id="30" name="Google Shape;30;p1"/>
          <p:cNvSpPr txBox="1"/>
          <p:nvPr/>
        </p:nvSpPr>
        <p:spPr>
          <a:xfrm>
            <a:off x="543645" y="3018145"/>
            <a:ext cx="10515600" cy="137160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Hồ sơ mời thầu theo Mẫu 5A, Thông tư số 79/2025/TT-BTC</a:t>
            </a:r>
            <a:endParaRPr b="0" i="0" sz="170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WBS, kế hoạch theo sprint và phương án nhân sự</a:t>
            </a:r>
            <a:endParaRPr b="0" i="0" sz="170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Ước lượng nỗ lực, dự toán, giá chào, kế hoạch kiểm soát và chuyển giao</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sp>
        <p:nvSpPr>
          <p:cNvPr id="36" name="Google Shape;36;p2"/>
          <p:cNvSpPr/>
          <p:nvPr/>
        </p:nvSpPr>
        <p:spPr>
          <a:xfrm>
            <a:off x="548640" y="329184"/>
            <a:ext cx="961949"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Mở đầu</a:t>
            </a:r>
            <a:endParaRPr b="0" i="0" sz="1100" u="none" cap="none" strike="noStrike">
              <a:solidFill>
                <a:schemeClr val="dk1"/>
              </a:solidFill>
              <a:latin typeface="Calibri"/>
              <a:ea typeface="Calibri"/>
              <a:cs typeface="Calibri"/>
              <a:sym typeface="Calibri"/>
            </a:endParaRPr>
          </a:p>
        </p:txBody>
      </p:sp>
      <p:sp>
        <p:nvSpPr>
          <p:cNvPr id="37" name="Google Shape;37;p2"/>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b="1" lang="en-US" sz="2800">
                <a:solidFill>
                  <a:schemeClr val="dk2"/>
                </a:solidFill>
              </a:rPr>
              <a:t>Phạm vi và sản phẩm của bài tập</a:t>
            </a:r>
            <a:endParaRPr sz="2800"/>
          </a:p>
        </p:txBody>
      </p:sp>
      <p:sp>
        <p:nvSpPr>
          <p:cNvPr id="38" name="Google Shape;38;p2"/>
          <p:cNvSpPr txBox="1"/>
          <p:nvPr/>
        </p:nvSpPr>
        <p:spPr>
          <a:xfrm>
            <a:off x="548640" y="1645920"/>
            <a:ext cx="475488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Calibri"/>
              <a:buNone/>
            </a:pPr>
            <a:r>
              <a:rPr b="1" i="0" lang="en-US" sz="1600" u="none" cap="none" strike="noStrike">
                <a:solidFill>
                  <a:schemeClr val="dk2"/>
                </a:solidFill>
                <a:latin typeface="Arial"/>
                <a:ea typeface="Arial"/>
                <a:cs typeface="Arial"/>
                <a:sym typeface="Arial"/>
              </a:rPr>
              <a:t>Bối cảnh</a:t>
            </a:r>
            <a:endParaRPr b="0" i="0" sz="1600" u="none" cap="none" strike="noStrike">
              <a:solidFill>
                <a:schemeClr val="dk1"/>
              </a:solidFill>
              <a:latin typeface="Arial"/>
              <a:ea typeface="Arial"/>
              <a:cs typeface="Arial"/>
              <a:sym typeface="Arial"/>
            </a:endParaRPr>
          </a:p>
        </p:txBody>
      </p:sp>
      <p:sp>
        <p:nvSpPr>
          <p:cNvPr id="39" name="Google Shape;39;p2"/>
          <p:cNvSpPr txBox="1"/>
          <p:nvPr/>
        </p:nvSpPr>
        <p:spPr>
          <a:xfrm>
            <a:off x="548640" y="2011680"/>
            <a:ext cx="475488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0" i="0" lang="en-US" sz="1300" u="none" cap="none" strike="noStrike">
                <a:solidFill>
                  <a:schemeClr val="dk1"/>
                </a:solidFill>
                <a:latin typeface="Arial"/>
                <a:ea typeface="Arial"/>
                <a:cs typeface="Arial"/>
                <a:sym typeface="Arial"/>
              </a:rPr>
              <a:t>ABC Wear lựa chọn nhà thầu xây dựng website bán hàng trực tuyến, kết nối với Main System. Nhóm đóng vai trò bên mời thầu và nhà thầu PM_26I_02.</a:t>
            </a:r>
            <a:endParaRPr b="0" i="0" sz="1300" u="none" cap="none" strike="noStrike">
              <a:solidFill>
                <a:schemeClr val="dk1"/>
              </a:solidFill>
              <a:latin typeface="Arial"/>
              <a:ea typeface="Arial"/>
              <a:cs typeface="Arial"/>
              <a:sym typeface="Arial"/>
            </a:endParaRPr>
          </a:p>
        </p:txBody>
      </p:sp>
      <p:sp>
        <p:nvSpPr>
          <p:cNvPr id="40" name="Google Shape;40;p2"/>
          <p:cNvSpPr txBox="1"/>
          <p:nvPr/>
        </p:nvSpPr>
        <p:spPr>
          <a:xfrm>
            <a:off x="548640" y="2926080"/>
            <a:ext cx="475488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Calibri"/>
              <a:buNone/>
            </a:pPr>
            <a:r>
              <a:rPr b="1" i="0" lang="en-US" sz="1600" u="none" cap="none" strike="noStrike">
                <a:solidFill>
                  <a:schemeClr val="dk2"/>
                </a:solidFill>
                <a:latin typeface="Arial"/>
                <a:ea typeface="Arial"/>
                <a:cs typeface="Arial"/>
                <a:sym typeface="Arial"/>
              </a:rPr>
              <a:t>Phạm vi chính</a:t>
            </a:r>
            <a:endParaRPr b="0" i="0" sz="1600" u="none" cap="none" strike="noStrike">
              <a:solidFill>
                <a:schemeClr val="dk1"/>
              </a:solidFill>
              <a:latin typeface="Arial"/>
              <a:ea typeface="Arial"/>
              <a:cs typeface="Arial"/>
              <a:sym typeface="Arial"/>
            </a:endParaRPr>
          </a:p>
        </p:txBody>
      </p:sp>
      <p:sp>
        <p:nvSpPr>
          <p:cNvPr id="41" name="Google Shape;41;p2"/>
          <p:cNvSpPr/>
          <p:nvPr/>
        </p:nvSpPr>
        <p:spPr>
          <a:xfrm>
            <a:off x="548640" y="3337560"/>
            <a:ext cx="2286000" cy="713232"/>
          </a:xfrm>
          <a:prstGeom prst="roundRect">
            <a:avLst>
              <a:gd fmla="val 10256"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
          <p:cNvSpPr/>
          <p:nvPr/>
        </p:nvSpPr>
        <p:spPr>
          <a:xfrm>
            <a:off x="685800" y="3465576"/>
            <a:ext cx="457200" cy="45720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3" name="Google Shape;43;p2"/>
          <p:cNvPicPr preferRelativeResize="0"/>
          <p:nvPr/>
        </p:nvPicPr>
        <p:blipFill rotWithShape="1">
          <a:blip r:embed="rId3">
            <a:alphaModFix/>
          </a:blip>
          <a:srcRect b="0" l="0" r="0" t="0"/>
          <a:stretch/>
        </p:blipFill>
        <p:spPr>
          <a:xfrm>
            <a:off x="786384" y="3566160"/>
            <a:ext cx="256032" cy="256032"/>
          </a:xfrm>
          <a:prstGeom prst="rect">
            <a:avLst/>
          </a:prstGeom>
          <a:noFill/>
          <a:ln>
            <a:noFill/>
          </a:ln>
        </p:spPr>
      </p:pic>
      <p:sp>
        <p:nvSpPr>
          <p:cNvPr id="44" name="Google Shape;44;p2"/>
          <p:cNvSpPr txBox="1"/>
          <p:nvPr/>
        </p:nvSpPr>
        <p:spPr>
          <a:xfrm>
            <a:off x="1280160" y="3520440"/>
            <a:ext cx="14630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Thành viên</a:t>
            </a:r>
            <a:endParaRPr b="0" i="0" sz="1500" u="none" cap="none" strike="noStrike">
              <a:solidFill>
                <a:schemeClr val="dk1"/>
              </a:solidFill>
              <a:latin typeface="Calibri"/>
              <a:ea typeface="Calibri"/>
              <a:cs typeface="Calibri"/>
              <a:sym typeface="Calibri"/>
            </a:endParaRPr>
          </a:p>
        </p:txBody>
      </p:sp>
      <p:sp>
        <p:nvSpPr>
          <p:cNvPr id="45" name="Google Shape;45;p2"/>
          <p:cNvSpPr/>
          <p:nvPr/>
        </p:nvSpPr>
        <p:spPr>
          <a:xfrm>
            <a:off x="3017520" y="3337560"/>
            <a:ext cx="2286000" cy="713232"/>
          </a:xfrm>
          <a:prstGeom prst="roundRect">
            <a:avLst>
              <a:gd fmla="val 10256"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
          <p:cNvSpPr/>
          <p:nvPr/>
        </p:nvSpPr>
        <p:spPr>
          <a:xfrm>
            <a:off x="3154680" y="3465576"/>
            <a:ext cx="457200" cy="45720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7" name="Google Shape;47;p2"/>
          <p:cNvPicPr preferRelativeResize="0"/>
          <p:nvPr/>
        </p:nvPicPr>
        <p:blipFill rotWithShape="1">
          <a:blip r:embed="rId4">
            <a:alphaModFix/>
          </a:blip>
          <a:srcRect b="0" l="0" r="0" t="0"/>
          <a:stretch/>
        </p:blipFill>
        <p:spPr>
          <a:xfrm>
            <a:off x="3255264" y="3566160"/>
            <a:ext cx="256032" cy="256032"/>
          </a:xfrm>
          <a:prstGeom prst="rect">
            <a:avLst/>
          </a:prstGeom>
          <a:noFill/>
          <a:ln>
            <a:noFill/>
          </a:ln>
        </p:spPr>
      </p:pic>
      <p:sp>
        <p:nvSpPr>
          <p:cNvPr id="48" name="Google Shape;48;p2"/>
          <p:cNvSpPr txBox="1"/>
          <p:nvPr/>
        </p:nvSpPr>
        <p:spPr>
          <a:xfrm>
            <a:off x="3749040" y="3520440"/>
            <a:ext cx="14630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Sản phẩm</a:t>
            </a:r>
            <a:endParaRPr b="0" i="0" sz="1500" u="none" cap="none" strike="noStrike">
              <a:solidFill>
                <a:schemeClr val="dk1"/>
              </a:solidFill>
              <a:latin typeface="Calibri"/>
              <a:ea typeface="Calibri"/>
              <a:cs typeface="Calibri"/>
              <a:sym typeface="Calibri"/>
            </a:endParaRPr>
          </a:p>
        </p:txBody>
      </p:sp>
      <p:sp>
        <p:nvSpPr>
          <p:cNvPr id="49" name="Google Shape;49;p2"/>
          <p:cNvSpPr/>
          <p:nvPr/>
        </p:nvSpPr>
        <p:spPr>
          <a:xfrm>
            <a:off x="548640" y="4206240"/>
            <a:ext cx="2286000" cy="713232"/>
          </a:xfrm>
          <a:prstGeom prst="roundRect">
            <a:avLst>
              <a:gd fmla="val 10256"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
          <p:cNvSpPr/>
          <p:nvPr/>
        </p:nvSpPr>
        <p:spPr>
          <a:xfrm>
            <a:off x="685800" y="4334256"/>
            <a:ext cx="457200" cy="45720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1" name="Google Shape;51;p2"/>
          <p:cNvPicPr preferRelativeResize="0"/>
          <p:nvPr/>
        </p:nvPicPr>
        <p:blipFill rotWithShape="1">
          <a:blip r:embed="rId5">
            <a:alphaModFix/>
          </a:blip>
          <a:srcRect b="0" l="0" r="0" t="0"/>
          <a:stretch/>
        </p:blipFill>
        <p:spPr>
          <a:xfrm>
            <a:off x="786384" y="4434840"/>
            <a:ext cx="256032" cy="256032"/>
          </a:xfrm>
          <a:prstGeom prst="rect">
            <a:avLst/>
          </a:prstGeom>
          <a:noFill/>
          <a:ln>
            <a:noFill/>
          </a:ln>
        </p:spPr>
      </p:pic>
      <p:sp>
        <p:nvSpPr>
          <p:cNvPr id="52" name="Google Shape;52;p2"/>
          <p:cNvSpPr txBox="1"/>
          <p:nvPr/>
        </p:nvSpPr>
        <p:spPr>
          <a:xfrm>
            <a:off x="1280160" y="4389120"/>
            <a:ext cx="14630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Đặt hàng</a:t>
            </a:r>
            <a:endParaRPr b="0" i="0" sz="1500" u="none" cap="none" strike="noStrike">
              <a:solidFill>
                <a:schemeClr val="dk1"/>
              </a:solidFill>
              <a:latin typeface="Calibri"/>
              <a:ea typeface="Calibri"/>
              <a:cs typeface="Calibri"/>
              <a:sym typeface="Calibri"/>
            </a:endParaRPr>
          </a:p>
        </p:txBody>
      </p:sp>
      <p:sp>
        <p:nvSpPr>
          <p:cNvPr id="53" name="Google Shape;53;p2"/>
          <p:cNvSpPr/>
          <p:nvPr/>
        </p:nvSpPr>
        <p:spPr>
          <a:xfrm>
            <a:off x="3017520" y="4206240"/>
            <a:ext cx="2286000" cy="713232"/>
          </a:xfrm>
          <a:prstGeom prst="roundRect">
            <a:avLst>
              <a:gd fmla="val 10256"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
          <p:cNvSpPr/>
          <p:nvPr/>
        </p:nvSpPr>
        <p:spPr>
          <a:xfrm>
            <a:off x="3154680" y="4334256"/>
            <a:ext cx="457200" cy="45720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5" name="Google Shape;55;p2"/>
          <p:cNvPicPr preferRelativeResize="0"/>
          <p:nvPr/>
        </p:nvPicPr>
        <p:blipFill rotWithShape="1">
          <a:blip r:embed="rId6">
            <a:alphaModFix/>
          </a:blip>
          <a:srcRect b="0" l="0" r="0" t="0"/>
          <a:stretch/>
        </p:blipFill>
        <p:spPr>
          <a:xfrm>
            <a:off x="3255264" y="4434840"/>
            <a:ext cx="256032" cy="256032"/>
          </a:xfrm>
          <a:prstGeom prst="rect">
            <a:avLst/>
          </a:prstGeom>
          <a:noFill/>
          <a:ln>
            <a:noFill/>
          </a:ln>
        </p:spPr>
      </p:pic>
      <p:sp>
        <p:nvSpPr>
          <p:cNvPr id="56" name="Google Shape;56;p2"/>
          <p:cNvSpPr txBox="1"/>
          <p:nvPr/>
        </p:nvSpPr>
        <p:spPr>
          <a:xfrm>
            <a:off x="3749040" y="4389120"/>
            <a:ext cx="14630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Tích hợp</a:t>
            </a:r>
            <a:endParaRPr b="0" i="0" sz="1500" u="none" cap="none" strike="noStrike">
              <a:solidFill>
                <a:schemeClr val="dk1"/>
              </a:solidFill>
              <a:latin typeface="Calibri"/>
              <a:ea typeface="Calibri"/>
              <a:cs typeface="Calibri"/>
              <a:sym typeface="Calibri"/>
            </a:endParaRPr>
          </a:p>
        </p:txBody>
      </p:sp>
      <p:sp>
        <p:nvSpPr>
          <p:cNvPr id="57" name="Google Shape;57;p2"/>
          <p:cNvSpPr txBox="1"/>
          <p:nvPr/>
        </p:nvSpPr>
        <p:spPr>
          <a:xfrm>
            <a:off x="548640" y="5166360"/>
            <a:ext cx="475488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300"/>
              <a:buFont typeface="Calibri"/>
              <a:buNone/>
            </a:pPr>
            <a:r>
              <a:rPr b="0" i="1" lang="en-US" sz="1300" u="none" cap="none" strike="noStrike">
                <a:solidFill>
                  <a:schemeClr val="accent4"/>
                </a:solidFill>
                <a:latin typeface="Calibri"/>
                <a:ea typeface="Calibri"/>
                <a:cs typeface="Calibri"/>
                <a:sym typeface="Calibri"/>
              </a:rPr>
              <a:t>Ngoài phạm vi: quản trị nội bộ, thanh toán trực tuyến qua cổng thanh toán.</a:t>
            </a:r>
            <a:endParaRPr b="0" i="0" sz="1300" u="none" cap="none" strike="noStrike">
              <a:solidFill>
                <a:schemeClr val="dk1"/>
              </a:solidFill>
              <a:latin typeface="Calibri"/>
              <a:ea typeface="Calibri"/>
              <a:cs typeface="Calibri"/>
              <a:sym typeface="Calibri"/>
            </a:endParaRPr>
          </a:p>
        </p:txBody>
      </p:sp>
      <p:graphicFrame>
        <p:nvGraphicFramePr>
          <p:cNvPr id="58" name="Google Shape;58;p2"/>
          <p:cNvGraphicFramePr/>
          <p:nvPr/>
        </p:nvGraphicFramePr>
        <p:xfrm>
          <a:off x="5669280" y="1645920"/>
          <a:ext cx="3000000" cy="3000000"/>
        </p:xfrm>
        <a:graphic>
          <a:graphicData uri="http://schemas.openxmlformats.org/drawingml/2006/table">
            <a:tbl>
              <a:tblPr>
                <a:noFill/>
                <a:tableStyleId>{333A356F-784D-4884-A680-775E4A61AB1C}</a:tableStyleId>
              </a:tblPr>
              <a:tblGrid>
                <a:gridCol w="1783075"/>
                <a:gridCol w="4187950"/>
              </a:tblGrid>
              <a:tr h="530350">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Đầu mục</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Sản phẩm</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5303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Hồ sơ mời thầu, dự thầu</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E-HSMT theo Mẫu 5A và HSDT đáp ứng 5 tiêu chí kỹ thuật</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5303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Phạm vi và WBS</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8 nhóm công việc, 144 gói, 657 MD, có sản phẩm đầu ra</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5303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Tiến độ và nhân sự</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7 sprint, 12 nhân sự, giao việc theo gói và ma trận RACI</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5303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Ước lượng và chi phí</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Ước lượng theo danh mục chức năng, đơn giá theo loại công việc, dự toán, đối chiếu lương và giá chào</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5303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Kiểm soát dự án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Master plan, kế hoạch rủi ro, thay đổi, cấu hình và quản lý phiên bản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5303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Chuyển giao</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Kiểm thử chấp nhận, kế hoạch cut over và điều kiện bàn giao</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bl>
          </a:graphicData>
        </a:graphic>
      </p:graphicFrame>
      <p:sp>
        <p:nvSpPr>
          <p:cNvPr id="59" name="Google Shape;59;p2"/>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6F8189"/>
                </a:solidFill>
                <a:latin typeface="Calibri"/>
                <a:ea typeface="Calibri"/>
                <a:cs typeface="Calibri"/>
                <a:sym typeface="Calibri"/>
              </a:rPr>
              <a:t>‹#›</a:t>
            </a:fld>
            <a:endParaRPr b="0" i="0" sz="1000" u="none" cap="none" strike="noStrike">
              <a:solidFill>
                <a:srgbClr val="6F8189"/>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3"/>
          <p:cNvSpPr/>
          <p:nvPr/>
        </p:nvSpPr>
        <p:spPr>
          <a:xfrm>
            <a:off x="548640" y="329184"/>
            <a:ext cx="1466698"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Bên mời thầu</a:t>
            </a:r>
            <a:endParaRPr b="0" i="0" sz="1100" u="none" cap="none" strike="noStrike">
              <a:solidFill>
                <a:schemeClr val="dk1"/>
              </a:solidFill>
              <a:latin typeface="Calibri"/>
              <a:ea typeface="Calibri"/>
              <a:cs typeface="Calibri"/>
              <a:sym typeface="Calibri"/>
            </a:endParaRPr>
          </a:p>
        </p:txBody>
      </p:sp>
      <p:sp>
        <p:nvSpPr>
          <p:cNvPr id="66" name="Google Shape;66;p3"/>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b="1" lang="en-US" sz="2800">
                <a:solidFill>
                  <a:schemeClr val="dk2"/>
                </a:solidFill>
              </a:rPr>
              <a:t>Hồ sơ mời thầu theo Mẫu 5A</a:t>
            </a:r>
            <a:endParaRPr sz="2800"/>
          </a:p>
        </p:txBody>
      </p:sp>
      <p:cxnSp>
        <p:nvCxnSpPr>
          <p:cNvPr id="67" name="Google Shape;67;p3"/>
          <p:cNvCxnSpPr/>
          <p:nvPr/>
        </p:nvCxnSpPr>
        <p:spPr>
          <a:xfrm>
            <a:off x="1005840" y="1828800"/>
            <a:ext cx="10149840" cy="0"/>
          </a:xfrm>
          <a:prstGeom prst="straightConnector1">
            <a:avLst/>
          </a:prstGeom>
          <a:noFill/>
          <a:ln cap="flat" cmpd="sng" w="25400">
            <a:solidFill>
              <a:schemeClr val="accent6"/>
            </a:solidFill>
            <a:prstDash val="solid"/>
            <a:round/>
            <a:headEnd len="sm" w="sm" type="none"/>
            <a:tailEnd len="sm" w="sm" type="none"/>
          </a:ln>
        </p:spPr>
      </p:cxnSp>
      <p:sp>
        <p:nvSpPr>
          <p:cNvPr id="68" name="Google Shape;68;p3"/>
          <p:cNvSpPr/>
          <p:nvPr/>
        </p:nvSpPr>
        <p:spPr>
          <a:xfrm>
            <a:off x="886968" y="1709928"/>
            <a:ext cx="237744" cy="237744"/>
          </a:xfrm>
          <a:prstGeom prst="ellipse">
            <a:avLst/>
          </a:pr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
          <p:cNvSpPr txBox="1"/>
          <p:nvPr/>
        </p:nvSpPr>
        <p:spPr>
          <a:xfrm>
            <a:off x="137160" y="2011680"/>
            <a:ext cx="173736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22/02/2027</a:t>
            </a:r>
            <a:endParaRPr b="0" i="0" sz="1300" u="none" cap="none" strike="noStrike">
              <a:solidFill>
                <a:schemeClr val="dk1"/>
              </a:solidFill>
              <a:latin typeface="Calibri"/>
              <a:ea typeface="Calibri"/>
              <a:cs typeface="Calibri"/>
              <a:sym typeface="Calibri"/>
            </a:endParaRPr>
          </a:p>
        </p:txBody>
      </p:sp>
      <p:sp>
        <p:nvSpPr>
          <p:cNvPr id="70" name="Google Shape;70;p3"/>
          <p:cNvSpPr txBox="1"/>
          <p:nvPr/>
        </p:nvSpPr>
        <p:spPr>
          <a:xfrm>
            <a:off x="137160" y="2286000"/>
            <a:ext cx="173736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Phát hành E-HSMT</a:t>
            </a:r>
            <a:endParaRPr b="0" i="0" sz="1200" u="none" cap="none" strike="noStrike">
              <a:solidFill>
                <a:schemeClr val="dk1"/>
              </a:solidFill>
              <a:latin typeface="Calibri"/>
              <a:ea typeface="Calibri"/>
              <a:cs typeface="Calibri"/>
              <a:sym typeface="Calibri"/>
            </a:endParaRPr>
          </a:p>
        </p:txBody>
      </p:sp>
      <p:sp>
        <p:nvSpPr>
          <p:cNvPr id="71" name="Google Shape;71;p3"/>
          <p:cNvSpPr/>
          <p:nvPr/>
        </p:nvSpPr>
        <p:spPr>
          <a:xfrm>
            <a:off x="2916936" y="1709928"/>
            <a:ext cx="237744" cy="237744"/>
          </a:xfrm>
          <a:prstGeom prst="ellipse">
            <a:avLst/>
          </a:pr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3"/>
          <p:cNvSpPr txBox="1"/>
          <p:nvPr/>
        </p:nvSpPr>
        <p:spPr>
          <a:xfrm>
            <a:off x="2167128" y="2011680"/>
            <a:ext cx="173736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01/3</a:t>
            </a:r>
            <a:endParaRPr b="0" i="0" sz="1300" u="none" cap="none" strike="noStrike">
              <a:solidFill>
                <a:schemeClr val="dk1"/>
              </a:solidFill>
              <a:latin typeface="Calibri"/>
              <a:ea typeface="Calibri"/>
              <a:cs typeface="Calibri"/>
              <a:sym typeface="Calibri"/>
            </a:endParaRPr>
          </a:p>
        </p:txBody>
      </p:sp>
      <p:sp>
        <p:nvSpPr>
          <p:cNvPr id="73" name="Google Shape;73;p3"/>
          <p:cNvSpPr txBox="1"/>
          <p:nvPr/>
        </p:nvSpPr>
        <p:spPr>
          <a:xfrm>
            <a:off x="2167128" y="2286000"/>
            <a:ext cx="173736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Hội nghị tiền đấu thầu</a:t>
            </a:r>
            <a:endParaRPr b="0" i="0" sz="1200" u="none" cap="none" strike="noStrike">
              <a:solidFill>
                <a:schemeClr val="dk1"/>
              </a:solidFill>
              <a:latin typeface="Calibri"/>
              <a:ea typeface="Calibri"/>
              <a:cs typeface="Calibri"/>
              <a:sym typeface="Calibri"/>
            </a:endParaRPr>
          </a:p>
        </p:txBody>
      </p:sp>
      <p:sp>
        <p:nvSpPr>
          <p:cNvPr id="74" name="Google Shape;74;p3"/>
          <p:cNvSpPr/>
          <p:nvPr/>
        </p:nvSpPr>
        <p:spPr>
          <a:xfrm>
            <a:off x="4946904" y="1709928"/>
            <a:ext cx="237744" cy="237744"/>
          </a:xfrm>
          <a:prstGeom prst="ellipse">
            <a:avLst/>
          </a:pr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3"/>
          <p:cNvSpPr txBox="1"/>
          <p:nvPr/>
        </p:nvSpPr>
        <p:spPr>
          <a:xfrm>
            <a:off x="4197096" y="2011680"/>
            <a:ext cx="173736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03/3</a:t>
            </a:r>
            <a:endParaRPr b="0" i="0" sz="1300" u="none" cap="none" strike="noStrike">
              <a:solidFill>
                <a:schemeClr val="dk1"/>
              </a:solidFill>
              <a:latin typeface="Calibri"/>
              <a:ea typeface="Calibri"/>
              <a:cs typeface="Calibri"/>
              <a:sym typeface="Calibri"/>
            </a:endParaRPr>
          </a:p>
        </p:txBody>
      </p:sp>
      <p:sp>
        <p:nvSpPr>
          <p:cNvPr id="76" name="Google Shape;76;p3"/>
          <p:cNvSpPr txBox="1"/>
          <p:nvPr/>
        </p:nvSpPr>
        <p:spPr>
          <a:xfrm>
            <a:off x="4197096" y="2286000"/>
            <a:ext cx="173736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Hạn đề nghị làm rõ</a:t>
            </a:r>
            <a:endParaRPr b="0" i="0" sz="1200" u="none" cap="none" strike="noStrike">
              <a:solidFill>
                <a:schemeClr val="dk1"/>
              </a:solidFill>
              <a:latin typeface="Calibri"/>
              <a:ea typeface="Calibri"/>
              <a:cs typeface="Calibri"/>
              <a:sym typeface="Calibri"/>
            </a:endParaRPr>
          </a:p>
        </p:txBody>
      </p:sp>
      <p:sp>
        <p:nvSpPr>
          <p:cNvPr id="77" name="Google Shape;77;p3"/>
          <p:cNvSpPr/>
          <p:nvPr/>
        </p:nvSpPr>
        <p:spPr>
          <a:xfrm>
            <a:off x="6976872" y="1709928"/>
            <a:ext cx="237744" cy="237744"/>
          </a:xfrm>
          <a:prstGeom prst="ellipse">
            <a:avLst/>
          </a:pr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3"/>
          <p:cNvSpPr txBox="1"/>
          <p:nvPr/>
        </p:nvSpPr>
        <p:spPr>
          <a:xfrm>
            <a:off x="6227064" y="2011680"/>
            <a:ext cx="173736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08/3</a:t>
            </a:r>
            <a:endParaRPr b="0" i="0" sz="1300" u="none" cap="none" strike="noStrike">
              <a:solidFill>
                <a:schemeClr val="dk1"/>
              </a:solidFill>
              <a:latin typeface="Calibri"/>
              <a:ea typeface="Calibri"/>
              <a:cs typeface="Calibri"/>
              <a:sym typeface="Calibri"/>
            </a:endParaRPr>
          </a:p>
        </p:txBody>
      </p:sp>
      <p:sp>
        <p:nvSpPr>
          <p:cNvPr id="79" name="Google Shape;79;p3"/>
          <p:cNvSpPr txBox="1"/>
          <p:nvPr/>
        </p:nvSpPr>
        <p:spPr>
          <a:xfrm>
            <a:off x="6227064" y="2286000"/>
            <a:ext cx="173736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Đóng thầu, mở thầu</a:t>
            </a:r>
            <a:endParaRPr b="0" i="0" sz="1200" u="none" cap="none" strike="noStrike">
              <a:solidFill>
                <a:schemeClr val="dk1"/>
              </a:solidFill>
              <a:latin typeface="Calibri"/>
              <a:ea typeface="Calibri"/>
              <a:cs typeface="Calibri"/>
              <a:sym typeface="Calibri"/>
            </a:endParaRPr>
          </a:p>
        </p:txBody>
      </p:sp>
      <p:sp>
        <p:nvSpPr>
          <p:cNvPr id="80" name="Google Shape;80;p3"/>
          <p:cNvSpPr/>
          <p:nvPr/>
        </p:nvSpPr>
        <p:spPr>
          <a:xfrm>
            <a:off x="9006840" y="1709928"/>
            <a:ext cx="237744" cy="237744"/>
          </a:xfrm>
          <a:prstGeom prst="ellipse">
            <a:avLst/>
          </a:pr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3"/>
          <p:cNvSpPr txBox="1"/>
          <p:nvPr/>
        </p:nvSpPr>
        <p:spPr>
          <a:xfrm>
            <a:off x="8257032" y="2011680"/>
            <a:ext cx="173736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18/3</a:t>
            </a:r>
            <a:endParaRPr b="0" i="0" sz="1300" u="none" cap="none" strike="noStrike">
              <a:solidFill>
                <a:schemeClr val="dk1"/>
              </a:solidFill>
              <a:latin typeface="Calibri"/>
              <a:ea typeface="Calibri"/>
              <a:cs typeface="Calibri"/>
              <a:sym typeface="Calibri"/>
            </a:endParaRPr>
          </a:p>
        </p:txBody>
      </p:sp>
      <p:sp>
        <p:nvSpPr>
          <p:cNvPr id="82" name="Google Shape;82;p3"/>
          <p:cNvSpPr txBox="1"/>
          <p:nvPr/>
        </p:nvSpPr>
        <p:spPr>
          <a:xfrm>
            <a:off x="8257032" y="2286000"/>
            <a:ext cx="173736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Hợp đồng có hiệu lực</a:t>
            </a:r>
            <a:endParaRPr b="0" i="0" sz="1200" u="none" cap="none" strike="noStrike">
              <a:solidFill>
                <a:schemeClr val="dk1"/>
              </a:solidFill>
              <a:latin typeface="Calibri"/>
              <a:ea typeface="Calibri"/>
              <a:cs typeface="Calibri"/>
              <a:sym typeface="Calibri"/>
            </a:endParaRPr>
          </a:p>
        </p:txBody>
      </p:sp>
      <p:sp>
        <p:nvSpPr>
          <p:cNvPr id="83" name="Google Shape;83;p3"/>
          <p:cNvSpPr/>
          <p:nvPr/>
        </p:nvSpPr>
        <p:spPr>
          <a:xfrm>
            <a:off x="11036808" y="1709928"/>
            <a:ext cx="237744" cy="237744"/>
          </a:xfrm>
          <a:prstGeom prst="ellipse">
            <a:avLst/>
          </a:pr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3"/>
          <p:cNvSpPr txBox="1"/>
          <p:nvPr/>
        </p:nvSpPr>
        <p:spPr>
          <a:xfrm>
            <a:off x="10287000" y="2011680"/>
            <a:ext cx="173736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accent1"/>
              </a:buClr>
              <a:buSzPts val="1300"/>
              <a:buFont typeface="Calibri"/>
              <a:buNone/>
            </a:pPr>
            <a:r>
              <a:rPr b="1" i="0" lang="en-US" sz="1300" u="none" cap="none" strike="noStrike">
                <a:solidFill>
                  <a:schemeClr val="accent1"/>
                </a:solidFill>
                <a:latin typeface="Calibri"/>
                <a:ea typeface="Calibri"/>
                <a:cs typeface="Calibri"/>
                <a:sym typeface="Calibri"/>
              </a:rPr>
              <a:t>01/7</a:t>
            </a:r>
            <a:endParaRPr b="0" i="0" sz="1300" u="none" cap="none" strike="noStrike">
              <a:solidFill>
                <a:schemeClr val="dk1"/>
              </a:solidFill>
              <a:latin typeface="Calibri"/>
              <a:ea typeface="Calibri"/>
              <a:cs typeface="Calibri"/>
              <a:sym typeface="Calibri"/>
            </a:endParaRPr>
          </a:p>
        </p:txBody>
      </p:sp>
      <p:sp>
        <p:nvSpPr>
          <p:cNvPr id="85" name="Google Shape;85;p3"/>
          <p:cNvSpPr txBox="1"/>
          <p:nvPr/>
        </p:nvSpPr>
        <p:spPr>
          <a:xfrm>
            <a:off x="10287000" y="2286000"/>
            <a:ext cx="173736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Cut over</a:t>
            </a:r>
            <a:endParaRPr b="0" i="0" sz="1200" u="none" cap="none" strike="noStrike">
              <a:solidFill>
                <a:schemeClr val="dk1"/>
              </a:solidFill>
              <a:latin typeface="Calibri"/>
              <a:ea typeface="Calibri"/>
              <a:cs typeface="Calibri"/>
              <a:sym typeface="Calibri"/>
            </a:endParaRPr>
          </a:p>
        </p:txBody>
      </p:sp>
      <p:sp>
        <p:nvSpPr>
          <p:cNvPr id="86" name="Google Shape;86;p3"/>
          <p:cNvSpPr/>
          <p:nvPr/>
        </p:nvSpPr>
        <p:spPr>
          <a:xfrm>
            <a:off x="548640" y="2834640"/>
            <a:ext cx="3566160" cy="2971800"/>
          </a:xfrm>
          <a:prstGeom prst="roundRect">
            <a:avLst>
              <a:gd fmla="val 2462"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3"/>
          <p:cNvSpPr txBox="1"/>
          <p:nvPr/>
        </p:nvSpPr>
        <p:spPr>
          <a:xfrm>
            <a:off x="731520" y="2971800"/>
            <a:ext cx="32004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500"/>
              <a:buFont typeface="Calibri"/>
              <a:buNone/>
            </a:pPr>
            <a:r>
              <a:rPr b="1" i="0" lang="en-US" sz="1500" u="none" cap="none" strike="noStrike">
                <a:solidFill>
                  <a:schemeClr val="accent1"/>
                </a:solidFill>
                <a:latin typeface="Calibri"/>
                <a:ea typeface="Calibri"/>
                <a:cs typeface="Calibri"/>
                <a:sym typeface="Calibri"/>
              </a:rPr>
              <a:t>Gói thầu</a:t>
            </a:r>
            <a:endParaRPr b="0" i="0" sz="1500" u="none" cap="none" strike="noStrike">
              <a:solidFill>
                <a:schemeClr val="dk1"/>
              </a:solidFill>
              <a:latin typeface="Calibri"/>
              <a:ea typeface="Calibri"/>
              <a:cs typeface="Calibri"/>
              <a:sym typeface="Calibri"/>
            </a:endParaRPr>
          </a:p>
        </p:txBody>
      </p:sp>
      <p:sp>
        <p:nvSpPr>
          <p:cNvPr id="88" name="Google Shape;88;p3"/>
          <p:cNvSpPr txBox="1"/>
          <p:nvPr/>
        </p:nvSpPr>
        <p:spPr>
          <a:xfrm>
            <a:off x="731520" y="3383280"/>
            <a:ext cx="3246120" cy="233172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Dịch vụ phi tư vấn, đấu thầu rộng rãi trong nước qua mạng</a:t>
            </a:r>
            <a:endParaRPr b="0" i="0" sz="125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Một giai đoạn một túi hồ sơ, hợp đồng trọn gói</a:t>
            </a:r>
            <a:endParaRPr b="0" i="0" sz="125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Giá gói thầu 2.000 triệu đồng</a:t>
            </a:r>
            <a:endParaRPr b="0" i="0" sz="125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Bảo đảm dự thầu 30 triệu đồng (1,5%), cam kết trong đơn dự thầu</a:t>
            </a:r>
            <a:endParaRPr b="0" i="0" sz="1250" u="none" cap="none" strike="noStrike">
              <a:solidFill>
                <a:schemeClr val="dk1"/>
              </a:solidFill>
              <a:latin typeface="Calibri"/>
              <a:ea typeface="Calibri"/>
              <a:cs typeface="Calibri"/>
              <a:sym typeface="Calibri"/>
            </a:endParaRPr>
          </a:p>
        </p:txBody>
      </p:sp>
      <p:sp>
        <p:nvSpPr>
          <p:cNvPr id="89" name="Google Shape;89;p3"/>
          <p:cNvSpPr/>
          <p:nvPr/>
        </p:nvSpPr>
        <p:spPr>
          <a:xfrm>
            <a:off x="4297680" y="2834640"/>
            <a:ext cx="3566160" cy="2971800"/>
          </a:xfrm>
          <a:prstGeom prst="roundRect">
            <a:avLst>
              <a:gd fmla="val 2462"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3"/>
          <p:cNvSpPr txBox="1"/>
          <p:nvPr/>
        </p:nvSpPr>
        <p:spPr>
          <a:xfrm>
            <a:off x="4480560" y="2971800"/>
            <a:ext cx="32004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500"/>
              <a:buFont typeface="Calibri"/>
              <a:buNone/>
            </a:pPr>
            <a:r>
              <a:rPr b="1" i="0" lang="en-US" sz="1500" u="none" cap="none" strike="noStrike">
                <a:solidFill>
                  <a:schemeClr val="accent1"/>
                </a:solidFill>
                <a:latin typeface="Calibri"/>
                <a:ea typeface="Calibri"/>
                <a:cs typeface="Calibri"/>
                <a:sym typeface="Calibri"/>
              </a:rPr>
              <a:t>Tiêu chuẩn đánh giá</a:t>
            </a:r>
            <a:endParaRPr b="0" i="0" sz="1500" u="none" cap="none" strike="noStrike">
              <a:solidFill>
                <a:schemeClr val="dk1"/>
              </a:solidFill>
              <a:latin typeface="Calibri"/>
              <a:ea typeface="Calibri"/>
              <a:cs typeface="Calibri"/>
              <a:sym typeface="Calibri"/>
            </a:endParaRPr>
          </a:p>
        </p:txBody>
      </p:sp>
      <p:sp>
        <p:nvSpPr>
          <p:cNvPr id="91" name="Google Shape;91;p3"/>
          <p:cNvSpPr txBox="1"/>
          <p:nvPr/>
        </p:nvSpPr>
        <p:spPr>
          <a:xfrm>
            <a:off x="4480560" y="3383280"/>
            <a:ext cx="3246120" cy="233172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Năng lực, kinh nghiệm: doanh thu bình quân từ 2 tỷ đồng, hợp đồng tương tự từ 600 triệu đồng</a:t>
            </a:r>
            <a:endParaRPr b="0" i="0" sz="125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Nhân sự chủ chốt: 01 quản trị dự án, 03 kỹ sư phát triển, 01 kỹ sư phân tích nghiệp vụ hoặc kiểm thử</a:t>
            </a:r>
            <a:endParaRPr b="0" i="0" sz="125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Kỹ thuật: 5 tiêu chí, tối thiểu 70 trên 100 điểm</a:t>
            </a:r>
            <a:endParaRPr b="0" i="0" sz="125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Tài chính: phương pháp giá thấp nhất</a:t>
            </a:r>
            <a:endParaRPr b="0" i="0" sz="1250" u="none" cap="none" strike="noStrike">
              <a:solidFill>
                <a:schemeClr val="dk1"/>
              </a:solidFill>
              <a:latin typeface="Calibri"/>
              <a:ea typeface="Calibri"/>
              <a:cs typeface="Calibri"/>
              <a:sym typeface="Calibri"/>
            </a:endParaRPr>
          </a:p>
        </p:txBody>
      </p:sp>
      <p:sp>
        <p:nvSpPr>
          <p:cNvPr id="92" name="Google Shape;92;p3"/>
          <p:cNvSpPr/>
          <p:nvPr/>
        </p:nvSpPr>
        <p:spPr>
          <a:xfrm>
            <a:off x="8046720" y="2834640"/>
            <a:ext cx="3566160" cy="2971800"/>
          </a:xfrm>
          <a:prstGeom prst="roundRect">
            <a:avLst>
              <a:gd fmla="val 2462"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3"/>
          <p:cNvSpPr txBox="1"/>
          <p:nvPr/>
        </p:nvSpPr>
        <p:spPr>
          <a:xfrm>
            <a:off x="8229600" y="2971800"/>
            <a:ext cx="32004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500"/>
              <a:buFont typeface="Calibri"/>
              <a:buNone/>
            </a:pPr>
            <a:r>
              <a:rPr b="1" i="0" lang="en-US" sz="1500" u="none" cap="none" strike="noStrike">
                <a:solidFill>
                  <a:schemeClr val="accent1"/>
                </a:solidFill>
                <a:latin typeface="Calibri"/>
                <a:ea typeface="Calibri"/>
                <a:cs typeface="Calibri"/>
                <a:sym typeface="Calibri"/>
              </a:rPr>
              <a:t>Điều kiện hợp đồng</a:t>
            </a:r>
            <a:endParaRPr b="0" i="0" sz="1500" u="none" cap="none" strike="noStrike">
              <a:solidFill>
                <a:schemeClr val="dk1"/>
              </a:solidFill>
              <a:latin typeface="Calibri"/>
              <a:ea typeface="Calibri"/>
              <a:cs typeface="Calibri"/>
              <a:sym typeface="Calibri"/>
            </a:endParaRPr>
          </a:p>
        </p:txBody>
      </p:sp>
      <p:sp>
        <p:nvSpPr>
          <p:cNvPr id="94" name="Google Shape;94;p3"/>
          <p:cNvSpPr txBox="1"/>
          <p:nvPr/>
        </p:nvSpPr>
        <p:spPr>
          <a:xfrm>
            <a:off x="8229600" y="3383280"/>
            <a:ext cx="3246120" cy="233172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Tạm ứng 15%, thanh toán theo mốc 25%, 30%, 25%, 5%</a:t>
            </a:r>
            <a:endParaRPr b="0" i="0" sz="125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Bảo đảm thực hiện hợp đồng 3%</a:t>
            </a:r>
            <a:endParaRPr b="0" i="0" sz="125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Phạt chậm tiến độ 0,1% mỗi ngày, tối đa 8%</a:t>
            </a:r>
            <a:endParaRPr b="0" i="0" sz="125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Bảo hành 12 tháng, bảo lãnh bảo hành 5%</a:t>
            </a:r>
            <a:endParaRPr b="0" i="0" sz="1250" u="none" cap="none" strike="noStrike">
              <a:solidFill>
                <a:schemeClr val="dk1"/>
              </a:solidFill>
              <a:latin typeface="Calibri"/>
              <a:ea typeface="Calibri"/>
              <a:cs typeface="Calibri"/>
              <a:sym typeface="Calibri"/>
            </a:endParaRPr>
          </a:p>
        </p:txBody>
      </p:sp>
      <p:sp>
        <p:nvSpPr>
          <p:cNvPr id="95" name="Google Shape;95;p3"/>
          <p:cNvSpPr txBox="1"/>
          <p:nvPr/>
        </p:nvSpPr>
        <p:spPr>
          <a:xfrm>
            <a:off x="548640" y="5897880"/>
            <a:ext cx="1106424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Calibri"/>
              <a:buNone/>
            </a:pPr>
            <a:r>
              <a:rPr b="0" i="1" lang="en-US" sz="1200" u="none" cap="none" strike="noStrike">
                <a:solidFill>
                  <a:schemeClr val="accent4"/>
                </a:solidFill>
                <a:latin typeface="Calibri"/>
                <a:ea typeface="Calibri"/>
                <a:cs typeface="Calibri"/>
                <a:sym typeface="Calibri"/>
              </a:rPr>
              <a:t>Đủ 23 mục E-BDL và 25 mục E-ĐKCT theo Mẫu 5A. Điều chỉnh so với RFP có căn cứ: nộp qua Hệ thống thay cho 10 bản in, hội nghị tiền đấu thầu thay buổi trình bày, hạn làm rõ ngày 03/3.</a:t>
            </a:r>
            <a:endParaRPr b="0" i="0" sz="1200" u="none" cap="none" strike="noStrike">
              <a:solidFill>
                <a:schemeClr val="dk1"/>
              </a:solidFill>
              <a:latin typeface="Calibri"/>
              <a:ea typeface="Calibri"/>
              <a:cs typeface="Calibri"/>
              <a:sym typeface="Calibri"/>
            </a:endParaRPr>
          </a:p>
        </p:txBody>
      </p:sp>
      <p:sp>
        <p:nvSpPr>
          <p:cNvPr id="96" name="Google Shape;96;p3"/>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6F8189"/>
                </a:solidFill>
                <a:latin typeface="Calibri"/>
                <a:ea typeface="Calibri"/>
                <a:cs typeface="Calibri"/>
                <a:sym typeface="Calibri"/>
              </a:rPr>
              <a:t>‹#›</a:t>
            </a:fld>
            <a:endParaRPr b="0" i="0" sz="1000" u="none" cap="none" strike="noStrike">
              <a:solidFill>
                <a:srgbClr val="6F8189"/>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p:nvPr/>
        </p:nvSpPr>
        <p:spPr>
          <a:xfrm>
            <a:off x="548640" y="329184"/>
            <a:ext cx="961949"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1. WBS</a:t>
            </a:r>
            <a:endParaRPr b="0" i="0" sz="1100" u="none" cap="none" strike="noStrike">
              <a:solidFill>
                <a:schemeClr val="dk1"/>
              </a:solidFill>
              <a:latin typeface="Calibri"/>
              <a:ea typeface="Calibri"/>
              <a:cs typeface="Calibri"/>
              <a:sym typeface="Calibri"/>
            </a:endParaRPr>
          </a:p>
        </p:txBody>
      </p:sp>
      <p:sp>
        <p:nvSpPr>
          <p:cNvPr id="103" name="Google Shape;103;p4"/>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b="1" lang="en-US" sz="2800">
                <a:solidFill>
                  <a:schemeClr val="dk2"/>
                </a:solidFill>
              </a:rPr>
              <a:t>Cấu trúc WBS tổng thể</a:t>
            </a:r>
            <a:endParaRPr sz="2800"/>
          </a:p>
        </p:txBody>
      </p:sp>
      <p:graphicFrame>
        <p:nvGraphicFramePr>
          <p:cNvPr id="104" name="Google Shape;104;p4"/>
          <p:cNvGraphicFramePr/>
          <p:nvPr/>
        </p:nvGraphicFramePr>
        <p:xfrm>
          <a:off x="457200" y="1600200"/>
          <a:ext cx="7223760" cy="4526280"/>
        </p:xfrm>
        <a:graphic>
          <a:graphicData uri="http://schemas.openxmlformats.org/drawingml/2006/chart">
            <c:chart r:id="rId3"/>
          </a:graphicData>
        </a:graphic>
      </p:graphicFrame>
      <p:sp>
        <p:nvSpPr>
          <p:cNvPr id="105" name="Google Shape;105;p4"/>
          <p:cNvSpPr txBox="1"/>
          <p:nvPr/>
        </p:nvSpPr>
        <p:spPr>
          <a:xfrm>
            <a:off x="8001000" y="1645920"/>
            <a:ext cx="3657600" cy="670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4400"/>
              <a:buFont typeface="Cambria"/>
              <a:buNone/>
            </a:pPr>
            <a:r>
              <a:rPr b="1" i="0" lang="en-US" sz="4400" u="none" cap="none" strike="noStrike">
                <a:solidFill>
                  <a:schemeClr val="accent1"/>
                </a:solidFill>
                <a:latin typeface="Cambria"/>
                <a:ea typeface="Cambria"/>
                <a:cs typeface="Cambria"/>
                <a:sym typeface="Cambria"/>
              </a:rPr>
              <a:t>657 MD</a:t>
            </a:r>
            <a:endParaRPr b="0" i="0" sz="4400" u="none" cap="none" strike="noStrike">
              <a:solidFill>
                <a:schemeClr val="dk1"/>
              </a:solidFill>
              <a:latin typeface="Calibri"/>
              <a:ea typeface="Calibri"/>
              <a:cs typeface="Calibri"/>
              <a:sym typeface="Calibri"/>
            </a:endParaRPr>
          </a:p>
        </p:txBody>
      </p:sp>
      <p:sp>
        <p:nvSpPr>
          <p:cNvPr id="106" name="Google Shape;106;p4"/>
          <p:cNvSpPr txBox="1"/>
          <p:nvPr/>
        </p:nvSpPr>
        <p:spPr>
          <a:xfrm>
            <a:off x="8001000" y="2362200"/>
            <a:ext cx="3657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Calibri"/>
              <a:buNone/>
            </a:pPr>
            <a:r>
              <a:rPr b="0" i="0" lang="en-US" sz="1200" u="none" cap="none" strike="noStrike">
                <a:solidFill>
                  <a:schemeClr val="accent4"/>
                </a:solidFill>
                <a:latin typeface="Calibri"/>
                <a:ea typeface="Calibri"/>
                <a:cs typeface="Calibri"/>
                <a:sym typeface="Calibri"/>
              </a:rPr>
              <a:t>Tổng nỗ lực của 8 nhóm, 144 gói công việc</a:t>
            </a:r>
            <a:endParaRPr b="0" i="0" sz="1200" u="none" cap="none" strike="noStrike">
              <a:solidFill>
                <a:schemeClr val="dk1"/>
              </a:solidFill>
              <a:latin typeface="Calibri"/>
              <a:ea typeface="Calibri"/>
              <a:cs typeface="Calibri"/>
              <a:sym typeface="Calibri"/>
            </a:endParaRPr>
          </a:p>
        </p:txBody>
      </p:sp>
      <p:sp>
        <p:nvSpPr>
          <p:cNvPr id="107" name="Google Shape;107;p4"/>
          <p:cNvSpPr txBox="1"/>
          <p:nvPr/>
        </p:nvSpPr>
        <p:spPr>
          <a:xfrm>
            <a:off x="8001000" y="2788920"/>
            <a:ext cx="1737360" cy="426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800"/>
              <a:buFont typeface="Cambria"/>
              <a:buNone/>
            </a:pPr>
            <a:r>
              <a:rPr b="1" i="0" lang="en-US" sz="2800" u="none" cap="none" strike="noStrike">
                <a:solidFill>
                  <a:schemeClr val="accent1"/>
                </a:solidFill>
                <a:latin typeface="Cambria"/>
                <a:ea typeface="Cambria"/>
                <a:cs typeface="Cambria"/>
                <a:sym typeface="Cambria"/>
              </a:rPr>
              <a:t>408</a:t>
            </a:r>
            <a:endParaRPr b="0" i="0" sz="2800" u="none" cap="none" strike="noStrike">
              <a:solidFill>
                <a:schemeClr val="dk1"/>
              </a:solidFill>
              <a:latin typeface="Calibri"/>
              <a:ea typeface="Calibri"/>
              <a:cs typeface="Calibri"/>
              <a:sym typeface="Calibri"/>
            </a:endParaRPr>
          </a:p>
        </p:txBody>
      </p:sp>
      <p:sp>
        <p:nvSpPr>
          <p:cNvPr id="108" name="Google Shape;108;p4"/>
          <p:cNvSpPr txBox="1"/>
          <p:nvPr/>
        </p:nvSpPr>
        <p:spPr>
          <a:xfrm>
            <a:off x="8001000" y="3261360"/>
            <a:ext cx="173736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Calibri"/>
              <a:buNone/>
            </a:pPr>
            <a:r>
              <a:rPr b="0" i="0" lang="en-US" sz="1200" u="none" cap="none" strike="noStrike">
                <a:solidFill>
                  <a:schemeClr val="accent4"/>
                </a:solidFill>
                <a:latin typeface="Calibri"/>
                <a:ea typeface="Calibri"/>
                <a:cs typeface="Calibri"/>
                <a:sym typeface="Calibri"/>
              </a:rPr>
              <a:t>MD tìm kiếm, thành viên, đặt hàng, tích hợp</a:t>
            </a:r>
            <a:endParaRPr b="0" i="0" sz="1200" u="none" cap="none" strike="noStrike">
              <a:solidFill>
                <a:schemeClr val="dk1"/>
              </a:solidFill>
              <a:latin typeface="Calibri"/>
              <a:ea typeface="Calibri"/>
              <a:cs typeface="Calibri"/>
              <a:sym typeface="Calibri"/>
            </a:endParaRPr>
          </a:p>
        </p:txBody>
      </p:sp>
      <p:sp>
        <p:nvSpPr>
          <p:cNvPr id="109" name="Google Shape;109;p4"/>
          <p:cNvSpPr txBox="1"/>
          <p:nvPr/>
        </p:nvSpPr>
        <p:spPr>
          <a:xfrm>
            <a:off x="9875520" y="2788920"/>
            <a:ext cx="1737360" cy="426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800"/>
              <a:buFont typeface="Cambria"/>
              <a:buNone/>
            </a:pPr>
            <a:r>
              <a:rPr b="1" i="0" lang="en-US" sz="2800" u="none" cap="none" strike="noStrike">
                <a:solidFill>
                  <a:schemeClr val="accent4"/>
                </a:solidFill>
                <a:latin typeface="Cambria"/>
                <a:ea typeface="Cambria"/>
                <a:cs typeface="Cambria"/>
                <a:sym typeface="Cambria"/>
              </a:rPr>
              <a:t>249</a:t>
            </a:r>
            <a:endParaRPr b="0" i="0" sz="2800" u="none" cap="none" strike="noStrike">
              <a:solidFill>
                <a:schemeClr val="dk1"/>
              </a:solidFill>
              <a:latin typeface="Calibri"/>
              <a:ea typeface="Calibri"/>
              <a:cs typeface="Calibri"/>
              <a:sym typeface="Calibri"/>
            </a:endParaRPr>
          </a:p>
        </p:txBody>
      </p:sp>
      <p:sp>
        <p:nvSpPr>
          <p:cNvPr id="110" name="Google Shape;110;p4"/>
          <p:cNvSpPr txBox="1"/>
          <p:nvPr/>
        </p:nvSpPr>
        <p:spPr>
          <a:xfrm>
            <a:off x="9875520" y="3261360"/>
            <a:ext cx="173736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Calibri"/>
              <a:buNone/>
            </a:pPr>
            <a:r>
              <a:rPr b="0" i="0" lang="en-US" sz="1200" u="none" cap="none" strike="noStrike">
                <a:solidFill>
                  <a:schemeClr val="accent4"/>
                </a:solidFill>
                <a:latin typeface="Calibri"/>
                <a:ea typeface="Calibri"/>
                <a:cs typeface="Calibri"/>
                <a:sym typeface="Calibri"/>
              </a:rPr>
              <a:t>MD quản lý, thiết kế chung, kiểm thử, chuyển giao</a:t>
            </a:r>
            <a:endParaRPr b="0" i="0" sz="1200" u="none" cap="none" strike="noStrike">
              <a:solidFill>
                <a:schemeClr val="dk1"/>
              </a:solidFill>
              <a:latin typeface="Calibri"/>
              <a:ea typeface="Calibri"/>
              <a:cs typeface="Calibri"/>
              <a:sym typeface="Calibri"/>
            </a:endParaRPr>
          </a:p>
        </p:txBody>
      </p:sp>
      <p:sp>
        <p:nvSpPr>
          <p:cNvPr id="111" name="Google Shape;111;p4"/>
          <p:cNvSpPr txBox="1"/>
          <p:nvPr/>
        </p:nvSpPr>
        <p:spPr>
          <a:xfrm>
            <a:off x="8001000" y="3931920"/>
            <a:ext cx="3657600" cy="192024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Mỗi gói có mã WBS, MD, loại công việc và sản phẩm đầu ra.</a:t>
            </a:r>
            <a:endParaRPr b="0" i="0" sz="1300" u="none" cap="none" strike="noStrike">
              <a:solidFill>
                <a:schemeClr val="dk1"/>
              </a:solidFill>
              <a:latin typeface="Arial"/>
              <a:ea typeface="Arial"/>
              <a:cs typeface="Arial"/>
              <a:sym typeface="Arial"/>
            </a:endParaRPr>
          </a:p>
          <a:p>
            <a:pPr indent="-177800" lvl="0" marL="177800" marR="0" rtl="0" algn="l">
              <a:lnSpc>
                <a:spcPct val="100000"/>
              </a:lnSpc>
              <a:spcBef>
                <a:spcPts val="60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Tổng các gói con khớp với nhóm cha theo quy tắc 100%.</a:t>
            </a:r>
            <a:endParaRPr b="0" i="0" sz="1300" u="none" cap="none" strike="noStrike">
              <a:solidFill>
                <a:schemeClr val="dk1"/>
              </a:solidFill>
              <a:latin typeface="Arial"/>
              <a:ea typeface="Arial"/>
              <a:cs typeface="Arial"/>
              <a:sym typeface="Arial"/>
            </a:endParaRPr>
          </a:p>
          <a:p>
            <a:pPr indent="-177800" lvl="0" marL="177800" marR="0" rtl="0" algn="l">
              <a:lnSpc>
                <a:spcPct val="100000"/>
              </a:lnSpc>
              <a:spcBef>
                <a:spcPts val="60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Tổng từng nhóm khớp ước lượng theo danh mục chức năng, lệch tối đa 2 MD.</a:t>
            </a:r>
            <a:endParaRPr b="0" i="0" sz="1300" u="none" cap="none" strike="noStrike">
              <a:solidFill>
                <a:schemeClr val="dk1"/>
              </a:solidFill>
              <a:latin typeface="Arial"/>
              <a:ea typeface="Arial"/>
              <a:cs typeface="Arial"/>
              <a:sym typeface="Arial"/>
            </a:endParaRPr>
          </a:p>
        </p:txBody>
      </p:sp>
      <p:sp>
        <p:nvSpPr>
          <p:cNvPr id="112" name="Google Shape;112;p4"/>
          <p:cNvSpPr txBox="1"/>
          <p:nvPr/>
        </p:nvSpPr>
        <p:spPr>
          <a:xfrm>
            <a:off x="8001000" y="5943600"/>
            <a:ext cx="3657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100"/>
              <a:buFont typeface="Calibri"/>
              <a:buNone/>
            </a:pPr>
            <a:r>
              <a:rPr b="0" i="1" lang="en-US" sz="1100" u="none" cap="none" strike="noStrike">
                <a:solidFill>
                  <a:schemeClr val="accent4"/>
                </a:solidFill>
                <a:latin typeface="Calibri"/>
                <a:ea typeface="Calibri"/>
                <a:cs typeface="Calibri"/>
                <a:sym typeface="Calibri"/>
              </a:rPr>
              <a:t>1 MD (người-ngày) bằng 8 giờ làm việc.</a:t>
            </a:r>
            <a:endParaRPr b="0" i="0" sz="1100" u="none" cap="none" strike="noStrike">
              <a:solidFill>
                <a:schemeClr val="dk1"/>
              </a:solidFill>
              <a:latin typeface="Calibri"/>
              <a:ea typeface="Calibri"/>
              <a:cs typeface="Calibri"/>
              <a:sym typeface="Calibri"/>
            </a:endParaRPr>
          </a:p>
        </p:txBody>
      </p:sp>
      <p:sp>
        <p:nvSpPr>
          <p:cNvPr id="113" name="Google Shape;113;p4"/>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6F8189"/>
                </a:solidFill>
                <a:latin typeface="Calibri"/>
                <a:ea typeface="Calibri"/>
                <a:cs typeface="Calibri"/>
                <a:sym typeface="Calibri"/>
              </a:rPr>
              <a:t>‹#›</a:t>
            </a:fld>
            <a:endParaRPr b="0" i="0" sz="1000" u="none" cap="none" strike="noStrike">
              <a:solidFill>
                <a:srgbClr val="6F8189"/>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5"/>
          <p:cNvSpPr/>
          <p:nvPr/>
        </p:nvSpPr>
        <p:spPr>
          <a:xfrm>
            <a:off x="548640" y="329184"/>
            <a:ext cx="961949"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1. WBS</a:t>
            </a:r>
            <a:endParaRPr b="0" i="0" sz="1100" u="none" cap="none" strike="noStrike">
              <a:solidFill>
                <a:schemeClr val="dk1"/>
              </a:solidFill>
              <a:latin typeface="Arial"/>
              <a:ea typeface="Arial"/>
              <a:cs typeface="Arial"/>
              <a:sym typeface="Arial"/>
            </a:endParaRPr>
          </a:p>
        </p:txBody>
      </p:sp>
      <p:sp>
        <p:nvSpPr>
          <p:cNvPr id="120" name="Google Shape;120;p5"/>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lang="en-US" sz="2800">
                <a:solidFill>
                  <a:schemeClr val="dk2"/>
                </a:solidFill>
                <a:latin typeface="Arial"/>
                <a:ea typeface="Arial"/>
                <a:cs typeface="Arial"/>
                <a:sym typeface="Arial"/>
              </a:rPr>
              <a:t>Phân hệ tìm kiếm và hiển thị sản phẩm</a:t>
            </a:r>
            <a:endParaRPr sz="2800">
              <a:latin typeface="Arial"/>
              <a:ea typeface="Arial"/>
              <a:cs typeface="Arial"/>
              <a:sym typeface="Arial"/>
            </a:endParaRPr>
          </a:p>
        </p:txBody>
      </p:sp>
      <p:graphicFrame>
        <p:nvGraphicFramePr>
          <p:cNvPr id="121" name="Google Shape;121;p5"/>
          <p:cNvGraphicFramePr/>
          <p:nvPr/>
        </p:nvGraphicFramePr>
        <p:xfrm>
          <a:off x="548640" y="1645920"/>
          <a:ext cx="3000000" cy="3000000"/>
        </p:xfrm>
        <a:graphic>
          <a:graphicData uri="http://schemas.openxmlformats.org/drawingml/2006/table">
            <a:tbl>
              <a:tblPr>
                <a:noFill/>
                <a:tableStyleId>{333A356F-784D-4884-A680-775E4A61AB1C}</a:tableStyleId>
              </a:tblPr>
              <a:tblGrid>
                <a:gridCol w="822950"/>
                <a:gridCol w="5394950"/>
                <a:gridCol w="822950"/>
              </a:tblGrid>
              <a:tr h="301750">
                <a:tc>
                  <a:txBody>
                    <a:bodyPr/>
                    <a:lstStyle/>
                    <a:p>
                      <a:pPr indent="0" lvl="0" marL="0" marR="0" rtl="0" algn="l">
                        <a:lnSpc>
                          <a:spcPct val="100000"/>
                        </a:lnSpc>
                        <a:spcBef>
                          <a:spcPts val="0"/>
                        </a:spcBef>
                        <a:spcAft>
                          <a:spcPts val="0"/>
                        </a:spcAft>
                        <a:buClr>
                          <a:schemeClr val="lt1"/>
                        </a:buClr>
                        <a:buSzPts val="1200"/>
                        <a:buFont typeface="Calibri"/>
                        <a:buNone/>
                      </a:pPr>
                      <a:r>
                        <a:rPr b="1" lang="en-US" sz="1200" u="none" cap="none" strike="noStrike">
                          <a:solidFill>
                            <a:schemeClr val="lt1"/>
                          </a:solidFill>
                        </a:rPr>
                        <a:t>Mã</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200"/>
                        <a:buFont typeface="Calibri"/>
                        <a:buNone/>
                      </a:pPr>
                      <a:r>
                        <a:rPr b="1" lang="en-US" sz="1200" u="none" cap="none" strike="noStrike">
                          <a:solidFill>
                            <a:schemeClr val="lt1"/>
                          </a:solidFill>
                        </a:rPr>
                        <a:t>Tên công việc</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200"/>
                        <a:buFont typeface="Calibri"/>
                        <a:buNone/>
                      </a:pPr>
                      <a:r>
                        <a:rPr b="1" lang="en-US" sz="1200" u="none" cap="none" strike="noStrike">
                          <a:solidFill>
                            <a:schemeClr val="lt1"/>
                          </a:solidFill>
                        </a:rPr>
                        <a:t>MD</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3.3.1</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Dịch vụ chỉ mục tìm kiếm và cập nhật chỉ mục từ Selling DB</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3.3.2</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Dịch vụ tìm kiếm theo từ khóa và gợi ý tìm kiếm</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3.3.3</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Dịch vụ lọc và sắp xếp kết quả tìm kiếm</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3.3.4</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Dịch vụ danh mục, chi tiết sản phẩm, biến thể, tồn kho và giá khuyến mại hiển thị</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6</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3.3.5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Giao diện trang chủ và điều hướng danh mục theo Menu Layer</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4</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3.3.6</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Giao diện tìm kiếm, kết quả và bộ lọc</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3.3.7</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Giao diện chi tiết sản phẩm</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3.3.8</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Bộ nhớ đệm và tối ưu thời gian phản hồi trang danh mục, chi tiết sản phẩm</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4</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1" lang="en-US" sz="1200" u="none" cap="none" strike="noStrike">
                          <a:solidFill>
                            <a:schemeClr val="dk1"/>
                          </a:solidFill>
                        </a:rPr>
                        <a:t>Tổng gói 3.3 - Lập trình và kiểm thử đơn vị</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b="1" lang="en-US" sz="1200" u="none" cap="none" strike="noStrike">
                          <a:solidFill>
                            <a:schemeClr val="dk1"/>
                          </a:solidFill>
                        </a:rPr>
                        <a:t>39</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r>
            </a:tbl>
          </a:graphicData>
        </a:graphic>
      </p:graphicFrame>
      <p:sp>
        <p:nvSpPr>
          <p:cNvPr id="122" name="Google Shape;122;p5"/>
          <p:cNvSpPr txBox="1"/>
          <p:nvPr/>
        </p:nvSpPr>
        <p:spPr>
          <a:xfrm>
            <a:off x="8001000" y="1645920"/>
            <a:ext cx="3657600" cy="670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4400"/>
              <a:buFont typeface="Cambria"/>
              <a:buNone/>
            </a:pPr>
            <a:r>
              <a:rPr b="1" i="0" lang="en-US" sz="4400" u="none" cap="none" strike="noStrike">
                <a:solidFill>
                  <a:schemeClr val="accent1"/>
                </a:solidFill>
                <a:latin typeface="Arial"/>
                <a:ea typeface="Arial"/>
                <a:cs typeface="Arial"/>
                <a:sym typeface="Arial"/>
              </a:rPr>
              <a:t>95 MD</a:t>
            </a:r>
            <a:endParaRPr b="0" i="0" sz="4400" u="none" cap="none" strike="noStrike">
              <a:solidFill>
                <a:schemeClr val="dk1"/>
              </a:solidFill>
              <a:latin typeface="Arial"/>
              <a:ea typeface="Arial"/>
              <a:cs typeface="Arial"/>
              <a:sym typeface="Arial"/>
            </a:endParaRPr>
          </a:p>
        </p:txBody>
      </p:sp>
      <p:sp>
        <p:nvSpPr>
          <p:cNvPr id="123" name="Google Shape;123;p5"/>
          <p:cNvSpPr txBox="1"/>
          <p:nvPr/>
        </p:nvSpPr>
        <p:spPr>
          <a:xfrm>
            <a:off x="8001000" y="2362200"/>
            <a:ext cx="3657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Calibri"/>
              <a:buNone/>
            </a:pPr>
            <a:r>
              <a:rPr b="0" i="0" lang="en-US" sz="1200" u="none" cap="none" strike="noStrike">
                <a:solidFill>
                  <a:schemeClr val="accent4"/>
                </a:solidFill>
                <a:latin typeface="Arial"/>
                <a:ea typeface="Arial"/>
                <a:cs typeface="Arial"/>
                <a:sym typeface="Arial"/>
              </a:rPr>
              <a:t>Tổng WBS 3 - Tìm kiếm và hiển thị sản phẩm</a:t>
            </a:r>
            <a:endParaRPr b="0" i="0" sz="1200" u="none" cap="none" strike="noStrike">
              <a:solidFill>
                <a:schemeClr val="dk1"/>
              </a:solidFill>
              <a:latin typeface="Arial"/>
              <a:ea typeface="Arial"/>
              <a:cs typeface="Arial"/>
              <a:sym typeface="Arial"/>
            </a:endParaRPr>
          </a:p>
        </p:txBody>
      </p:sp>
      <p:sp>
        <p:nvSpPr>
          <p:cNvPr id="124" name="Google Shape;124;p5"/>
          <p:cNvSpPr/>
          <p:nvPr/>
        </p:nvSpPr>
        <p:spPr>
          <a:xfrm>
            <a:off x="8001000" y="2788920"/>
            <a:ext cx="308008" cy="384048"/>
          </a:xfrm>
          <a:prstGeom prst="rect">
            <a:avLst/>
          </a:prstGeom>
          <a:solidFill>
            <a:schemeClr val="accent4"/>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8</a:t>
            </a:r>
            <a:endParaRPr b="0" i="0" sz="1100" u="none" cap="none" strike="noStrike">
              <a:solidFill>
                <a:schemeClr val="dk1"/>
              </a:solidFill>
              <a:latin typeface="Arial"/>
              <a:ea typeface="Arial"/>
              <a:cs typeface="Arial"/>
              <a:sym typeface="Arial"/>
            </a:endParaRPr>
          </a:p>
        </p:txBody>
      </p:sp>
      <p:sp>
        <p:nvSpPr>
          <p:cNvPr id="125" name="Google Shape;125;p5"/>
          <p:cNvSpPr/>
          <p:nvPr/>
        </p:nvSpPr>
        <p:spPr>
          <a:xfrm>
            <a:off x="8309008" y="2788920"/>
            <a:ext cx="346509" cy="384048"/>
          </a:xfrm>
          <a:prstGeom prst="rect">
            <a:avLst/>
          </a:prstGeom>
          <a:solidFill>
            <a:schemeClr val="accent2"/>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9</a:t>
            </a:r>
            <a:endParaRPr b="0" i="0" sz="1100" u="none" cap="none" strike="noStrike">
              <a:solidFill>
                <a:schemeClr val="dk1"/>
              </a:solidFill>
              <a:latin typeface="Arial"/>
              <a:ea typeface="Arial"/>
              <a:cs typeface="Arial"/>
              <a:sym typeface="Arial"/>
            </a:endParaRPr>
          </a:p>
        </p:txBody>
      </p:sp>
      <p:sp>
        <p:nvSpPr>
          <p:cNvPr id="126" name="Google Shape;126;p5"/>
          <p:cNvSpPr/>
          <p:nvPr/>
        </p:nvSpPr>
        <p:spPr>
          <a:xfrm>
            <a:off x="8655517" y="2788920"/>
            <a:ext cx="1501541" cy="384048"/>
          </a:xfrm>
          <a:prstGeom prst="rect">
            <a:avLst/>
          </a:prstGeom>
          <a:solidFill>
            <a:schemeClr val="accent1"/>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39</a:t>
            </a:r>
            <a:endParaRPr b="0" i="0" sz="1100" u="none" cap="none" strike="noStrike">
              <a:solidFill>
                <a:schemeClr val="dk1"/>
              </a:solidFill>
              <a:latin typeface="Arial"/>
              <a:ea typeface="Arial"/>
              <a:cs typeface="Arial"/>
              <a:sym typeface="Arial"/>
            </a:endParaRPr>
          </a:p>
        </p:txBody>
      </p:sp>
      <p:sp>
        <p:nvSpPr>
          <p:cNvPr id="127" name="Google Shape;127;p5"/>
          <p:cNvSpPr/>
          <p:nvPr/>
        </p:nvSpPr>
        <p:spPr>
          <a:xfrm>
            <a:off x="10157058" y="2788920"/>
            <a:ext cx="1155032" cy="384048"/>
          </a:xfrm>
          <a:prstGeom prst="rect">
            <a:avLst/>
          </a:prstGeom>
          <a:solidFill>
            <a:schemeClr val="accent3"/>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rPr b="1" i="0" lang="en-US" sz="1100" u="none" cap="none" strike="noStrike">
                <a:solidFill>
                  <a:schemeClr val="dk1"/>
                </a:solidFill>
                <a:latin typeface="Arial"/>
                <a:ea typeface="Arial"/>
                <a:cs typeface="Arial"/>
                <a:sym typeface="Arial"/>
              </a:rPr>
              <a:t>30</a:t>
            </a:r>
            <a:endParaRPr b="0" i="0" sz="1100" u="none" cap="none" strike="noStrike">
              <a:solidFill>
                <a:schemeClr val="dk1"/>
              </a:solidFill>
              <a:latin typeface="Arial"/>
              <a:ea typeface="Arial"/>
              <a:cs typeface="Arial"/>
              <a:sym typeface="Arial"/>
            </a:endParaRPr>
          </a:p>
        </p:txBody>
      </p:sp>
      <p:sp>
        <p:nvSpPr>
          <p:cNvPr id="128" name="Google Shape;128;p5"/>
          <p:cNvSpPr/>
          <p:nvPr/>
        </p:nvSpPr>
        <p:spPr>
          <a:xfrm>
            <a:off x="11312090" y="2788920"/>
            <a:ext cx="346510" cy="384048"/>
          </a:xfrm>
          <a:prstGeom prst="rect">
            <a:avLst/>
          </a:prstGeom>
          <a:solidFill>
            <a:schemeClr val="accent6"/>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rPr b="1" i="0" lang="en-US" sz="1100" u="none" cap="none" strike="noStrike">
                <a:solidFill>
                  <a:schemeClr val="dk1"/>
                </a:solidFill>
                <a:latin typeface="Arial"/>
                <a:ea typeface="Arial"/>
                <a:cs typeface="Arial"/>
                <a:sym typeface="Arial"/>
              </a:rPr>
              <a:t>9</a:t>
            </a:r>
            <a:endParaRPr b="0" i="0" sz="1100" u="none" cap="none" strike="noStrike">
              <a:solidFill>
                <a:schemeClr val="dk1"/>
              </a:solidFill>
              <a:latin typeface="Arial"/>
              <a:ea typeface="Arial"/>
              <a:cs typeface="Arial"/>
              <a:sym typeface="Arial"/>
            </a:endParaRPr>
          </a:p>
        </p:txBody>
      </p:sp>
      <p:sp>
        <p:nvSpPr>
          <p:cNvPr id="129" name="Google Shape;129;p5"/>
          <p:cNvSpPr/>
          <p:nvPr/>
        </p:nvSpPr>
        <p:spPr>
          <a:xfrm>
            <a:off x="8001000" y="3392424"/>
            <a:ext cx="146304" cy="146304"/>
          </a:xfrm>
          <a:prstGeom prst="rect">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5"/>
          <p:cNvSpPr txBox="1"/>
          <p:nvPr/>
        </p:nvSpPr>
        <p:spPr>
          <a:xfrm>
            <a:off x="8257032" y="333756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Phân tích yêu cầu: 8 MD</a:t>
            </a:r>
            <a:endParaRPr b="0" i="0" sz="1200" u="none" cap="none" strike="noStrike">
              <a:solidFill>
                <a:schemeClr val="dk1"/>
              </a:solidFill>
              <a:latin typeface="Arial"/>
              <a:ea typeface="Arial"/>
              <a:cs typeface="Arial"/>
              <a:sym typeface="Arial"/>
            </a:endParaRPr>
          </a:p>
        </p:txBody>
      </p:sp>
      <p:sp>
        <p:nvSpPr>
          <p:cNvPr id="131" name="Google Shape;131;p5"/>
          <p:cNvSpPr/>
          <p:nvPr/>
        </p:nvSpPr>
        <p:spPr>
          <a:xfrm>
            <a:off x="8001000" y="3666744"/>
            <a:ext cx="146304" cy="146304"/>
          </a:xfrm>
          <a:prstGeom prst="rect">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5"/>
          <p:cNvSpPr txBox="1"/>
          <p:nvPr/>
        </p:nvSpPr>
        <p:spPr>
          <a:xfrm>
            <a:off x="8257032" y="361188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Thiết kế: 9 MD</a:t>
            </a:r>
            <a:endParaRPr b="0" i="0" sz="1200" u="none" cap="none" strike="noStrike">
              <a:solidFill>
                <a:schemeClr val="dk1"/>
              </a:solidFill>
              <a:latin typeface="Arial"/>
              <a:ea typeface="Arial"/>
              <a:cs typeface="Arial"/>
              <a:sym typeface="Arial"/>
            </a:endParaRPr>
          </a:p>
        </p:txBody>
      </p:sp>
      <p:sp>
        <p:nvSpPr>
          <p:cNvPr id="133" name="Google Shape;133;p5"/>
          <p:cNvSpPr/>
          <p:nvPr/>
        </p:nvSpPr>
        <p:spPr>
          <a:xfrm>
            <a:off x="8001000" y="3941064"/>
            <a:ext cx="146304" cy="146304"/>
          </a:xfrm>
          <a:prstGeom prst="rect">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5"/>
          <p:cNvSpPr txBox="1"/>
          <p:nvPr/>
        </p:nvSpPr>
        <p:spPr>
          <a:xfrm>
            <a:off x="8257032" y="388620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Lập trình và kiểm thử đơn vị: 39 MD</a:t>
            </a:r>
            <a:endParaRPr b="0" i="0" sz="1200" u="none" cap="none" strike="noStrike">
              <a:solidFill>
                <a:schemeClr val="dk1"/>
              </a:solidFill>
              <a:latin typeface="Arial"/>
              <a:ea typeface="Arial"/>
              <a:cs typeface="Arial"/>
              <a:sym typeface="Arial"/>
            </a:endParaRPr>
          </a:p>
        </p:txBody>
      </p:sp>
      <p:sp>
        <p:nvSpPr>
          <p:cNvPr id="135" name="Google Shape;135;p5"/>
          <p:cNvSpPr/>
          <p:nvPr/>
        </p:nvSpPr>
        <p:spPr>
          <a:xfrm>
            <a:off x="8001000" y="4215384"/>
            <a:ext cx="146304" cy="146304"/>
          </a:xfrm>
          <a:prstGeom prst="rect">
            <a:avLst/>
          </a:prstGeom>
          <a:solidFill>
            <a:schemeClr val="accent3"/>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5"/>
          <p:cNvSpPr txBox="1"/>
          <p:nvPr/>
        </p:nvSpPr>
        <p:spPr>
          <a:xfrm>
            <a:off x="8257032" y="416052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Kiểm thử phân hệ: 30 MD</a:t>
            </a:r>
            <a:endParaRPr b="0" i="0" sz="1200" u="none" cap="none" strike="noStrike">
              <a:solidFill>
                <a:schemeClr val="dk1"/>
              </a:solidFill>
              <a:latin typeface="Arial"/>
              <a:ea typeface="Arial"/>
              <a:cs typeface="Arial"/>
              <a:sym typeface="Arial"/>
            </a:endParaRPr>
          </a:p>
        </p:txBody>
      </p:sp>
      <p:sp>
        <p:nvSpPr>
          <p:cNvPr id="137" name="Google Shape;137;p5"/>
          <p:cNvSpPr/>
          <p:nvPr/>
        </p:nvSpPr>
        <p:spPr>
          <a:xfrm>
            <a:off x="8001000" y="4489704"/>
            <a:ext cx="146304" cy="146304"/>
          </a:xfrm>
          <a:prstGeom prst="rect">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5"/>
          <p:cNvSpPr txBox="1"/>
          <p:nvPr/>
        </p:nvSpPr>
        <p:spPr>
          <a:xfrm>
            <a:off x="8257032" y="443484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Nghiệm thu nội bộ, hỗ trợ UAT: 9 MD</a:t>
            </a:r>
            <a:endParaRPr b="0" i="0" sz="1200" u="none" cap="none" strike="noStrike">
              <a:solidFill>
                <a:schemeClr val="dk1"/>
              </a:solidFill>
              <a:latin typeface="Arial"/>
              <a:ea typeface="Arial"/>
              <a:cs typeface="Arial"/>
              <a:sym typeface="Arial"/>
            </a:endParaRPr>
          </a:p>
        </p:txBody>
      </p:sp>
      <p:sp>
        <p:nvSpPr>
          <p:cNvPr id="139" name="Google Shape;139;p5"/>
          <p:cNvSpPr txBox="1"/>
          <p:nvPr/>
        </p:nvSpPr>
        <p:spPr>
          <a:xfrm>
            <a:off x="8001000" y="4937760"/>
            <a:ext cx="365760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300"/>
              <a:buFont typeface="Calibri"/>
              <a:buNone/>
            </a:pPr>
            <a:r>
              <a:rPr b="0" i="1" lang="en-US" sz="1300" u="none" cap="none" strike="noStrike">
                <a:solidFill>
                  <a:schemeClr val="accent4"/>
                </a:solidFill>
                <a:latin typeface="Arial"/>
                <a:ea typeface="Arial"/>
                <a:cs typeface="Arial"/>
                <a:sym typeface="Arial"/>
              </a:rPr>
              <a:t>Chỉ mục tìm kiếm và bộ nhớ đệm phục vụ chỉ tiêu phản hồi không quá 2 giây (KT02).</a:t>
            </a:r>
            <a:endParaRPr b="0" i="0" sz="1300" u="none" cap="none" strike="noStrike">
              <a:solidFill>
                <a:schemeClr val="dk1"/>
              </a:solidFill>
              <a:latin typeface="Arial"/>
              <a:ea typeface="Arial"/>
              <a:cs typeface="Arial"/>
              <a:sym typeface="Arial"/>
            </a:endParaRPr>
          </a:p>
        </p:txBody>
      </p:sp>
      <p:sp>
        <p:nvSpPr>
          <p:cNvPr id="140" name="Google Shape;140;p5"/>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i="0" lang="en-US" sz="1000" u="none" cap="none" strike="noStrike">
                <a:solidFill>
                  <a:srgbClr val="6F8189"/>
                </a:solidFill>
                <a:latin typeface="Arial"/>
                <a:ea typeface="Arial"/>
                <a:cs typeface="Arial"/>
                <a:sym typeface="Arial"/>
              </a:rPr>
              <a:t>‹#›</a:t>
            </a:fld>
            <a:endParaRPr i="0" sz="1000" u="none" cap="none" strike="noStrike">
              <a:solidFill>
                <a:srgbClr val="6F8189"/>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6"/>
          <p:cNvSpPr/>
          <p:nvPr/>
        </p:nvSpPr>
        <p:spPr>
          <a:xfrm>
            <a:off x="548640" y="329184"/>
            <a:ext cx="961949"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1. WBS</a:t>
            </a:r>
            <a:endParaRPr b="0" i="0" sz="1100" u="none" cap="none" strike="noStrike">
              <a:solidFill>
                <a:schemeClr val="dk1"/>
              </a:solidFill>
              <a:latin typeface="Arial"/>
              <a:ea typeface="Arial"/>
              <a:cs typeface="Arial"/>
              <a:sym typeface="Arial"/>
            </a:endParaRPr>
          </a:p>
        </p:txBody>
      </p:sp>
      <p:sp>
        <p:nvSpPr>
          <p:cNvPr id="147" name="Google Shape;147;p6"/>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lang="en-US" sz="2800">
                <a:solidFill>
                  <a:schemeClr val="dk2"/>
                </a:solidFill>
                <a:latin typeface="Arial"/>
                <a:ea typeface="Arial"/>
                <a:cs typeface="Arial"/>
                <a:sym typeface="Arial"/>
              </a:rPr>
              <a:t>Phân hệ thành viên</a:t>
            </a:r>
            <a:endParaRPr sz="2800">
              <a:latin typeface="Arial"/>
              <a:ea typeface="Arial"/>
              <a:cs typeface="Arial"/>
              <a:sym typeface="Arial"/>
            </a:endParaRPr>
          </a:p>
        </p:txBody>
      </p:sp>
      <p:graphicFrame>
        <p:nvGraphicFramePr>
          <p:cNvPr id="148" name="Google Shape;148;p6"/>
          <p:cNvGraphicFramePr/>
          <p:nvPr/>
        </p:nvGraphicFramePr>
        <p:xfrm>
          <a:off x="548640" y="1645920"/>
          <a:ext cx="3000000" cy="3000000"/>
        </p:xfrm>
        <a:graphic>
          <a:graphicData uri="http://schemas.openxmlformats.org/drawingml/2006/table">
            <a:tbl>
              <a:tblPr>
                <a:noFill/>
                <a:tableStyleId>{333A356F-784D-4884-A680-775E4A61AB1C}</a:tableStyleId>
              </a:tblPr>
              <a:tblGrid>
                <a:gridCol w="822950"/>
                <a:gridCol w="5394950"/>
                <a:gridCol w="822950"/>
              </a:tblGrid>
              <a:tr h="301750">
                <a:tc>
                  <a:txBody>
                    <a:bodyPr/>
                    <a:lstStyle/>
                    <a:p>
                      <a:pPr indent="0" lvl="0" marL="0" marR="0" rtl="0" algn="l">
                        <a:lnSpc>
                          <a:spcPct val="100000"/>
                        </a:lnSpc>
                        <a:spcBef>
                          <a:spcPts val="0"/>
                        </a:spcBef>
                        <a:spcAft>
                          <a:spcPts val="0"/>
                        </a:spcAft>
                        <a:buClr>
                          <a:schemeClr val="lt1"/>
                        </a:buClr>
                        <a:buSzPts val="1200"/>
                        <a:buFont typeface="Calibri"/>
                        <a:buNone/>
                      </a:pPr>
                      <a:r>
                        <a:rPr b="1" lang="en-US" sz="1200" u="none" cap="none" strike="noStrike">
                          <a:solidFill>
                            <a:schemeClr val="lt1"/>
                          </a:solidFill>
                        </a:rPr>
                        <a:t>Mã</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200"/>
                        <a:buFont typeface="Calibri"/>
                        <a:buNone/>
                      </a:pPr>
                      <a:r>
                        <a:rPr b="1" lang="en-US" sz="1200" u="none" cap="none" strike="noStrike">
                          <a:solidFill>
                            <a:schemeClr val="lt1"/>
                          </a:solidFill>
                        </a:rPr>
                        <a:t>Tên công việc</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200"/>
                        <a:buFont typeface="Calibri"/>
                        <a:buNone/>
                      </a:pPr>
                      <a:r>
                        <a:rPr b="1" lang="en-US" sz="1200" u="none" cap="none" strike="noStrike">
                          <a:solidFill>
                            <a:schemeClr val="lt1"/>
                          </a:solidFill>
                        </a:rPr>
                        <a:t>MD</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4.3.1</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Dịch vụ đăng ký thành viên và xác thực địa chỉ thư điện tử</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4.3.2</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Dịch vụ đăng nhập, phiên làm việc và giới hạn đăng nhập sai</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6</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4.3.3</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Dịch vụ khôi phục và đổi mật khẩu</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4</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4.3.4</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Dịch vụ thông tin thành viên và sổ địa chỉ giao hàng</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4.3.5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Dịch vụ đồng ý điều khoản và bảo vệ dữ liệu cá nhân của thành viên</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4</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4.3.6</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Giao diện đăng ký, đăng nhập và khôi phục mật khẩu</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6</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4.3.7</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Giao diện trang thành viên và sổ địa chỉ</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1" lang="en-US" sz="1200" u="none" cap="none" strike="noStrike">
                          <a:solidFill>
                            <a:schemeClr val="dk1"/>
                          </a:solidFill>
                        </a:rPr>
                        <a:t>Tổng gói 4.3 - Lập trình và kiểm thử đơn vị</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b="1" lang="en-US" sz="1200" u="none" cap="none" strike="noStrike">
                          <a:solidFill>
                            <a:schemeClr val="dk1"/>
                          </a:solidFill>
                        </a:rPr>
                        <a:t>35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r>
            </a:tbl>
          </a:graphicData>
        </a:graphic>
      </p:graphicFrame>
      <p:sp>
        <p:nvSpPr>
          <p:cNvPr id="149" name="Google Shape;149;p6"/>
          <p:cNvSpPr txBox="1"/>
          <p:nvPr/>
        </p:nvSpPr>
        <p:spPr>
          <a:xfrm>
            <a:off x="8001000" y="1645920"/>
            <a:ext cx="3657600" cy="670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4400"/>
              <a:buFont typeface="Cambria"/>
              <a:buNone/>
            </a:pPr>
            <a:r>
              <a:rPr b="1" i="0" lang="en-US" sz="4400" u="none" cap="none" strike="noStrike">
                <a:solidFill>
                  <a:schemeClr val="accent1"/>
                </a:solidFill>
                <a:latin typeface="Arial"/>
                <a:ea typeface="Arial"/>
                <a:cs typeface="Arial"/>
                <a:sym typeface="Arial"/>
              </a:rPr>
              <a:t>91 MD</a:t>
            </a:r>
            <a:endParaRPr b="0" i="0" sz="4400" u="none" cap="none" strike="noStrike">
              <a:solidFill>
                <a:schemeClr val="dk1"/>
              </a:solidFill>
              <a:latin typeface="Arial"/>
              <a:ea typeface="Arial"/>
              <a:cs typeface="Arial"/>
              <a:sym typeface="Arial"/>
            </a:endParaRPr>
          </a:p>
        </p:txBody>
      </p:sp>
      <p:sp>
        <p:nvSpPr>
          <p:cNvPr id="150" name="Google Shape;150;p6"/>
          <p:cNvSpPr txBox="1"/>
          <p:nvPr/>
        </p:nvSpPr>
        <p:spPr>
          <a:xfrm>
            <a:off x="8001000" y="2362200"/>
            <a:ext cx="3657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Calibri"/>
              <a:buNone/>
            </a:pPr>
            <a:r>
              <a:rPr b="0" i="0" lang="en-US" sz="1200" u="none" cap="none" strike="noStrike">
                <a:solidFill>
                  <a:schemeClr val="accent4"/>
                </a:solidFill>
                <a:latin typeface="Arial"/>
                <a:ea typeface="Arial"/>
                <a:cs typeface="Arial"/>
                <a:sym typeface="Arial"/>
              </a:rPr>
              <a:t>Tổng WBS 4 - Phân hệ thành viên</a:t>
            </a:r>
            <a:endParaRPr b="0" i="0" sz="1200" u="none" cap="none" strike="noStrike">
              <a:solidFill>
                <a:schemeClr val="dk1"/>
              </a:solidFill>
              <a:latin typeface="Arial"/>
              <a:ea typeface="Arial"/>
              <a:cs typeface="Arial"/>
              <a:sym typeface="Arial"/>
            </a:endParaRPr>
          </a:p>
        </p:txBody>
      </p:sp>
      <p:sp>
        <p:nvSpPr>
          <p:cNvPr id="151" name="Google Shape;151;p6"/>
          <p:cNvSpPr/>
          <p:nvPr/>
        </p:nvSpPr>
        <p:spPr>
          <a:xfrm>
            <a:off x="8001000" y="2788920"/>
            <a:ext cx="321547" cy="384048"/>
          </a:xfrm>
          <a:prstGeom prst="rect">
            <a:avLst/>
          </a:prstGeom>
          <a:solidFill>
            <a:schemeClr val="accent4"/>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8</a:t>
            </a:r>
            <a:endParaRPr b="0" i="0" sz="1100" u="none" cap="none" strike="noStrike">
              <a:solidFill>
                <a:schemeClr val="dk1"/>
              </a:solidFill>
              <a:latin typeface="Arial"/>
              <a:ea typeface="Arial"/>
              <a:cs typeface="Arial"/>
              <a:sym typeface="Arial"/>
            </a:endParaRPr>
          </a:p>
        </p:txBody>
      </p:sp>
      <p:sp>
        <p:nvSpPr>
          <p:cNvPr id="152" name="Google Shape;152;p6"/>
          <p:cNvSpPr/>
          <p:nvPr/>
        </p:nvSpPr>
        <p:spPr>
          <a:xfrm>
            <a:off x="8322547" y="2788920"/>
            <a:ext cx="321547" cy="384048"/>
          </a:xfrm>
          <a:prstGeom prst="rect">
            <a:avLst/>
          </a:prstGeom>
          <a:solidFill>
            <a:schemeClr val="accent2"/>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8</a:t>
            </a:r>
            <a:endParaRPr b="0" i="0" sz="1100" u="none" cap="none" strike="noStrike">
              <a:solidFill>
                <a:schemeClr val="dk1"/>
              </a:solidFill>
              <a:latin typeface="Arial"/>
              <a:ea typeface="Arial"/>
              <a:cs typeface="Arial"/>
              <a:sym typeface="Arial"/>
            </a:endParaRPr>
          </a:p>
        </p:txBody>
      </p:sp>
      <p:sp>
        <p:nvSpPr>
          <p:cNvPr id="153" name="Google Shape;153;p6"/>
          <p:cNvSpPr/>
          <p:nvPr/>
        </p:nvSpPr>
        <p:spPr>
          <a:xfrm>
            <a:off x="8644094" y="2788920"/>
            <a:ext cx="1406769" cy="384048"/>
          </a:xfrm>
          <a:prstGeom prst="rect">
            <a:avLst/>
          </a:prstGeom>
          <a:solidFill>
            <a:schemeClr val="accent1"/>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35</a:t>
            </a:r>
            <a:endParaRPr b="0" i="0" sz="1100" u="none" cap="none" strike="noStrike">
              <a:solidFill>
                <a:schemeClr val="dk1"/>
              </a:solidFill>
              <a:latin typeface="Arial"/>
              <a:ea typeface="Arial"/>
              <a:cs typeface="Arial"/>
              <a:sym typeface="Arial"/>
            </a:endParaRPr>
          </a:p>
        </p:txBody>
      </p:sp>
      <p:sp>
        <p:nvSpPr>
          <p:cNvPr id="154" name="Google Shape;154;p6"/>
          <p:cNvSpPr/>
          <p:nvPr/>
        </p:nvSpPr>
        <p:spPr>
          <a:xfrm>
            <a:off x="10050863" y="2788920"/>
            <a:ext cx="1286189" cy="384048"/>
          </a:xfrm>
          <a:prstGeom prst="rect">
            <a:avLst/>
          </a:prstGeom>
          <a:solidFill>
            <a:schemeClr val="accent3"/>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rPr b="1" i="0" lang="en-US" sz="1100" u="none" cap="none" strike="noStrike">
                <a:solidFill>
                  <a:schemeClr val="dk1"/>
                </a:solidFill>
                <a:latin typeface="Arial"/>
                <a:ea typeface="Arial"/>
                <a:cs typeface="Arial"/>
                <a:sym typeface="Arial"/>
              </a:rPr>
              <a:t>32</a:t>
            </a:r>
            <a:endParaRPr b="0" i="0" sz="1100" u="none" cap="none" strike="noStrike">
              <a:solidFill>
                <a:schemeClr val="dk1"/>
              </a:solidFill>
              <a:latin typeface="Arial"/>
              <a:ea typeface="Arial"/>
              <a:cs typeface="Arial"/>
              <a:sym typeface="Arial"/>
            </a:endParaRPr>
          </a:p>
        </p:txBody>
      </p:sp>
      <p:sp>
        <p:nvSpPr>
          <p:cNvPr id="155" name="Google Shape;155;p6"/>
          <p:cNvSpPr/>
          <p:nvPr/>
        </p:nvSpPr>
        <p:spPr>
          <a:xfrm>
            <a:off x="11337052" y="2788920"/>
            <a:ext cx="321548" cy="384048"/>
          </a:xfrm>
          <a:prstGeom prst="rect">
            <a:avLst/>
          </a:prstGeom>
          <a:solidFill>
            <a:schemeClr val="accent6"/>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rPr b="1" i="0" lang="en-US" sz="1100" u="none" cap="none" strike="noStrike">
                <a:solidFill>
                  <a:schemeClr val="dk1"/>
                </a:solidFill>
                <a:latin typeface="Arial"/>
                <a:ea typeface="Arial"/>
                <a:cs typeface="Arial"/>
                <a:sym typeface="Arial"/>
              </a:rPr>
              <a:t>8</a:t>
            </a:r>
            <a:endParaRPr b="0" i="0" sz="1100" u="none" cap="none" strike="noStrike">
              <a:solidFill>
                <a:schemeClr val="dk1"/>
              </a:solidFill>
              <a:latin typeface="Arial"/>
              <a:ea typeface="Arial"/>
              <a:cs typeface="Arial"/>
              <a:sym typeface="Arial"/>
            </a:endParaRPr>
          </a:p>
        </p:txBody>
      </p:sp>
      <p:sp>
        <p:nvSpPr>
          <p:cNvPr id="156" name="Google Shape;156;p6"/>
          <p:cNvSpPr/>
          <p:nvPr/>
        </p:nvSpPr>
        <p:spPr>
          <a:xfrm>
            <a:off x="8001000" y="3392424"/>
            <a:ext cx="146304" cy="146304"/>
          </a:xfrm>
          <a:prstGeom prst="rect">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6"/>
          <p:cNvSpPr txBox="1"/>
          <p:nvPr/>
        </p:nvSpPr>
        <p:spPr>
          <a:xfrm>
            <a:off x="8257032" y="333756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Phân tích yêu cầu: 8 MD</a:t>
            </a:r>
            <a:endParaRPr b="0" i="0" sz="1200" u="none" cap="none" strike="noStrike">
              <a:solidFill>
                <a:schemeClr val="dk1"/>
              </a:solidFill>
              <a:latin typeface="Arial"/>
              <a:ea typeface="Arial"/>
              <a:cs typeface="Arial"/>
              <a:sym typeface="Arial"/>
            </a:endParaRPr>
          </a:p>
        </p:txBody>
      </p:sp>
      <p:sp>
        <p:nvSpPr>
          <p:cNvPr id="158" name="Google Shape;158;p6"/>
          <p:cNvSpPr/>
          <p:nvPr/>
        </p:nvSpPr>
        <p:spPr>
          <a:xfrm>
            <a:off x="8001000" y="3666744"/>
            <a:ext cx="146304" cy="146304"/>
          </a:xfrm>
          <a:prstGeom prst="rect">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6"/>
          <p:cNvSpPr txBox="1"/>
          <p:nvPr/>
        </p:nvSpPr>
        <p:spPr>
          <a:xfrm>
            <a:off x="8257032" y="361188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Thiết kế: 8 MD</a:t>
            </a:r>
            <a:endParaRPr b="0" i="0" sz="1200" u="none" cap="none" strike="noStrike">
              <a:solidFill>
                <a:schemeClr val="dk1"/>
              </a:solidFill>
              <a:latin typeface="Arial"/>
              <a:ea typeface="Arial"/>
              <a:cs typeface="Arial"/>
              <a:sym typeface="Arial"/>
            </a:endParaRPr>
          </a:p>
        </p:txBody>
      </p:sp>
      <p:sp>
        <p:nvSpPr>
          <p:cNvPr id="160" name="Google Shape;160;p6"/>
          <p:cNvSpPr/>
          <p:nvPr/>
        </p:nvSpPr>
        <p:spPr>
          <a:xfrm>
            <a:off x="8001000" y="3941064"/>
            <a:ext cx="146304" cy="146304"/>
          </a:xfrm>
          <a:prstGeom prst="rect">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6"/>
          <p:cNvSpPr txBox="1"/>
          <p:nvPr/>
        </p:nvSpPr>
        <p:spPr>
          <a:xfrm>
            <a:off x="8257032" y="388620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Lập trình và kiểm thử đơn vị: 35 MD</a:t>
            </a:r>
            <a:endParaRPr b="0" i="0" sz="1200" u="none" cap="none" strike="noStrike">
              <a:solidFill>
                <a:schemeClr val="dk1"/>
              </a:solidFill>
              <a:latin typeface="Arial"/>
              <a:ea typeface="Arial"/>
              <a:cs typeface="Arial"/>
              <a:sym typeface="Arial"/>
            </a:endParaRPr>
          </a:p>
        </p:txBody>
      </p:sp>
      <p:sp>
        <p:nvSpPr>
          <p:cNvPr id="162" name="Google Shape;162;p6"/>
          <p:cNvSpPr/>
          <p:nvPr/>
        </p:nvSpPr>
        <p:spPr>
          <a:xfrm>
            <a:off x="8001000" y="4215384"/>
            <a:ext cx="146304" cy="146304"/>
          </a:xfrm>
          <a:prstGeom prst="rect">
            <a:avLst/>
          </a:prstGeom>
          <a:solidFill>
            <a:schemeClr val="accent3"/>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6"/>
          <p:cNvSpPr txBox="1"/>
          <p:nvPr/>
        </p:nvSpPr>
        <p:spPr>
          <a:xfrm>
            <a:off x="8257032" y="416052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Kiểm thử phân hệ: 32 MD</a:t>
            </a:r>
            <a:endParaRPr b="0" i="0" sz="1200" u="none" cap="none" strike="noStrike">
              <a:solidFill>
                <a:schemeClr val="dk1"/>
              </a:solidFill>
              <a:latin typeface="Arial"/>
              <a:ea typeface="Arial"/>
              <a:cs typeface="Arial"/>
              <a:sym typeface="Arial"/>
            </a:endParaRPr>
          </a:p>
        </p:txBody>
      </p:sp>
      <p:sp>
        <p:nvSpPr>
          <p:cNvPr id="164" name="Google Shape;164;p6"/>
          <p:cNvSpPr/>
          <p:nvPr/>
        </p:nvSpPr>
        <p:spPr>
          <a:xfrm>
            <a:off x="8001000" y="4489704"/>
            <a:ext cx="146304" cy="146304"/>
          </a:xfrm>
          <a:prstGeom prst="rect">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6"/>
          <p:cNvSpPr txBox="1"/>
          <p:nvPr/>
        </p:nvSpPr>
        <p:spPr>
          <a:xfrm>
            <a:off x="8257032" y="443484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Nghiệm thu nội bộ, hỗ trợ UAT: 8 MD</a:t>
            </a:r>
            <a:endParaRPr b="0" i="0" sz="1200" u="none" cap="none" strike="noStrike">
              <a:solidFill>
                <a:schemeClr val="dk1"/>
              </a:solidFill>
              <a:latin typeface="Arial"/>
              <a:ea typeface="Arial"/>
              <a:cs typeface="Arial"/>
              <a:sym typeface="Arial"/>
            </a:endParaRPr>
          </a:p>
        </p:txBody>
      </p:sp>
      <p:sp>
        <p:nvSpPr>
          <p:cNvPr id="166" name="Google Shape;166;p6"/>
          <p:cNvSpPr txBox="1"/>
          <p:nvPr/>
        </p:nvSpPr>
        <p:spPr>
          <a:xfrm>
            <a:off x="8001000" y="4937760"/>
            <a:ext cx="3657600" cy="82296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Bảo mật tài khoản kiểm thử theo OWASP Top 10 (4.4.5).</a:t>
            </a:r>
            <a:endParaRPr b="0" i="0" sz="1400" u="none" cap="none" strike="noStrike">
              <a:solidFill>
                <a:schemeClr val="dk1"/>
              </a:solidFill>
              <a:latin typeface="Arial"/>
              <a:ea typeface="Arial"/>
              <a:cs typeface="Arial"/>
              <a:sym typeface="Arial"/>
            </a:endParaRPr>
          </a:p>
          <a:p>
            <a:pPr indent="-177800" lvl="0" marL="177800" marR="0" rtl="0" algn="l">
              <a:lnSpc>
                <a:spcPct val="100000"/>
              </a:lnSpc>
              <a:spcBef>
                <a:spcPts val="6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Có đồng ý điều khoản và bảo vệ dữ liệu cá nhân.</a:t>
            </a:r>
            <a:endParaRPr b="0" i="0" sz="1400" u="none" cap="none" strike="noStrike">
              <a:solidFill>
                <a:schemeClr val="dk1"/>
              </a:solidFill>
              <a:latin typeface="Arial"/>
              <a:ea typeface="Arial"/>
              <a:cs typeface="Arial"/>
              <a:sym typeface="Arial"/>
            </a:endParaRPr>
          </a:p>
        </p:txBody>
      </p:sp>
      <p:sp>
        <p:nvSpPr>
          <p:cNvPr id="167" name="Google Shape;167;p6"/>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i="0" lang="en-US" sz="1000" u="none" cap="none" strike="noStrike">
                <a:solidFill>
                  <a:srgbClr val="6F8189"/>
                </a:solidFill>
                <a:latin typeface="Arial"/>
                <a:ea typeface="Arial"/>
                <a:cs typeface="Arial"/>
                <a:sym typeface="Arial"/>
              </a:rPr>
              <a:t>‹#›</a:t>
            </a:fld>
            <a:endParaRPr i="0" sz="1000" u="none" cap="none" strike="noStrike">
              <a:solidFill>
                <a:srgbClr val="6F8189"/>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7"/>
          <p:cNvSpPr/>
          <p:nvPr/>
        </p:nvSpPr>
        <p:spPr>
          <a:xfrm>
            <a:off x="548640" y="329184"/>
            <a:ext cx="961949"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1. WBS</a:t>
            </a:r>
            <a:endParaRPr b="0" i="0" sz="1100" u="none" cap="none" strike="noStrike">
              <a:solidFill>
                <a:schemeClr val="dk1"/>
              </a:solidFill>
              <a:latin typeface="Arial"/>
              <a:ea typeface="Arial"/>
              <a:cs typeface="Arial"/>
              <a:sym typeface="Arial"/>
            </a:endParaRPr>
          </a:p>
        </p:txBody>
      </p:sp>
      <p:sp>
        <p:nvSpPr>
          <p:cNvPr id="174" name="Google Shape;174;p7"/>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lang="en-US" sz="2800">
                <a:solidFill>
                  <a:schemeClr val="dk2"/>
                </a:solidFill>
                <a:latin typeface="Arial"/>
                <a:ea typeface="Arial"/>
                <a:cs typeface="Arial"/>
                <a:sym typeface="Arial"/>
              </a:rPr>
              <a:t>Phân hệ đặt hàng</a:t>
            </a:r>
            <a:endParaRPr sz="2800">
              <a:latin typeface="Arial"/>
              <a:ea typeface="Arial"/>
              <a:cs typeface="Arial"/>
              <a:sym typeface="Arial"/>
            </a:endParaRPr>
          </a:p>
        </p:txBody>
      </p:sp>
      <p:graphicFrame>
        <p:nvGraphicFramePr>
          <p:cNvPr id="175" name="Google Shape;175;p7"/>
          <p:cNvGraphicFramePr/>
          <p:nvPr/>
        </p:nvGraphicFramePr>
        <p:xfrm>
          <a:off x="548640" y="1645920"/>
          <a:ext cx="3000000" cy="3000000"/>
        </p:xfrm>
        <a:graphic>
          <a:graphicData uri="http://schemas.openxmlformats.org/drawingml/2006/table">
            <a:tbl>
              <a:tblPr>
                <a:noFill/>
                <a:tableStyleId>{333A356F-784D-4884-A680-775E4A61AB1C}</a:tableStyleId>
              </a:tblPr>
              <a:tblGrid>
                <a:gridCol w="822950"/>
                <a:gridCol w="5394950"/>
                <a:gridCol w="822950"/>
              </a:tblGrid>
              <a:tr h="301750">
                <a:tc>
                  <a:txBody>
                    <a:bodyPr/>
                    <a:lstStyle/>
                    <a:p>
                      <a:pPr indent="0" lvl="0" marL="0" marR="0" rtl="0" algn="l">
                        <a:lnSpc>
                          <a:spcPct val="100000"/>
                        </a:lnSpc>
                        <a:spcBef>
                          <a:spcPts val="0"/>
                        </a:spcBef>
                        <a:spcAft>
                          <a:spcPts val="0"/>
                        </a:spcAft>
                        <a:buClr>
                          <a:schemeClr val="lt1"/>
                        </a:buClr>
                        <a:buSzPts val="1200"/>
                        <a:buFont typeface="Calibri"/>
                        <a:buNone/>
                      </a:pPr>
                      <a:r>
                        <a:rPr b="1" lang="en-US" sz="1200" u="none" cap="none" strike="noStrike">
                          <a:solidFill>
                            <a:schemeClr val="lt1"/>
                          </a:solidFill>
                        </a:rPr>
                        <a:t>Mã</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200"/>
                        <a:buFont typeface="Calibri"/>
                        <a:buNone/>
                      </a:pPr>
                      <a:r>
                        <a:rPr b="1" lang="en-US" sz="1200" u="none" cap="none" strike="noStrike">
                          <a:solidFill>
                            <a:schemeClr val="lt1"/>
                          </a:solidFill>
                        </a:rPr>
                        <a:t>Tên công việc</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200"/>
                        <a:buFont typeface="Calibri"/>
                        <a:buNone/>
                      </a:pPr>
                      <a:r>
                        <a:rPr b="1" lang="en-US" sz="1200" u="none" cap="none" strike="noStrike">
                          <a:solidFill>
                            <a:schemeClr val="lt1"/>
                          </a:solidFill>
                        </a:rPr>
                        <a:t>MD</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5.3.1</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Dịch vụ giỏ hàng</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5.3.2</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Dịch vụ giữ tồn kho tạm thời khi đặt hàng và giải phóng tồn</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5.3.3</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Dịch vụ tính phí vận chuyển</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5.3.4</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Dịch vụ khuyến mại và mã giảm giá</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5.3.5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Dịch vụ đặt hàng, xác nhận đơn và thư điện tử xác nhận</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6</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5.3.6</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Dịch vụ lịch sử, trạng thái đơn hàng và hủy đơn</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5.3.7</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Dịch vụ yêu cầu đổi trả và hoàn tiền</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6</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5.3.8</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Giao diện giỏ hàng</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5.3.9</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Giao diện đặt hàng gồm địa chỉ, phí vận chuyển, mã giảm giá và xác nhận</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6</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5.3.10</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Giao diện theo dõi đơn hàng, hủy đơn và đổi trả</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1" lang="en-US" sz="1200" u="none" cap="none" strike="noStrike">
                          <a:solidFill>
                            <a:schemeClr val="dk1"/>
                          </a:solidFill>
                        </a:rPr>
                        <a:t>Tổng gói 5.3 - Lập trình và kiểm thử đơn vị</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b="1" lang="en-US" sz="1200" u="none" cap="none" strike="noStrike">
                          <a:solidFill>
                            <a:schemeClr val="dk1"/>
                          </a:solidFill>
                        </a:rPr>
                        <a:t>53</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r>
            </a:tbl>
          </a:graphicData>
        </a:graphic>
      </p:graphicFrame>
      <p:sp>
        <p:nvSpPr>
          <p:cNvPr id="176" name="Google Shape;176;p7"/>
          <p:cNvSpPr txBox="1"/>
          <p:nvPr/>
        </p:nvSpPr>
        <p:spPr>
          <a:xfrm>
            <a:off x="8001000" y="1645920"/>
            <a:ext cx="3657600" cy="670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4400"/>
              <a:buFont typeface="Cambria"/>
              <a:buNone/>
            </a:pPr>
            <a:r>
              <a:rPr b="1" i="0" lang="en-US" sz="4400" u="none" cap="none" strike="noStrike">
                <a:solidFill>
                  <a:schemeClr val="accent1"/>
                </a:solidFill>
                <a:latin typeface="Arial"/>
                <a:ea typeface="Arial"/>
                <a:cs typeface="Arial"/>
                <a:sym typeface="Arial"/>
              </a:rPr>
              <a:t>129 MD</a:t>
            </a:r>
            <a:endParaRPr b="0" i="0" sz="4400" u="none" cap="none" strike="noStrike">
              <a:solidFill>
                <a:schemeClr val="dk1"/>
              </a:solidFill>
              <a:latin typeface="Arial"/>
              <a:ea typeface="Arial"/>
              <a:cs typeface="Arial"/>
              <a:sym typeface="Arial"/>
            </a:endParaRPr>
          </a:p>
        </p:txBody>
      </p:sp>
      <p:sp>
        <p:nvSpPr>
          <p:cNvPr id="177" name="Google Shape;177;p7"/>
          <p:cNvSpPr txBox="1"/>
          <p:nvPr/>
        </p:nvSpPr>
        <p:spPr>
          <a:xfrm>
            <a:off x="8001000" y="2362200"/>
            <a:ext cx="3657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Calibri"/>
              <a:buNone/>
            </a:pPr>
            <a:r>
              <a:rPr b="0" i="0" lang="en-US" sz="1200" u="none" cap="none" strike="noStrike">
                <a:solidFill>
                  <a:schemeClr val="accent4"/>
                </a:solidFill>
                <a:latin typeface="Arial"/>
                <a:ea typeface="Arial"/>
                <a:cs typeface="Arial"/>
                <a:sym typeface="Arial"/>
              </a:rPr>
              <a:t>Tổng WBS 5 - Phân hệ đặt hàng</a:t>
            </a:r>
            <a:endParaRPr b="0" i="0" sz="1200" u="none" cap="none" strike="noStrike">
              <a:solidFill>
                <a:schemeClr val="dk1"/>
              </a:solidFill>
              <a:latin typeface="Arial"/>
              <a:ea typeface="Arial"/>
              <a:cs typeface="Arial"/>
              <a:sym typeface="Arial"/>
            </a:endParaRPr>
          </a:p>
        </p:txBody>
      </p:sp>
      <p:sp>
        <p:nvSpPr>
          <p:cNvPr id="178" name="Google Shape;178;p7"/>
          <p:cNvSpPr/>
          <p:nvPr/>
        </p:nvSpPr>
        <p:spPr>
          <a:xfrm>
            <a:off x="8001000" y="2788920"/>
            <a:ext cx="311888" cy="384048"/>
          </a:xfrm>
          <a:prstGeom prst="rect">
            <a:avLst/>
          </a:prstGeom>
          <a:solidFill>
            <a:schemeClr val="accent4"/>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11</a:t>
            </a:r>
            <a:endParaRPr b="0" i="0" sz="1100" u="none" cap="none" strike="noStrike">
              <a:solidFill>
                <a:schemeClr val="dk1"/>
              </a:solidFill>
              <a:latin typeface="Arial"/>
              <a:ea typeface="Arial"/>
              <a:cs typeface="Arial"/>
              <a:sym typeface="Arial"/>
            </a:endParaRPr>
          </a:p>
        </p:txBody>
      </p:sp>
      <p:sp>
        <p:nvSpPr>
          <p:cNvPr id="179" name="Google Shape;179;p7"/>
          <p:cNvSpPr/>
          <p:nvPr/>
        </p:nvSpPr>
        <p:spPr>
          <a:xfrm>
            <a:off x="8312888" y="2788920"/>
            <a:ext cx="340242" cy="384048"/>
          </a:xfrm>
          <a:prstGeom prst="rect">
            <a:avLst/>
          </a:prstGeom>
          <a:solidFill>
            <a:schemeClr val="accent2"/>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12</a:t>
            </a:r>
            <a:endParaRPr b="0" i="0" sz="1100" u="none" cap="none" strike="noStrike">
              <a:solidFill>
                <a:schemeClr val="dk1"/>
              </a:solidFill>
              <a:latin typeface="Arial"/>
              <a:ea typeface="Arial"/>
              <a:cs typeface="Arial"/>
              <a:sym typeface="Arial"/>
            </a:endParaRPr>
          </a:p>
        </p:txBody>
      </p:sp>
      <p:sp>
        <p:nvSpPr>
          <p:cNvPr id="180" name="Google Shape;180;p7"/>
          <p:cNvSpPr/>
          <p:nvPr/>
        </p:nvSpPr>
        <p:spPr>
          <a:xfrm>
            <a:off x="8653130" y="2788920"/>
            <a:ext cx="1502735" cy="384048"/>
          </a:xfrm>
          <a:prstGeom prst="rect">
            <a:avLst/>
          </a:prstGeom>
          <a:solidFill>
            <a:schemeClr val="accent1"/>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53</a:t>
            </a:r>
            <a:endParaRPr b="0" i="0" sz="1100" u="none" cap="none" strike="noStrike">
              <a:solidFill>
                <a:schemeClr val="dk1"/>
              </a:solidFill>
              <a:latin typeface="Arial"/>
              <a:ea typeface="Arial"/>
              <a:cs typeface="Arial"/>
              <a:sym typeface="Arial"/>
            </a:endParaRPr>
          </a:p>
        </p:txBody>
      </p:sp>
      <p:sp>
        <p:nvSpPr>
          <p:cNvPr id="181" name="Google Shape;181;p7"/>
          <p:cNvSpPr/>
          <p:nvPr/>
        </p:nvSpPr>
        <p:spPr>
          <a:xfrm>
            <a:off x="10155865" y="2788920"/>
            <a:ext cx="1190847" cy="384048"/>
          </a:xfrm>
          <a:prstGeom prst="rect">
            <a:avLst/>
          </a:prstGeom>
          <a:solidFill>
            <a:schemeClr val="accent3"/>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rPr b="1" i="0" lang="en-US" sz="1100" u="none" cap="none" strike="noStrike">
                <a:solidFill>
                  <a:schemeClr val="dk1"/>
                </a:solidFill>
                <a:latin typeface="Arial"/>
                <a:ea typeface="Arial"/>
                <a:cs typeface="Arial"/>
                <a:sym typeface="Arial"/>
              </a:rPr>
              <a:t>42</a:t>
            </a:r>
            <a:endParaRPr b="0" i="0" sz="1100" u="none" cap="none" strike="noStrike">
              <a:solidFill>
                <a:schemeClr val="dk1"/>
              </a:solidFill>
              <a:latin typeface="Arial"/>
              <a:ea typeface="Arial"/>
              <a:cs typeface="Arial"/>
              <a:sym typeface="Arial"/>
            </a:endParaRPr>
          </a:p>
        </p:txBody>
      </p:sp>
      <p:sp>
        <p:nvSpPr>
          <p:cNvPr id="182" name="Google Shape;182;p7"/>
          <p:cNvSpPr/>
          <p:nvPr/>
        </p:nvSpPr>
        <p:spPr>
          <a:xfrm>
            <a:off x="11346712" y="2788920"/>
            <a:ext cx="311888" cy="384048"/>
          </a:xfrm>
          <a:prstGeom prst="rect">
            <a:avLst/>
          </a:prstGeom>
          <a:solidFill>
            <a:schemeClr val="accent6"/>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rPr b="1" i="0" lang="en-US" sz="1100" u="none" cap="none" strike="noStrike">
                <a:solidFill>
                  <a:schemeClr val="dk1"/>
                </a:solidFill>
                <a:latin typeface="Arial"/>
                <a:ea typeface="Arial"/>
                <a:cs typeface="Arial"/>
                <a:sym typeface="Arial"/>
              </a:rPr>
              <a:t>11</a:t>
            </a:r>
            <a:endParaRPr b="0" i="0" sz="1100" u="none" cap="none" strike="noStrike">
              <a:solidFill>
                <a:schemeClr val="dk1"/>
              </a:solidFill>
              <a:latin typeface="Arial"/>
              <a:ea typeface="Arial"/>
              <a:cs typeface="Arial"/>
              <a:sym typeface="Arial"/>
            </a:endParaRPr>
          </a:p>
        </p:txBody>
      </p:sp>
      <p:sp>
        <p:nvSpPr>
          <p:cNvPr id="183" name="Google Shape;183;p7"/>
          <p:cNvSpPr/>
          <p:nvPr/>
        </p:nvSpPr>
        <p:spPr>
          <a:xfrm>
            <a:off x="8001000" y="3392424"/>
            <a:ext cx="146304" cy="146304"/>
          </a:xfrm>
          <a:prstGeom prst="rect">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7"/>
          <p:cNvSpPr txBox="1"/>
          <p:nvPr/>
        </p:nvSpPr>
        <p:spPr>
          <a:xfrm>
            <a:off x="8257032" y="333756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Phân tích yêu cầu: 11 MD</a:t>
            </a:r>
            <a:endParaRPr b="0" i="0" sz="1200" u="none" cap="none" strike="noStrike">
              <a:solidFill>
                <a:schemeClr val="dk1"/>
              </a:solidFill>
              <a:latin typeface="Arial"/>
              <a:ea typeface="Arial"/>
              <a:cs typeface="Arial"/>
              <a:sym typeface="Arial"/>
            </a:endParaRPr>
          </a:p>
        </p:txBody>
      </p:sp>
      <p:sp>
        <p:nvSpPr>
          <p:cNvPr id="185" name="Google Shape;185;p7"/>
          <p:cNvSpPr/>
          <p:nvPr/>
        </p:nvSpPr>
        <p:spPr>
          <a:xfrm>
            <a:off x="8001000" y="3666744"/>
            <a:ext cx="146304" cy="146304"/>
          </a:xfrm>
          <a:prstGeom prst="rect">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7"/>
          <p:cNvSpPr txBox="1"/>
          <p:nvPr/>
        </p:nvSpPr>
        <p:spPr>
          <a:xfrm>
            <a:off x="8257032" y="361188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Thiết kế: 12 MD</a:t>
            </a:r>
            <a:endParaRPr b="0" i="0" sz="1200" u="none" cap="none" strike="noStrike">
              <a:solidFill>
                <a:schemeClr val="dk1"/>
              </a:solidFill>
              <a:latin typeface="Arial"/>
              <a:ea typeface="Arial"/>
              <a:cs typeface="Arial"/>
              <a:sym typeface="Arial"/>
            </a:endParaRPr>
          </a:p>
        </p:txBody>
      </p:sp>
      <p:sp>
        <p:nvSpPr>
          <p:cNvPr id="187" name="Google Shape;187;p7"/>
          <p:cNvSpPr/>
          <p:nvPr/>
        </p:nvSpPr>
        <p:spPr>
          <a:xfrm>
            <a:off x="8001000" y="3941064"/>
            <a:ext cx="146304" cy="146304"/>
          </a:xfrm>
          <a:prstGeom prst="rect">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7"/>
          <p:cNvSpPr txBox="1"/>
          <p:nvPr/>
        </p:nvSpPr>
        <p:spPr>
          <a:xfrm>
            <a:off x="8257032" y="388620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Lập trình và kiểm thử đơn vị: 53 MD</a:t>
            </a:r>
            <a:endParaRPr b="0" i="0" sz="1200" u="none" cap="none" strike="noStrike">
              <a:solidFill>
                <a:schemeClr val="dk1"/>
              </a:solidFill>
              <a:latin typeface="Arial"/>
              <a:ea typeface="Arial"/>
              <a:cs typeface="Arial"/>
              <a:sym typeface="Arial"/>
            </a:endParaRPr>
          </a:p>
        </p:txBody>
      </p:sp>
      <p:sp>
        <p:nvSpPr>
          <p:cNvPr id="189" name="Google Shape;189;p7"/>
          <p:cNvSpPr/>
          <p:nvPr/>
        </p:nvSpPr>
        <p:spPr>
          <a:xfrm>
            <a:off x="8001000" y="4215384"/>
            <a:ext cx="146304" cy="146304"/>
          </a:xfrm>
          <a:prstGeom prst="rect">
            <a:avLst/>
          </a:prstGeom>
          <a:solidFill>
            <a:schemeClr val="accent3"/>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7"/>
          <p:cNvSpPr txBox="1"/>
          <p:nvPr/>
        </p:nvSpPr>
        <p:spPr>
          <a:xfrm>
            <a:off x="8257032" y="416052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Kiểm thử phân hệ: 42 MD</a:t>
            </a:r>
            <a:endParaRPr b="0" i="0" sz="1200" u="none" cap="none" strike="noStrike">
              <a:solidFill>
                <a:schemeClr val="dk1"/>
              </a:solidFill>
              <a:latin typeface="Arial"/>
              <a:ea typeface="Arial"/>
              <a:cs typeface="Arial"/>
              <a:sym typeface="Arial"/>
            </a:endParaRPr>
          </a:p>
        </p:txBody>
      </p:sp>
      <p:sp>
        <p:nvSpPr>
          <p:cNvPr id="191" name="Google Shape;191;p7"/>
          <p:cNvSpPr/>
          <p:nvPr/>
        </p:nvSpPr>
        <p:spPr>
          <a:xfrm>
            <a:off x="8001000" y="4489704"/>
            <a:ext cx="146304" cy="146304"/>
          </a:xfrm>
          <a:prstGeom prst="rect">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7"/>
          <p:cNvSpPr txBox="1"/>
          <p:nvPr/>
        </p:nvSpPr>
        <p:spPr>
          <a:xfrm>
            <a:off x="8257032" y="443484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Nghiệm thu nội bộ, hỗ trợ UAT: 11 MD</a:t>
            </a:r>
            <a:endParaRPr b="0" i="0" sz="1200" u="none" cap="none" strike="noStrike">
              <a:solidFill>
                <a:schemeClr val="dk1"/>
              </a:solidFill>
              <a:latin typeface="Arial"/>
              <a:ea typeface="Arial"/>
              <a:cs typeface="Arial"/>
              <a:sym typeface="Arial"/>
            </a:endParaRPr>
          </a:p>
        </p:txBody>
      </p:sp>
      <p:sp>
        <p:nvSpPr>
          <p:cNvPr id="193" name="Google Shape;193;p7"/>
          <p:cNvSpPr txBox="1"/>
          <p:nvPr/>
        </p:nvSpPr>
        <p:spPr>
          <a:xfrm>
            <a:off x="8001000" y="4937760"/>
            <a:ext cx="365760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300"/>
              <a:buFont typeface="Calibri"/>
              <a:buNone/>
            </a:pPr>
            <a:r>
              <a:rPr b="0" i="1" lang="en-US" sz="1300" u="none" cap="none" strike="noStrike">
                <a:solidFill>
                  <a:schemeClr val="accent4"/>
                </a:solidFill>
                <a:latin typeface="Arial"/>
                <a:ea typeface="Arial"/>
                <a:cs typeface="Arial"/>
                <a:sym typeface="Arial"/>
              </a:rPr>
              <a:t>Biểu phí vận chuyển, mã giảm giá, giữ tồn, hủy và đổi trả theo quy tắc ABC Wear xác nhận.</a:t>
            </a:r>
            <a:endParaRPr b="0" i="0" sz="1300" u="none" cap="none" strike="noStrike">
              <a:solidFill>
                <a:schemeClr val="dk1"/>
              </a:solidFill>
              <a:latin typeface="Arial"/>
              <a:ea typeface="Arial"/>
              <a:cs typeface="Arial"/>
              <a:sym typeface="Arial"/>
            </a:endParaRPr>
          </a:p>
        </p:txBody>
      </p:sp>
      <p:sp>
        <p:nvSpPr>
          <p:cNvPr id="194" name="Google Shape;194;p7"/>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i="0" lang="en-US" sz="1000" u="none" cap="none" strike="noStrike">
                <a:solidFill>
                  <a:srgbClr val="6F8189"/>
                </a:solidFill>
                <a:latin typeface="Arial"/>
                <a:ea typeface="Arial"/>
                <a:cs typeface="Arial"/>
                <a:sym typeface="Arial"/>
              </a:rPr>
              <a:t>‹#›</a:t>
            </a:fld>
            <a:endParaRPr i="0" sz="1000" u="none" cap="none" strike="noStrike">
              <a:solidFill>
                <a:srgbClr val="6F8189"/>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8"/>
          <p:cNvSpPr/>
          <p:nvPr/>
        </p:nvSpPr>
        <p:spPr>
          <a:xfrm>
            <a:off x="548640" y="329184"/>
            <a:ext cx="961949"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1. WBS</a:t>
            </a:r>
            <a:endParaRPr b="0" i="0" sz="1100" u="none" cap="none" strike="noStrike">
              <a:solidFill>
                <a:schemeClr val="dk1"/>
              </a:solidFill>
              <a:latin typeface="Calibri"/>
              <a:ea typeface="Calibri"/>
              <a:cs typeface="Calibri"/>
              <a:sym typeface="Calibri"/>
            </a:endParaRPr>
          </a:p>
        </p:txBody>
      </p:sp>
      <p:sp>
        <p:nvSpPr>
          <p:cNvPr id="201" name="Google Shape;201;p8"/>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b="1" lang="en-US" sz="2800">
                <a:solidFill>
                  <a:schemeClr val="dk2"/>
                </a:solidFill>
              </a:rPr>
              <a:t>Cơ sở dữ liệu bán hàng và tích hợp</a:t>
            </a:r>
            <a:endParaRPr sz="2800"/>
          </a:p>
        </p:txBody>
      </p:sp>
      <p:graphicFrame>
        <p:nvGraphicFramePr>
          <p:cNvPr id="202" name="Google Shape;202;p8"/>
          <p:cNvGraphicFramePr/>
          <p:nvPr/>
        </p:nvGraphicFramePr>
        <p:xfrm>
          <a:off x="548640" y="1645920"/>
          <a:ext cx="7040850" cy="3000000"/>
        </p:xfrm>
        <a:graphic>
          <a:graphicData uri="http://schemas.openxmlformats.org/drawingml/2006/table">
            <a:tbl>
              <a:tblPr>
                <a:noFill/>
                <a:tableStyleId>{333A356F-784D-4884-A680-775E4A61AB1C}</a:tableStyleId>
              </a:tblPr>
              <a:tblGrid>
                <a:gridCol w="1554480"/>
                <a:gridCol w="4663420"/>
                <a:gridCol w="822950"/>
              </a:tblGrid>
              <a:tr h="301750">
                <a:tc>
                  <a:txBody>
                    <a:bodyPr/>
                    <a:lstStyle/>
                    <a:p>
                      <a:pPr indent="0" lvl="0" marL="0" marR="0" rtl="0" algn="l">
                        <a:lnSpc>
                          <a:spcPct val="100000"/>
                        </a:lnSpc>
                        <a:spcBef>
                          <a:spcPts val="0"/>
                        </a:spcBef>
                        <a:spcAft>
                          <a:spcPts val="0"/>
                        </a:spcAft>
                        <a:buClr>
                          <a:schemeClr val="lt1"/>
                        </a:buClr>
                        <a:buSzPts val="1200"/>
                        <a:buFont typeface="Calibri"/>
                        <a:buNone/>
                      </a:pPr>
                      <a:r>
                        <a:rPr b="1" lang="en-US" sz="1200" u="none" cap="none" strike="noStrike">
                          <a:solidFill>
                            <a:schemeClr val="lt1"/>
                          </a:solidFill>
                        </a:rPr>
                        <a:t>Mã</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200"/>
                        <a:buFont typeface="Calibri"/>
                        <a:buNone/>
                      </a:pPr>
                      <a:r>
                        <a:rPr b="1" lang="en-US" sz="1200" u="none" cap="none" strike="noStrike">
                          <a:solidFill>
                            <a:schemeClr val="lt1"/>
                          </a:solidFill>
                        </a:rPr>
                        <a:t>Nội dung công việc</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200"/>
                        <a:buFont typeface="Calibri"/>
                        <a:buNone/>
                      </a:pPr>
                      <a:r>
                        <a:rPr b="1" lang="en-US" sz="1200" u="none" cap="none" strike="noStrike">
                          <a:solidFill>
                            <a:schemeClr val="lt1"/>
                          </a:solidFill>
                        </a:rPr>
                        <a:t>MD</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6.1</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Selling DB, khung ứng dụng và dịch vụ thư điện tử</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22</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6.2.1, 6.2.2, 6.2.13</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Đặc tả, thiết kế và xác nhận giao diện tích hợp</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10</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6.2.3, 6.2.4</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Đồng bộ sản phẩm, giá và tồn kho từ Main System</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10</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6.2.5, 6.2.6</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Chuyển đơn hàng, nhận trạng thái xử lý và vận chuyển</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10</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6.2.7</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Giám sát, cảnh báo lỗi đồng bộ và gửi lại</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4</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6.2.8-6.2.12</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Giả lập Main System, kiểm thử tích hợp và sửa lỗi</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24</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6.3</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Chuyển đổi dữ liệu và nội dung sản phẩm</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13</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1" lang="en-US" sz="1200" u="none" cap="none" strike="noStrike">
                          <a:solidFill>
                            <a:schemeClr val="dk1"/>
                          </a:solidFill>
                        </a:rPr>
                        <a:t>Tổng WBS 6</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b="1" lang="en-US" sz="1200" u="none" cap="none" strike="noStrike">
                          <a:solidFill>
                            <a:schemeClr val="dk1"/>
                          </a:solidFill>
                        </a:rPr>
                        <a:t>93</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r>
            </a:tbl>
          </a:graphicData>
        </a:graphic>
      </p:graphicFrame>
      <p:sp>
        <p:nvSpPr>
          <p:cNvPr id="203" name="Google Shape;203;p8"/>
          <p:cNvSpPr txBox="1"/>
          <p:nvPr/>
        </p:nvSpPr>
        <p:spPr>
          <a:xfrm>
            <a:off x="8001000" y="1645920"/>
            <a:ext cx="3657600" cy="670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4400"/>
              <a:buFont typeface="Cambria"/>
              <a:buNone/>
            </a:pPr>
            <a:r>
              <a:rPr b="1" i="0" lang="en-US" sz="4400" u="none" cap="none" strike="noStrike">
                <a:solidFill>
                  <a:schemeClr val="accent1"/>
                </a:solidFill>
                <a:latin typeface="Cambria"/>
                <a:ea typeface="Cambria"/>
                <a:cs typeface="Cambria"/>
                <a:sym typeface="Cambria"/>
              </a:rPr>
              <a:t>93 MD</a:t>
            </a:r>
            <a:endParaRPr b="0" i="0" sz="4400" u="none" cap="none" strike="noStrike">
              <a:solidFill>
                <a:schemeClr val="dk1"/>
              </a:solidFill>
              <a:latin typeface="Calibri"/>
              <a:ea typeface="Calibri"/>
              <a:cs typeface="Calibri"/>
              <a:sym typeface="Calibri"/>
            </a:endParaRPr>
          </a:p>
        </p:txBody>
      </p:sp>
      <p:sp>
        <p:nvSpPr>
          <p:cNvPr id="204" name="Google Shape;204;p8"/>
          <p:cNvSpPr txBox="1"/>
          <p:nvPr/>
        </p:nvSpPr>
        <p:spPr>
          <a:xfrm>
            <a:off x="8001000" y="2362200"/>
            <a:ext cx="3657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Calibri"/>
              <a:buNone/>
            </a:pPr>
            <a:r>
              <a:rPr b="0" i="0" lang="en-US" sz="1200" u="none" cap="none" strike="noStrike">
                <a:solidFill>
                  <a:schemeClr val="accent4"/>
                </a:solidFill>
                <a:latin typeface="Calibri"/>
                <a:ea typeface="Calibri"/>
                <a:cs typeface="Calibri"/>
                <a:sym typeface="Calibri"/>
              </a:rPr>
              <a:t>Tổng WBS 6 - CSDL bán hàng và tích hợp</a:t>
            </a:r>
            <a:endParaRPr b="0" i="0" sz="1200" u="none" cap="none" strike="noStrike">
              <a:solidFill>
                <a:schemeClr val="dk1"/>
              </a:solidFill>
              <a:latin typeface="Calibri"/>
              <a:ea typeface="Calibri"/>
              <a:cs typeface="Calibri"/>
              <a:sym typeface="Calibri"/>
            </a:endParaRPr>
          </a:p>
        </p:txBody>
      </p:sp>
      <p:sp>
        <p:nvSpPr>
          <p:cNvPr id="205" name="Google Shape;205;p8"/>
          <p:cNvSpPr txBox="1"/>
          <p:nvPr/>
        </p:nvSpPr>
        <p:spPr>
          <a:xfrm>
            <a:off x="548640" y="4572000"/>
            <a:ext cx="7040880" cy="123444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chemeClr val="dk1"/>
              </a:buClr>
              <a:buSzPts val="1350"/>
              <a:buFont typeface="Calibri"/>
              <a:buChar char="•"/>
            </a:pPr>
            <a:r>
              <a:rPr b="0" i="0" lang="en-US" sz="1350" u="none" cap="none" strike="noStrike">
                <a:solidFill>
                  <a:schemeClr val="dk1"/>
                </a:solidFill>
                <a:latin typeface="Calibri"/>
                <a:ea typeface="Calibri"/>
                <a:cs typeface="Calibri"/>
                <a:sym typeface="Calibri"/>
              </a:rPr>
              <a:t>Năm luồng tích hợp với Main System: sản phẩm và giá, tồn kho, chuyển đơn hàng, trạng thái vận chuyển, giám sát và gửi lại.</a:t>
            </a:r>
            <a:endParaRPr b="0" i="0" sz="135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350"/>
              <a:buFont typeface="Calibri"/>
              <a:buChar char="•"/>
            </a:pPr>
            <a:r>
              <a:rPr b="0" i="0" lang="en-US" sz="1350" u="none" cap="none" strike="noStrike">
                <a:solidFill>
                  <a:schemeClr val="dk1"/>
                </a:solidFill>
                <a:latin typeface="Calibri"/>
                <a:ea typeface="Calibri"/>
                <a:cs typeface="Calibri"/>
                <a:sym typeface="Calibri"/>
              </a:rPr>
              <a:t>Trạng thái vận chuyển nhận qua Main System. Thư điện tử gửi qua máy chủ thư của ABC Wear.</a:t>
            </a:r>
            <a:endParaRPr b="0" i="0" sz="1350" u="none" cap="none" strike="noStrike">
              <a:solidFill>
                <a:schemeClr val="dk1"/>
              </a:solidFill>
              <a:latin typeface="Calibri"/>
              <a:ea typeface="Calibri"/>
              <a:cs typeface="Calibri"/>
              <a:sym typeface="Calibri"/>
            </a:endParaRPr>
          </a:p>
        </p:txBody>
      </p:sp>
      <p:cxnSp>
        <p:nvCxnSpPr>
          <p:cNvPr id="206" name="Google Shape;206;p8"/>
          <p:cNvCxnSpPr/>
          <p:nvPr/>
        </p:nvCxnSpPr>
        <p:spPr>
          <a:xfrm>
            <a:off x="8778240" y="3145536"/>
            <a:ext cx="1005840" cy="841248"/>
          </a:xfrm>
          <a:prstGeom prst="straightConnector1">
            <a:avLst/>
          </a:prstGeom>
          <a:noFill/>
          <a:ln cap="flat" cmpd="sng" w="19050">
            <a:solidFill>
              <a:schemeClr val="accent4"/>
            </a:solidFill>
            <a:prstDash val="solid"/>
            <a:round/>
            <a:headEnd len="sm" w="sm" type="none"/>
            <a:tailEnd len="sm" w="sm" type="none"/>
          </a:ln>
        </p:spPr>
      </p:cxnSp>
      <p:cxnSp>
        <p:nvCxnSpPr>
          <p:cNvPr id="207" name="Google Shape;207;p8"/>
          <p:cNvCxnSpPr/>
          <p:nvPr/>
        </p:nvCxnSpPr>
        <p:spPr>
          <a:xfrm flipH="1" rot="10800000">
            <a:off x="9784080" y="3145536"/>
            <a:ext cx="1097280" cy="841248"/>
          </a:xfrm>
          <a:prstGeom prst="straightConnector1">
            <a:avLst/>
          </a:prstGeom>
          <a:noFill/>
          <a:ln cap="flat" cmpd="sng" w="19050">
            <a:solidFill>
              <a:schemeClr val="accent4"/>
            </a:solidFill>
            <a:prstDash val="solid"/>
            <a:round/>
            <a:headEnd len="sm" w="sm" type="none"/>
            <a:tailEnd len="sm" w="sm" type="none"/>
          </a:ln>
        </p:spPr>
      </p:cxnSp>
      <p:cxnSp>
        <p:nvCxnSpPr>
          <p:cNvPr id="208" name="Google Shape;208;p8"/>
          <p:cNvCxnSpPr/>
          <p:nvPr/>
        </p:nvCxnSpPr>
        <p:spPr>
          <a:xfrm flipH="1" rot="10800000">
            <a:off x="8778240" y="3986784"/>
            <a:ext cx="1005840" cy="1353312"/>
          </a:xfrm>
          <a:prstGeom prst="straightConnector1">
            <a:avLst/>
          </a:prstGeom>
          <a:noFill/>
          <a:ln cap="flat" cmpd="sng" w="19050">
            <a:solidFill>
              <a:schemeClr val="accent4"/>
            </a:solidFill>
            <a:prstDash val="solid"/>
            <a:round/>
            <a:headEnd len="sm" w="sm" type="none"/>
            <a:tailEnd len="sm" w="sm" type="none"/>
          </a:ln>
        </p:spPr>
      </p:cxnSp>
      <p:cxnSp>
        <p:nvCxnSpPr>
          <p:cNvPr id="209" name="Google Shape;209;p8"/>
          <p:cNvCxnSpPr/>
          <p:nvPr/>
        </p:nvCxnSpPr>
        <p:spPr>
          <a:xfrm>
            <a:off x="9784080" y="3986784"/>
            <a:ext cx="1097280" cy="1353312"/>
          </a:xfrm>
          <a:prstGeom prst="straightConnector1">
            <a:avLst/>
          </a:prstGeom>
          <a:noFill/>
          <a:ln cap="flat" cmpd="sng" w="19050">
            <a:solidFill>
              <a:schemeClr val="accent4"/>
            </a:solidFill>
            <a:prstDash val="solid"/>
            <a:round/>
            <a:headEnd len="sm" w="sm" type="none"/>
            <a:tailEnd len="sm" w="sm" type="none"/>
          </a:ln>
        </p:spPr>
      </p:cxnSp>
      <p:sp>
        <p:nvSpPr>
          <p:cNvPr id="210" name="Google Shape;210;p8"/>
          <p:cNvSpPr/>
          <p:nvPr/>
        </p:nvSpPr>
        <p:spPr>
          <a:xfrm>
            <a:off x="8001000" y="2880360"/>
            <a:ext cx="1554480" cy="530352"/>
          </a:xfrm>
          <a:prstGeom prst="roundRect">
            <a:avLst>
              <a:gd fmla="val 13793" name="adj"/>
            </a:avLst>
          </a:prstGeom>
          <a:solidFill>
            <a:schemeClr val="lt2"/>
          </a:solidFill>
          <a:ln cap="flat" cmpd="sng" w="12700">
            <a:solidFill>
              <a:schemeClr val="accent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Main System</a:t>
            </a:r>
            <a:endParaRPr b="0" i="0" sz="1200" u="none" cap="none" strike="noStrike">
              <a:solidFill>
                <a:schemeClr val="dk1"/>
              </a:solidFill>
              <a:latin typeface="Calibri"/>
              <a:ea typeface="Calibri"/>
              <a:cs typeface="Calibri"/>
              <a:sym typeface="Calibri"/>
            </a:endParaRPr>
          </a:p>
        </p:txBody>
      </p:sp>
      <p:sp>
        <p:nvSpPr>
          <p:cNvPr id="211" name="Google Shape;211;p8"/>
          <p:cNvSpPr/>
          <p:nvPr/>
        </p:nvSpPr>
        <p:spPr>
          <a:xfrm>
            <a:off x="10104120" y="2880360"/>
            <a:ext cx="1554480" cy="530352"/>
          </a:xfrm>
          <a:prstGeom prst="roundRect">
            <a:avLst>
              <a:gd fmla="val 13793" name="adj"/>
            </a:avLst>
          </a:prstGeom>
          <a:solidFill>
            <a:schemeClr val="lt2"/>
          </a:solidFill>
          <a:ln cap="flat" cmpd="sng" w="12700">
            <a:solidFill>
              <a:schemeClr val="accent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Selling DB</a:t>
            </a:r>
            <a:endParaRPr b="0" i="0" sz="1200" u="none" cap="none" strike="noStrike">
              <a:solidFill>
                <a:schemeClr val="dk1"/>
              </a:solidFill>
              <a:latin typeface="Calibri"/>
              <a:ea typeface="Calibri"/>
              <a:cs typeface="Calibri"/>
              <a:sym typeface="Calibri"/>
            </a:endParaRPr>
          </a:p>
        </p:txBody>
      </p:sp>
      <p:sp>
        <p:nvSpPr>
          <p:cNvPr id="212" name="Google Shape;212;p8"/>
          <p:cNvSpPr/>
          <p:nvPr/>
        </p:nvSpPr>
        <p:spPr>
          <a:xfrm>
            <a:off x="8001000" y="5074920"/>
            <a:ext cx="1554480" cy="530352"/>
          </a:xfrm>
          <a:prstGeom prst="roundRect">
            <a:avLst>
              <a:gd fmla="val 13793" name="adj"/>
            </a:avLst>
          </a:prstGeom>
          <a:solidFill>
            <a:schemeClr val="lt2"/>
          </a:solidFill>
          <a:ln cap="flat" cmpd="sng" w="12700">
            <a:solidFill>
              <a:schemeClr val="accent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Chuyển đổi dữ liệu</a:t>
            </a:r>
            <a:endParaRPr b="0" i="0" sz="1200" u="none" cap="none" strike="noStrike">
              <a:solidFill>
                <a:schemeClr val="dk1"/>
              </a:solidFill>
              <a:latin typeface="Calibri"/>
              <a:ea typeface="Calibri"/>
              <a:cs typeface="Calibri"/>
              <a:sym typeface="Calibri"/>
            </a:endParaRPr>
          </a:p>
        </p:txBody>
      </p:sp>
      <p:sp>
        <p:nvSpPr>
          <p:cNvPr id="213" name="Google Shape;213;p8"/>
          <p:cNvSpPr/>
          <p:nvPr/>
        </p:nvSpPr>
        <p:spPr>
          <a:xfrm>
            <a:off x="10104120" y="5074920"/>
            <a:ext cx="1554480" cy="530352"/>
          </a:xfrm>
          <a:prstGeom prst="roundRect">
            <a:avLst>
              <a:gd fmla="val 13793" name="adj"/>
            </a:avLst>
          </a:prstGeom>
          <a:solidFill>
            <a:schemeClr val="lt2"/>
          </a:solidFill>
          <a:ln cap="flat" cmpd="sng" w="12700">
            <a:solidFill>
              <a:schemeClr val="accent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Máy chủ thư</a:t>
            </a:r>
            <a:endParaRPr b="0" i="0" sz="1200" u="none" cap="none" strike="noStrike">
              <a:solidFill>
                <a:schemeClr val="dk1"/>
              </a:solidFill>
              <a:latin typeface="Calibri"/>
              <a:ea typeface="Calibri"/>
              <a:cs typeface="Calibri"/>
              <a:sym typeface="Calibri"/>
            </a:endParaRPr>
          </a:p>
        </p:txBody>
      </p:sp>
      <p:sp>
        <p:nvSpPr>
          <p:cNvPr id="214" name="Google Shape;214;p8"/>
          <p:cNvSpPr/>
          <p:nvPr/>
        </p:nvSpPr>
        <p:spPr>
          <a:xfrm>
            <a:off x="9052560" y="3703320"/>
            <a:ext cx="1463040" cy="566928"/>
          </a:xfrm>
          <a:prstGeom prst="roundRect">
            <a:avLst>
              <a:gd fmla="val 12903"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Website ABC Wear</a:t>
            </a:r>
            <a:endParaRPr b="0" i="0" sz="1200" u="none" cap="none" strike="noStrike">
              <a:solidFill>
                <a:schemeClr val="dk1"/>
              </a:solidFill>
              <a:latin typeface="Calibri"/>
              <a:ea typeface="Calibri"/>
              <a:cs typeface="Calibri"/>
              <a:sym typeface="Calibri"/>
            </a:endParaRPr>
          </a:p>
        </p:txBody>
      </p:sp>
      <p:sp>
        <p:nvSpPr>
          <p:cNvPr id="215" name="Google Shape;215;p8"/>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6F8189"/>
                </a:solidFill>
                <a:latin typeface="Calibri"/>
                <a:ea typeface="Calibri"/>
                <a:cs typeface="Calibri"/>
                <a:sym typeface="Calibri"/>
              </a:rPr>
              <a:t>‹#›</a:t>
            </a:fld>
            <a:endParaRPr b="0" i="0" sz="1000" u="none" cap="none" strike="noStrike">
              <a:solidFill>
                <a:srgbClr val="6F8189"/>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9"/>
          <p:cNvSpPr/>
          <p:nvPr/>
        </p:nvSpPr>
        <p:spPr>
          <a:xfrm>
            <a:off x="548640" y="329184"/>
            <a:ext cx="1298448"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2. Tiến độ</a:t>
            </a:r>
            <a:endParaRPr b="0" i="0" sz="1100" u="none" cap="none" strike="noStrike">
              <a:solidFill>
                <a:schemeClr val="dk1"/>
              </a:solidFill>
              <a:latin typeface="Calibri"/>
              <a:ea typeface="Calibri"/>
              <a:cs typeface="Calibri"/>
              <a:sym typeface="Calibri"/>
            </a:endParaRPr>
          </a:p>
        </p:txBody>
      </p:sp>
      <p:sp>
        <p:nvSpPr>
          <p:cNvPr id="222" name="Google Shape;222;p9"/>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b="1" lang="en-US" sz="2800">
                <a:solidFill>
                  <a:schemeClr val="dk2"/>
                </a:solidFill>
              </a:rPr>
              <a:t>Kế hoạch theo sprint</a:t>
            </a:r>
            <a:endParaRPr sz="2800"/>
          </a:p>
        </p:txBody>
      </p:sp>
      <p:sp>
        <p:nvSpPr>
          <p:cNvPr id="223" name="Google Shape;223;p9"/>
          <p:cNvSpPr txBox="1"/>
          <p:nvPr/>
        </p:nvSpPr>
        <p:spPr>
          <a:xfrm>
            <a:off x="548640" y="1600200"/>
            <a:ext cx="795528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300"/>
              <a:buFont typeface="Calibri"/>
              <a:buNone/>
            </a:pPr>
            <a:r>
              <a:rPr b="0" i="0" lang="en-US" sz="1300" u="none" cap="none" strike="noStrike">
                <a:solidFill>
                  <a:schemeClr val="accent4"/>
                </a:solidFill>
                <a:latin typeface="Calibri"/>
                <a:ea typeface="Calibri"/>
                <a:cs typeface="Calibri"/>
                <a:sym typeface="Calibri"/>
              </a:rPr>
              <a:t>18/3-01/7/2027, 73 ngày làm việc. S3 gồm 13 ngày, các sprint khác 10 ngày. Dự trữ đến cut over 4 ngày.</a:t>
            </a:r>
            <a:endParaRPr b="0" i="0" sz="1300" u="none" cap="none" strike="noStrike">
              <a:solidFill>
                <a:schemeClr val="dk1"/>
              </a:solidFill>
              <a:latin typeface="Calibri"/>
              <a:ea typeface="Calibri"/>
              <a:cs typeface="Calibri"/>
              <a:sym typeface="Calibri"/>
            </a:endParaRPr>
          </a:p>
        </p:txBody>
      </p:sp>
      <p:graphicFrame>
        <p:nvGraphicFramePr>
          <p:cNvPr id="224" name="Google Shape;224;p9"/>
          <p:cNvGraphicFramePr/>
          <p:nvPr/>
        </p:nvGraphicFramePr>
        <p:xfrm>
          <a:off x="548640" y="2011680"/>
          <a:ext cx="3000000" cy="3000000"/>
        </p:xfrm>
        <a:graphic>
          <a:graphicData uri="http://schemas.openxmlformats.org/drawingml/2006/table">
            <a:tbl>
              <a:tblPr>
                <a:noFill/>
                <a:tableStyleId>{333A356F-784D-4884-A680-775E4A61AB1C}</a:tableStyleId>
              </a:tblPr>
              <a:tblGrid>
                <a:gridCol w="731525"/>
                <a:gridCol w="1325875"/>
                <a:gridCol w="685800"/>
                <a:gridCol w="5212075"/>
              </a:tblGrid>
              <a:tr h="384050">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Sprint</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Thời gian 2027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MD</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Sản phẩm cuối sprint</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3840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S1</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18/3-31/3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52,5</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Biên bản khởi động, báo cáo khảo sát, khung ứng dụng triển khai tự động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840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S2</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01/4-14/4</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87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Cấu trúc Selling DB, sơ đồ menu, mẫu giao diện ưu tiên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840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15/4-06/5</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145</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Tìm kiếm, đăng ký, đăng nhập và giỏ hàng trên môi trường phát triển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840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S4</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07/5-20/5</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112</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Đăng ký, tìm kiếm, đặt hàng có phí vận chuyển, mã giảm giá</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840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S5</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21/5-03/6</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103,5</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Đặt hàng đầu cuối, chuyển đơn sang Main System thử</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840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S6</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04/6-17/6</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79</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Bản phát hành ứng viên cho UAT, báo cáo kiểm thử hệ thống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840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18/6-01/7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78</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Hệ thống trên môi trường vận hành, biên bản UAT và bàn giao</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84050">
                <a:tc>
                  <a:txBody>
                    <a:bodyPr/>
                    <a:lstStyle/>
                    <a:p>
                      <a:pPr indent="0" lvl="0" marL="0" marR="0" rtl="0" algn="l">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Tổng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7 sprint</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657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1300"/>
                        <a:buFont typeface="Calibri"/>
                        <a:buNone/>
                      </a:pPr>
                      <a:r>
                        <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r>
            </a:tbl>
          </a:graphicData>
        </a:graphic>
      </p:graphicFrame>
      <p:sp>
        <p:nvSpPr>
          <p:cNvPr id="225" name="Google Shape;225;p9"/>
          <p:cNvSpPr txBox="1"/>
          <p:nvPr/>
        </p:nvSpPr>
        <p:spPr>
          <a:xfrm>
            <a:off x="548640" y="5623560"/>
            <a:ext cx="795528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300"/>
              <a:buFont typeface="Calibri"/>
              <a:buNone/>
            </a:pPr>
            <a:r>
              <a:rPr b="0" i="1" lang="en-US" sz="1300" u="none" cap="none" strike="noStrike">
                <a:solidFill>
                  <a:schemeClr val="accent4"/>
                </a:solidFill>
                <a:latin typeface="Calibri"/>
                <a:ea typeface="Calibri"/>
                <a:cs typeface="Calibri"/>
                <a:sym typeface="Calibri"/>
              </a:rPr>
              <a:t>Đường găng 16 gói, dài 52 ngày. Sử dụng 82,5% quỹ huy động 796 MD.</a:t>
            </a:r>
            <a:endParaRPr b="0" i="0" sz="1300" u="none" cap="none" strike="noStrike">
              <a:solidFill>
                <a:schemeClr val="dk1"/>
              </a:solidFill>
              <a:latin typeface="Calibri"/>
              <a:ea typeface="Calibri"/>
              <a:cs typeface="Calibri"/>
              <a:sym typeface="Calibri"/>
            </a:endParaRPr>
          </a:p>
        </p:txBody>
      </p:sp>
      <p:sp>
        <p:nvSpPr>
          <p:cNvPr id="226" name="Google Shape;226;p9"/>
          <p:cNvSpPr txBox="1"/>
          <p:nvPr/>
        </p:nvSpPr>
        <p:spPr>
          <a:xfrm>
            <a:off x="8915400" y="1600200"/>
            <a:ext cx="27432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Mốc chính</a:t>
            </a:r>
            <a:endParaRPr b="0" i="0" sz="1600" u="none" cap="none" strike="noStrike">
              <a:solidFill>
                <a:schemeClr val="dk1"/>
              </a:solidFill>
              <a:latin typeface="Calibri"/>
              <a:ea typeface="Calibri"/>
              <a:cs typeface="Calibri"/>
              <a:sym typeface="Calibri"/>
            </a:endParaRPr>
          </a:p>
        </p:txBody>
      </p:sp>
      <p:cxnSp>
        <p:nvCxnSpPr>
          <p:cNvPr id="227" name="Google Shape;227;p9"/>
          <p:cNvCxnSpPr/>
          <p:nvPr/>
        </p:nvCxnSpPr>
        <p:spPr>
          <a:xfrm>
            <a:off x="9043416" y="2240280"/>
            <a:ext cx="0" cy="3291840"/>
          </a:xfrm>
          <a:prstGeom prst="straightConnector1">
            <a:avLst/>
          </a:prstGeom>
          <a:noFill/>
          <a:ln cap="flat" cmpd="sng" w="25400">
            <a:solidFill>
              <a:schemeClr val="accent6"/>
            </a:solidFill>
            <a:prstDash val="solid"/>
            <a:round/>
            <a:headEnd len="sm" w="sm" type="none"/>
            <a:tailEnd len="sm" w="sm" type="none"/>
          </a:ln>
        </p:spPr>
      </p:cxnSp>
      <p:sp>
        <p:nvSpPr>
          <p:cNvPr id="228" name="Google Shape;228;p9"/>
          <p:cNvSpPr/>
          <p:nvPr/>
        </p:nvSpPr>
        <p:spPr>
          <a:xfrm>
            <a:off x="8915400" y="2103120"/>
            <a:ext cx="256032" cy="256032"/>
          </a:xfrm>
          <a:prstGeom prst="ellipse">
            <a:avLst/>
          </a:pr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9"/>
          <p:cNvSpPr txBox="1"/>
          <p:nvPr/>
        </p:nvSpPr>
        <p:spPr>
          <a:xfrm>
            <a:off x="9326880" y="2057400"/>
            <a:ext cx="22860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06/5</a:t>
            </a:r>
            <a:endParaRPr b="0" i="0" sz="1600" u="none" cap="none" strike="noStrike">
              <a:solidFill>
                <a:schemeClr val="dk1"/>
              </a:solidFill>
              <a:latin typeface="Calibri"/>
              <a:ea typeface="Calibri"/>
              <a:cs typeface="Calibri"/>
              <a:sym typeface="Calibri"/>
            </a:endParaRPr>
          </a:p>
        </p:txBody>
      </p:sp>
      <p:sp>
        <p:nvSpPr>
          <p:cNvPr id="230" name="Google Shape;230;p9"/>
          <p:cNvSpPr txBox="1"/>
          <p:nvPr/>
        </p:nvSpPr>
        <p:spPr>
          <a:xfrm>
            <a:off x="9326880" y="2377440"/>
            <a:ext cx="23317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50"/>
              <a:buFont typeface="Calibri"/>
              <a:buNone/>
            </a:pPr>
            <a:r>
              <a:rPr b="0" i="0" lang="en-US" sz="1250" u="none" cap="none" strike="noStrike">
                <a:solidFill>
                  <a:schemeClr val="dk1"/>
                </a:solidFill>
                <a:latin typeface="Calibri"/>
                <a:ea typeface="Calibri"/>
                <a:cs typeface="Calibri"/>
                <a:sym typeface="Calibri"/>
              </a:rPr>
              <a:t>Trình đặc tả, giao diện ưu tiên (M2, hạn 10/5)</a:t>
            </a:r>
            <a:endParaRPr b="0" i="0" sz="1250" u="none" cap="none" strike="noStrike">
              <a:solidFill>
                <a:schemeClr val="dk1"/>
              </a:solidFill>
              <a:latin typeface="Calibri"/>
              <a:ea typeface="Calibri"/>
              <a:cs typeface="Calibri"/>
              <a:sym typeface="Calibri"/>
            </a:endParaRPr>
          </a:p>
        </p:txBody>
      </p:sp>
      <p:sp>
        <p:nvSpPr>
          <p:cNvPr id="231" name="Google Shape;231;p9"/>
          <p:cNvSpPr/>
          <p:nvPr/>
        </p:nvSpPr>
        <p:spPr>
          <a:xfrm>
            <a:off x="8915400" y="3200400"/>
            <a:ext cx="256032" cy="256032"/>
          </a:xfrm>
          <a:prstGeom prst="ellipse">
            <a:avLst/>
          </a:pr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9"/>
          <p:cNvSpPr txBox="1"/>
          <p:nvPr/>
        </p:nvSpPr>
        <p:spPr>
          <a:xfrm>
            <a:off x="9326880" y="3154680"/>
            <a:ext cx="22860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16/6</a:t>
            </a:r>
            <a:endParaRPr b="0" i="0" sz="1600" u="none" cap="none" strike="noStrike">
              <a:solidFill>
                <a:schemeClr val="dk1"/>
              </a:solidFill>
              <a:latin typeface="Calibri"/>
              <a:ea typeface="Calibri"/>
              <a:cs typeface="Calibri"/>
              <a:sym typeface="Calibri"/>
            </a:endParaRPr>
          </a:p>
        </p:txBody>
      </p:sp>
      <p:sp>
        <p:nvSpPr>
          <p:cNvPr id="233" name="Google Shape;233;p9"/>
          <p:cNvSpPr txBox="1"/>
          <p:nvPr/>
        </p:nvSpPr>
        <p:spPr>
          <a:xfrm>
            <a:off x="9326880" y="3474720"/>
            <a:ext cx="23317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50"/>
              <a:buFont typeface="Calibri"/>
              <a:buNone/>
            </a:pPr>
            <a:r>
              <a:rPr b="0" i="0" lang="en-US" sz="1250" u="none" cap="none" strike="noStrike">
                <a:solidFill>
                  <a:schemeClr val="dk1"/>
                </a:solidFill>
                <a:latin typeface="Calibri"/>
                <a:ea typeface="Calibri"/>
                <a:cs typeface="Calibri"/>
                <a:sym typeface="Calibri"/>
              </a:rPr>
              <a:t>Chức năng chính và tích hợp đạt (M3, M4)</a:t>
            </a:r>
            <a:endParaRPr b="0" i="0" sz="1250" u="none" cap="none" strike="noStrike">
              <a:solidFill>
                <a:schemeClr val="dk1"/>
              </a:solidFill>
              <a:latin typeface="Calibri"/>
              <a:ea typeface="Calibri"/>
              <a:cs typeface="Calibri"/>
              <a:sym typeface="Calibri"/>
            </a:endParaRPr>
          </a:p>
        </p:txBody>
      </p:sp>
      <p:sp>
        <p:nvSpPr>
          <p:cNvPr id="234" name="Google Shape;234;p9"/>
          <p:cNvSpPr/>
          <p:nvPr/>
        </p:nvSpPr>
        <p:spPr>
          <a:xfrm>
            <a:off x="8915400" y="4297680"/>
            <a:ext cx="256032" cy="256032"/>
          </a:xfrm>
          <a:prstGeom prst="ellipse">
            <a:avLst/>
          </a:pr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9"/>
          <p:cNvSpPr txBox="1"/>
          <p:nvPr/>
        </p:nvSpPr>
        <p:spPr>
          <a:xfrm>
            <a:off x="9326880" y="4251960"/>
            <a:ext cx="22860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29/6</a:t>
            </a:r>
            <a:endParaRPr b="0" i="0" sz="1600" u="none" cap="none" strike="noStrike">
              <a:solidFill>
                <a:schemeClr val="dk1"/>
              </a:solidFill>
              <a:latin typeface="Calibri"/>
              <a:ea typeface="Calibri"/>
              <a:cs typeface="Calibri"/>
              <a:sym typeface="Calibri"/>
            </a:endParaRPr>
          </a:p>
        </p:txBody>
      </p:sp>
      <p:sp>
        <p:nvSpPr>
          <p:cNvPr id="236" name="Google Shape;236;p9"/>
          <p:cNvSpPr txBox="1"/>
          <p:nvPr/>
        </p:nvSpPr>
        <p:spPr>
          <a:xfrm>
            <a:off x="9326880" y="4572000"/>
            <a:ext cx="23317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50"/>
              <a:buFont typeface="Calibri"/>
              <a:buNone/>
            </a:pPr>
            <a:r>
              <a:rPr b="0" i="0" lang="en-US" sz="1250" u="none" cap="none" strike="noStrike">
                <a:solidFill>
                  <a:schemeClr val="dk1"/>
                </a:solidFill>
                <a:latin typeface="Calibri"/>
                <a:ea typeface="Calibri"/>
                <a:cs typeface="Calibri"/>
                <a:sym typeface="Calibri"/>
              </a:rPr>
              <a:t>Hoàn thành UAT và kiểm thử vận hành (M5)</a:t>
            </a:r>
            <a:endParaRPr b="0" i="0" sz="1250" u="none" cap="none" strike="noStrike">
              <a:solidFill>
                <a:schemeClr val="dk1"/>
              </a:solidFill>
              <a:latin typeface="Calibri"/>
              <a:ea typeface="Calibri"/>
              <a:cs typeface="Calibri"/>
              <a:sym typeface="Calibri"/>
            </a:endParaRPr>
          </a:p>
        </p:txBody>
      </p:sp>
      <p:sp>
        <p:nvSpPr>
          <p:cNvPr id="237" name="Google Shape;237;p9"/>
          <p:cNvSpPr/>
          <p:nvPr/>
        </p:nvSpPr>
        <p:spPr>
          <a:xfrm>
            <a:off x="8915400" y="5394960"/>
            <a:ext cx="256032" cy="256032"/>
          </a:xfrm>
          <a:prstGeom prst="ellipse">
            <a:avLst/>
          </a:pr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9"/>
          <p:cNvSpPr txBox="1"/>
          <p:nvPr/>
        </p:nvSpPr>
        <p:spPr>
          <a:xfrm>
            <a:off x="9326880" y="5349240"/>
            <a:ext cx="22860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600"/>
              <a:buFont typeface="Calibri"/>
              <a:buNone/>
            </a:pPr>
            <a:r>
              <a:rPr b="1" i="0" lang="en-US" sz="1600" u="none" cap="none" strike="noStrike">
                <a:solidFill>
                  <a:schemeClr val="accent1"/>
                </a:solidFill>
                <a:latin typeface="Calibri"/>
                <a:ea typeface="Calibri"/>
                <a:cs typeface="Calibri"/>
                <a:sym typeface="Calibri"/>
              </a:rPr>
              <a:t>01/7</a:t>
            </a:r>
            <a:endParaRPr b="0" i="0" sz="1600" u="none" cap="none" strike="noStrike">
              <a:solidFill>
                <a:schemeClr val="dk1"/>
              </a:solidFill>
              <a:latin typeface="Calibri"/>
              <a:ea typeface="Calibri"/>
              <a:cs typeface="Calibri"/>
              <a:sym typeface="Calibri"/>
            </a:endParaRPr>
          </a:p>
        </p:txBody>
      </p:sp>
      <p:sp>
        <p:nvSpPr>
          <p:cNvPr id="239" name="Google Shape;239;p9"/>
          <p:cNvSpPr txBox="1"/>
          <p:nvPr/>
        </p:nvSpPr>
        <p:spPr>
          <a:xfrm>
            <a:off x="9326880" y="5669280"/>
            <a:ext cx="23317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50"/>
              <a:buFont typeface="Calibri"/>
              <a:buNone/>
            </a:pPr>
            <a:r>
              <a:rPr b="0" i="0" lang="en-US" sz="1250" u="none" cap="none" strike="noStrike">
                <a:solidFill>
                  <a:schemeClr val="dk1"/>
                </a:solidFill>
                <a:latin typeface="Calibri"/>
                <a:ea typeface="Calibri"/>
                <a:cs typeface="Calibri"/>
                <a:sym typeface="Calibri"/>
              </a:rPr>
              <a:t>Cut over, nghiệm thu, bàn giao (M6, M7)</a:t>
            </a:r>
            <a:endParaRPr b="0" i="0" sz="1250" u="none" cap="none" strike="noStrike">
              <a:solidFill>
                <a:schemeClr val="dk1"/>
              </a:solidFill>
              <a:latin typeface="Calibri"/>
              <a:ea typeface="Calibri"/>
              <a:cs typeface="Calibri"/>
              <a:sym typeface="Calibri"/>
            </a:endParaRPr>
          </a:p>
        </p:txBody>
      </p:sp>
      <p:sp>
        <p:nvSpPr>
          <p:cNvPr id="240" name="Google Shape;240;p9"/>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6F8189"/>
                </a:solidFill>
                <a:latin typeface="Calibri"/>
                <a:ea typeface="Calibri"/>
                <a:cs typeface="Calibri"/>
                <a:sym typeface="Calibri"/>
              </a:rPr>
              <a:t>‹#›</a:t>
            </a:fld>
            <a:endParaRPr b="0" i="0" sz="1000" u="none" cap="none" strike="noStrike">
              <a:solidFill>
                <a:srgbClr val="6F8189"/>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0"/>
          <p:cNvSpPr/>
          <p:nvPr/>
        </p:nvSpPr>
        <p:spPr>
          <a:xfrm>
            <a:off x="548640" y="329184"/>
            <a:ext cx="1298448"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3. Nhân sự</a:t>
            </a:r>
            <a:endParaRPr b="0" i="0" sz="1100" u="none" cap="none" strike="noStrike">
              <a:solidFill>
                <a:schemeClr val="dk1"/>
              </a:solidFill>
              <a:latin typeface="Arial"/>
              <a:ea typeface="Arial"/>
              <a:cs typeface="Arial"/>
              <a:sym typeface="Arial"/>
            </a:endParaRPr>
          </a:p>
        </p:txBody>
      </p:sp>
      <p:sp>
        <p:nvSpPr>
          <p:cNvPr id="247" name="Google Shape;247;p10"/>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lang="en-US" sz="2800">
                <a:solidFill>
                  <a:schemeClr val="dk2"/>
                </a:solidFill>
                <a:latin typeface="Arial"/>
                <a:ea typeface="Arial"/>
                <a:cs typeface="Arial"/>
                <a:sym typeface="Arial"/>
              </a:rPr>
              <a:t>Cơ cấu nhóm dự án</a:t>
            </a:r>
            <a:endParaRPr sz="2800">
              <a:latin typeface="Arial"/>
              <a:ea typeface="Arial"/>
              <a:cs typeface="Arial"/>
              <a:sym typeface="Arial"/>
            </a:endParaRPr>
          </a:p>
        </p:txBody>
      </p:sp>
      <p:graphicFrame>
        <p:nvGraphicFramePr>
          <p:cNvPr id="248" name="Google Shape;248;p10"/>
          <p:cNvGraphicFramePr/>
          <p:nvPr/>
        </p:nvGraphicFramePr>
        <p:xfrm>
          <a:off x="548640" y="1645920"/>
          <a:ext cx="3000000" cy="3000000"/>
        </p:xfrm>
        <a:graphic>
          <a:graphicData uri="http://schemas.openxmlformats.org/drawingml/2006/table">
            <a:tbl>
              <a:tblPr>
                <a:noFill/>
                <a:tableStyleId>{333A356F-784D-4884-A680-775E4A61AB1C}</a:tableStyleId>
              </a:tblPr>
              <a:tblGrid>
                <a:gridCol w="2148850"/>
                <a:gridCol w="2011675"/>
                <a:gridCol w="3154675"/>
                <a:gridCol w="822950"/>
              </a:tblGrid>
              <a:tr h="438900">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Thành viên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Vai trò trong dự án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Phạm vi phụ trách</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MD giao</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43890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Trần Bá Đạt</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PM kiêm kiến trúc sư</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Quản lý dự án (WBS 1), đặc tả và nghiệm thu</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63,33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43890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Phạm Tuấn Anh</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Backend</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Phân hệ thành viên, đặt hàng (WBS 4, 5)</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59</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43890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Vũ Đức Minh</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Frontend kiêm UX/UI</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Phân hệ tìm kiếm, thiết kế giao diện (WBS 3, 2.3)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50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43890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Ninh Đức Toàn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Backend kiêm DevOps</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CSDL, tích hợp, môi trường, cut over (WBS 6, 8)</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59</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43890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Nguyễn Thị Phương Liên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BA kiêm kiểm thử</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Đặc tả, kiểm thử hệ thống, UAT (WBS 2, 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68</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438900">
                <a:tc>
                  <a:txBody>
                    <a:bodyPr/>
                    <a:lstStyle/>
                    <a:p>
                      <a:pPr indent="0" lvl="0" marL="0" marR="0" rtl="0" algn="l">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Tổng nhóm chính</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5 người</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1300"/>
                        <a:buFont typeface="Calibri"/>
                        <a:buNone/>
                      </a:pPr>
                      <a:r>
                        <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299,33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r>
            </a:tbl>
          </a:graphicData>
        </a:graphic>
      </p:graphicFrame>
      <p:sp>
        <p:nvSpPr>
          <p:cNvPr id="249" name="Google Shape;249;p10"/>
          <p:cNvSpPr txBox="1"/>
          <p:nvPr/>
        </p:nvSpPr>
        <p:spPr>
          <a:xfrm>
            <a:off x="548640" y="4983480"/>
            <a:ext cx="8138160" cy="123444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Năm thành viên giữ 5 vị trí nhân sự chủ chốt theo Bảng số 02 của HSMT.</a:t>
            </a:r>
            <a:endParaRPr b="0" i="0" sz="1400" u="none" cap="none" strike="noStrike">
              <a:solidFill>
                <a:schemeClr val="dk1"/>
              </a:solidFill>
              <a:latin typeface="Arial"/>
              <a:ea typeface="Arial"/>
              <a:cs typeface="Arial"/>
              <a:sym typeface="Arial"/>
            </a:endParaRPr>
          </a:p>
          <a:p>
            <a:pPr indent="-177800" lvl="0" marL="177800" marR="0" rtl="0" algn="l">
              <a:lnSpc>
                <a:spcPct val="100000"/>
              </a:lnSpc>
              <a:spcBef>
                <a:spcPts val="6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Mỗi hạng mục WBS mức 1, mức 2 có đúng một người chịu trách nhiệm (RACI 38 dòng).</a:t>
            </a:r>
            <a:endParaRPr b="0" i="0" sz="1400" u="none" cap="none" strike="noStrike">
              <a:solidFill>
                <a:schemeClr val="dk1"/>
              </a:solidFill>
              <a:latin typeface="Arial"/>
              <a:ea typeface="Arial"/>
              <a:cs typeface="Arial"/>
              <a:sym typeface="Arial"/>
            </a:endParaRPr>
          </a:p>
          <a:p>
            <a:pPr indent="-177800" lvl="0" marL="177800" marR="0" rtl="0" algn="l">
              <a:lnSpc>
                <a:spcPct val="100000"/>
              </a:lnSpc>
              <a:spcBef>
                <a:spcPts val="6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MD giao theo người và sprint, không ô nào vượt quỹ.</a:t>
            </a:r>
            <a:endParaRPr b="0" i="0" sz="1400" u="none" cap="none" strike="noStrike">
              <a:solidFill>
                <a:schemeClr val="dk1"/>
              </a:solidFill>
              <a:latin typeface="Arial"/>
              <a:ea typeface="Arial"/>
              <a:cs typeface="Arial"/>
              <a:sym typeface="Arial"/>
            </a:endParaRPr>
          </a:p>
        </p:txBody>
      </p:sp>
      <p:sp>
        <p:nvSpPr>
          <p:cNvPr id="250" name="Google Shape;250;p10"/>
          <p:cNvSpPr/>
          <p:nvPr/>
        </p:nvSpPr>
        <p:spPr>
          <a:xfrm>
            <a:off x="9098280" y="1645920"/>
            <a:ext cx="2560320" cy="1280160"/>
          </a:xfrm>
          <a:prstGeom prst="roundRect">
            <a:avLst>
              <a:gd fmla="val 5714"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10"/>
          <p:cNvSpPr txBox="1"/>
          <p:nvPr/>
        </p:nvSpPr>
        <p:spPr>
          <a:xfrm>
            <a:off x="9281160" y="1783080"/>
            <a:ext cx="2240280" cy="518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400"/>
              <a:buFont typeface="Cambria"/>
              <a:buNone/>
            </a:pPr>
            <a:r>
              <a:rPr b="1" i="0" lang="en-US" sz="3400" u="none" cap="none" strike="noStrike">
                <a:solidFill>
                  <a:schemeClr val="dk2"/>
                </a:solidFill>
                <a:latin typeface="Arial"/>
                <a:ea typeface="Arial"/>
                <a:cs typeface="Arial"/>
                <a:sym typeface="Arial"/>
              </a:rPr>
              <a:t>365</a:t>
            </a:r>
            <a:endParaRPr b="0" i="0" sz="3400" u="none" cap="none" strike="noStrike">
              <a:solidFill>
                <a:schemeClr val="dk1"/>
              </a:solidFill>
              <a:latin typeface="Arial"/>
              <a:ea typeface="Arial"/>
              <a:cs typeface="Arial"/>
              <a:sym typeface="Arial"/>
            </a:endParaRPr>
          </a:p>
        </p:txBody>
      </p:sp>
      <p:sp>
        <p:nvSpPr>
          <p:cNvPr id="252" name="Google Shape;252;p10"/>
          <p:cNvSpPr txBox="1"/>
          <p:nvPr/>
        </p:nvSpPr>
        <p:spPr>
          <a:xfrm>
            <a:off x="9281160" y="2346960"/>
            <a:ext cx="22402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Calibri"/>
              <a:buNone/>
            </a:pPr>
            <a:r>
              <a:rPr b="0" i="0" lang="en-US" sz="1200" u="none" cap="none" strike="noStrike">
                <a:solidFill>
                  <a:schemeClr val="accent4"/>
                </a:solidFill>
                <a:latin typeface="Arial"/>
                <a:ea typeface="Arial"/>
                <a:cs typeface="Arial"/>
                <a:sym typeface="Arial"/>
              </a:rPr>
              <a:t>MD quỹ của 5 thành viên</a:t>
            </a:r>
            <a:endParaRPr b="0" i="0" sz="1200" u="none" cap="none" strike="noStrike">
              <a:solidFill>
                <a:schemeClr val="dk1"/>
              </a:solidFill>
              <a:latin typeface="Arial"/>
              <a:ea typeface="Arial"/>
              <a:cs typeface="Arial"/>
              <a:sym typeface="Arial"/>
            </a:endParaRPr>
          </a:p>
        </p:txBody>
      </p:sp>
      <p:sp>
        <p:nvSpPr>
          <p:cNvPr id="253" name="Google Shape;253;p10"/>
          <p:cNvSpPr/>
          <p:nvPr/>
        </p:nvSpPr>
        <p:spPr>
          <a:xfrm>
            <a:off x="9098280" y="3108960"/>
            <a:ext cx="2560320" cy="1280160"/>
          </a:xfrm>
          <a:prstGeom prst="roundRect">
            <a:avLst>
              <a:gd fmla="val 5714"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10"/>
          <p:cNvSpPr txBox="1"/>
          <p:nvPr/>
        </p:nvSpPr>
        <p:spPr>
          <a:xfrm>
            <a:off x="9281160" y="3246120"/>
            <a:ext cx="2240280" cy="518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2"/>
              </a:buClr>
              <a:buSzPts val="3400"/>
              <a:buFont typeface="Cambria"/>
              <a:buNone/>
            </a:pPr>
            <a:r>
              <a:rPr b="1" i="0" lang="en-US" sz="3400" u="none" cap="none" strike="noStrike">
                <a:solidFill>
                  <a:schemeClr val="accent2"/>
                </a:solidFill>
                <a:latin typeface="Arial"/>
                <a:ea typeface="Arial"/>
                <a:cs typeface="Arial"/>
                <a:sym typeface="Arial"/>
              </a:rPr>
              <a:t>299,33</a:t>
            </a:r>
            <a:endParaRPr b="0" i="0" sz="3400" u="none" cap="none" strike="noStrike">
              <a:solidFill>
                <a:schemeClr val="dk1"/>
              </a:solidFill>
              <a:latin typeface="Arial"/>
              <a:ea typeface="Arial"/>
              <a:cs typeface="Arial"/>
              <a:sym typeface="Arial"/>
            </a:endParaRPr>
          </a:p>
        </p:txBody>
      </p:sp>
      <p:sp>
        <p:nvSpPr>
          <p:cNvPr id="255" name="Google Shape;255;p10"/>
          <p:cNvSpPr txBox="1"/>
          <p:nvPr/>
        </p:nvSpPr>
        <p:spPr>
          <a:xfrm>
            <a:off x="9281160" y="3810000"/>
            <a:ext cx="22402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Calibri"/>
              <a:buNone/>
            </a:pPr>
            <a:r>
              <a:rPr b="0" i="0" lang="en-US" sz="1200" u="none" cap="none" strike="noStrike">
                <a:solidFill>
                  <a:schemeClr val="accent4"/>
                </a:solidFill>
                <a:latin typeface="Arial"/>
                <a:ea typeface="Arial"/>
                <a:cs typeface="Arial"/>
                <a:sym typeface="Arial"/>
              </a:rPr>
              <a:t>MD giao cho nhóm chính</a:t>
            </a:r>
            <a:endParaRPr b="0" i="0" sz="1200" u="none" cap="none" strike="noStrike">
              <a:solidFill>
                <a:schemeClr val="dk1"/>
              </a:solidFill>
              <a:latin typeface="Arial"/>
              <a:ea typeface="Arial"/>
              <a:cs typeface="Arial"/>
              <a:sym typeface="Arial"/>
            </a:endParaRPr>
          </a:p>
        </p:txBody>
      </p:sp>
      <p:sp>
        <p:nvSpPr>
          <p:cNvPr id="256" name="Google Shape;256;p10"/>
          <p:cNvSpPr/>
          <p:nvPr/>
        </p:nvSpPr>
        <p:spPr>
          <a:xfrm>
            <a:off x="9098280" y="4572000"/>
            <a:ext cx="2560320" cy="1280160"/>
          </a:xfrm>
          <a:prstGeom prst="roundRect">
            <a:avLst>
              <a:gd fmla="val 5714"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10"/>
          <p:cNvSpPr txBox="1"/>
          <p:nvPr/>
        </p:nvSpPr>
        <p:spPr>
          <a:xfrm>
            <a:off x="9281160" y="4709160"/>
            <a:ext cx="2240280" cy="518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3400"/>
              <a:buFont typeface="Cambria"/>
              <a:buNone/>
            </a:pPr>
            <a:r>
              <a:rPr b="1" i="0" lang="en-US" sz="3400" u="none" cap="none" strike="noStrike">
                <a:solidFill>
                  <a:schemeClr val="accent1"/>
                </a:solidFill>
                <a:latin typeface="Arial"/>
                <a:ea typeface="Arial"/>
                <a:cs typeface="Arial"/>
                <a:sym typeface="Arial"/>
              </a:rPr>
              <a:t>657</a:t>
            </a:r>
            <a:endParaRPr b="0" i="0" sz="3400" u="none" cap="none" strike="noStrike">
              <a:solidFill>
                <a:schemeClr val="dk1"/>
              </a:solidFill>
              <a:latin typeface="Arial"/>
              <a:ea typeface="Arial"/>
              <a:cs typeface="Arial"/>
              <a:sym typeface="Arial"/>
            </a:endParaRPr>
          </a:p>
        </p:txBody>
      </p:sp>
      <p:sp>
        <p:nvSpPr>
          <p:cNvPr id="258" name="Google Shape;258;p10"/>
          <p:cNvSpPr txBox="1"/>
          <p:nvPr/>
        </p:nvSpPr>
        <p:spPr>
          <a:xfrm>
            <a:off x="9281160" y="5273040"/>
            <a:ext cx="22402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Calibri"/>
              <a:buNone/>
            </a:pPr>
            <a:r>
              <a:rPr b="0" i="0" lang="en-US" sz="1200" u="none" cap="none" strike="noStrike">
                <a:solidFill>
                  <a:schemeClr val="accent4"/>
                </a:solidFill>
                <a:latin typeface="Arial"/>
                <a:ea typeface="Arial"/>
                <a:cs typeface="Arial"/>
                <a:sym typeface="Arial"/>
              </a:rPr>
              <a:t>MD cần thực hiện</a:t>
            </a:r>
            <a:endParaRPr b="0" i="0" sz="1200" u="none" cap="none" strike="noStrike">
              <a:solidFill>
                <a:schemeClr val="dk1"/>
              </a:solidFill>
              <a:latin typeface="Arial"/>
              <a:ea typeface="Arial"/>
              <a:cs typeface="Arial"/>
              <a:sym typeface="Arial"/>
            </a:endParaRPr>
          </a:p>
        </p:txBody>
      </p:sp>
      <p:sp>
        <p:nvSpPr>
          <p:cNvPr id="259" name="Google Shape;259;p10"/>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i="0" lang="en-US" sz="1000" u="none" cap="none" strike="noStrike">
                <a:solidFill>
                  <a:srgbClr val="6F8189"/>
                </a:solidFill>
                <a:latin typeface="Arial"/>
                <a:ea typeface="Arial"/>
                <a:cs typeface="Arial"/>
                <a:sym typeface="Arial"/>
              </a:rPr>
              <a:t>‹#›</a:t>
            </a:fld>
            <a:endParaRPr i="0" sz="1000" u="none" cap="none" strike="noStrike">
              <a:solidFill>
                <a:srgbClr val="6F8189"/>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1"/>
          <p:cNvSpPr/>
          <p:nvPr/>
        </p:nvSpPr>
        <p:spPr>
          <a:xfrm>
            <a:off x="548640" y="329184"/>
            <a:ext cx="1298448"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3. Nhân sự</a:t>
            </a:r>
            <a:endParaRPr b="0" i="0" sz="1100" u="none" cap="none" strike="noStrike">
              <a:solidFill>
                <a:schemeClr val="dk1"/>
              </a:solidFill>
              <a:latin typeface="Calibri"/>
              <a:ea typeface="Calibri"/>
              <a:cs typeface="Calibri"/>
              <a:sym typeface="Calibri"/>
            </a:endParaRPr>
          </a:p>
        </p:txBody>
      </p:sp>
      <p:sp>
        <p:nvSpPr>
          <p:cNvPr id="266" name="Google Shape;266;p11"/>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b="1" lang="en-US" sz="2800">
                <a:solidFill>
                  <a:schemeClr val="dk2"/>
                </a:solidFill>
              </a:rPr>
              <a:t>Nhân sự bổ sung và cân đối năng lực</a:t>
            </a:r>
            <a:endParaRPr sz="2800"/>
          </a:p>
        </p:txBody>
      </p:sp>
      <p:graphicFrame>
        <p:nvGraphicFramePr>
          <p:cNvPr id="267" name="Google Shape;267;p11"/>
          <p:cNvGraphicFramePr/>
          <p:nvPr/>
        </p:nvGraphicFramePr>
        <p:xfrm>
          <a:off x="548640" y="1645920"/>
          <a:ext cx="3000000" cy="3044952"/>
        </p:xfrm>
        <a:graphic>
          <a:graphicData uri="http://schemas.openxmlformats.org/drawingml/2006/table">
            <a:tbl>
              <a:tblPr>
                <a:noFill/>
                <a:tableStyleId>{333A356F-784D-4884-A680-775E4A61AB1C}</a:tableStyleId>
              </a:tblPr>
              <a:tblGrid>
                <a:gridCol w="594350"/>
                <a:gridCol w="3611875"/>
                <a:gridCol w="1005850"/>
                <a:gridCol w="822950"/>
              </a:tblGrid>
              <a:tr h="338328">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Mã</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Vai trò dự kiến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Tham gia</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MD giao</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338328">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K</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Kiến trúc sư kiêm BA, rà soát bảo mật</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S1-S7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55,67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38328">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D1</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Frontend kiêm backend, sửa lỗi, UAT</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S2-S7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51</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38328">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D2</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Backend, API và kiểm thử hiệu năng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S2-S7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53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38328">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D3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Backend kiêm DevOps, giám sát</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S2-S7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56</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38328">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Q1</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Kiểm thử kỹ thuật, tự động, dữ liệu giả lập</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S2-S7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45</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38328">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Q2</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Kiểm thử chức năng, hiệu năng, an toàn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S3-S7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48</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38328">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D4</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Backend kiêm DevOps, chuyển đổi, cut over</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S3-S7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49</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38328">
                <a:tc>
                  <a:txBody>
                    <a:bodyPr/>
                    <a:lstStyle/>
                    <a:p>
                      <a:pPr indent="0" lvl="0" marL="0" marR="0" rtl="0" algn="l">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Tổng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7 vị trí bổ sung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1300"/>
                        <a:buFont typeface="Calibri"/>
                        <a:buNone/>
                      </a:pPr>
                      <a:r>
                        <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357,67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r>
            </a:tbl>
          </a:graphicData>
        </a:graphic>
      </p:graphicFrame>
      <p:sp>
        <p:nvSpPr>
          <p:cNvPr id="268" name="Google Shape;268;p11"/>
          <p:cNvSpPr txBox="1"/>
          <p:nvPr/>
        </p:nvSpPr>
        <p:spPr>
          <a:xfrm>
            <a:off x="548640" y="5257800"/>
            <a:ext cx="6035040" cy="100584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chemeClr val="dk1"/>
              </a:buClr>
              <a:buSzPts val="1350"/>
              <a:buFont typeface="Calibri"/>
              <a:buChar char="•"/>
            </a:pPr>
            <a:r>
              <a:rPr b="0" i="0" lang="en-US" sz="1350" u="none" cap="none" strike="noStrike">
                <a:solidFill>
                  <a:schemeClr val="dk1"/>
                </a:solidFill>
                <a:latin typeface="Calibri"/>
                <a:ea typeface="Calibri"/>
                <a:cs typeface="Calibri"/>
                <a:sym typeface="Calibri"/>
              </a:rPr>
              <a:t>Quỹ huy động 796 MD, khối lượng giao 657 MD (82,5%).</a:t>
            </a:r>
            <a:endParaRPr b="0" i="0" sz="135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350"/>
              <a:buFont typeface="Calibri"/>
              <a:buChar char="•"/>
            </a:pPr>
            <a:r>
              <a:rPr b="0" i="0" lang="en-US" sz="1350" u="none" cap="none" strike="noStrike">
                <a:solidFill>
                  <a:schemeClr val="dk1"/>
                </a:solidFill>
                <a:latin typeface="Calibri"/>
                <a:ea typeface="Calibri"/>
                <a:cs typeface="Calibri"/>
                <a:sym typeface="Calibri"/>
              </a:rPr>
              <a:t>Ngày sẵn sàng 139 MD không tính lương (trả theo công sức).</a:t>
            </a:r>
            <a:endParaRPr b="0" i="0" sz="135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350"/>
              <a:buFont typeface="Calibri"/>
              <a:buChar char="•"/>
            </a:pPr>
            <a:r>
              <a:rPr b="0" i="0" lang="en-US" sz="1350" u="none" cap="none" strike="noStrike">
                <a:solidFill>
                  <a:schemeClr val="dk1"/>
                </a:solidFill>
                <a:latin typeface="Calibri"/>
                <a:ea typeface="Calibri"/>
                <a:cs typeface="Calibri"/>
                <a:sym typeface="Calibri"/>
              </a:rPr>
              <a:t>MD giao mỗi người không vượt quỹ của sprint.</a:t>
            </a:r>
            <a:endParaRPr b="0" i="0" sz="1350" u="none" cap="none" strike="noStrike">
              <a:solidFill>
                <a:schemeClr val="dk1"/>
              </a:solidFill>
              <a:latin typeface="Calibri"/>
              <a:ea typeface="Calibri"/>
              <a:cs typeface="Calibri"/>
              <a:sym typeface="Calibri"/>
            </a:endParaRPr>
          </a:p>
        </p:txBody>
      </p:sp>
      <p:graphicFrame>
        <p:nvGraphicFramePr>
          <p:cNvPr id="269" name="Google Shape;269;p11"/>
          <p:cNvGraphicFramePr/>
          <p:nvPr/>
        </p:nvGraphicFramePr>
        <p:xfrm>
          <a:off x="6903720" y="1600200"/>
          <a:ext cx="4754880" cy="3840480"/>
        </p:xfrm>
        <a:graphic>
          <a:graphicData uri="http://schemas.openxmlformats.org/drawingml/2006/chart">
            <c:chart r:id="rId3"/>
          </a:graphicData>
        </a:graphic>
      </p:graphicFrame>
      <p:sp>
        <p:nvSpPr>
          <p:cNvPr id="270" name="Google Shape;270;p11"/>
          <p:cNvSpPr txBox="1"/>
          <p:nvPr/>
        </p:nvSpPr>
        <p:spPr>
          <a:xfrm>
            <a:off x="6903720" y="5577840"/>
            <a:ext cx="475488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300"/>
              <a:buFont typeface="Calibri"/>
              <a:buNone/>
            </a:pPr>
            <a:r>
              <a:rPr b="0" i="1" lang="en-US" sz="1300" u="none" cap="none" strike="noStrike">
                <a:solidFill>
                  <a:schemeClr val="accent4"/>
                </a:solidFill>
                <a:latin typeface="Calibri"/>
                <a:ea typeface="Calibri"/>
                <a:cs typeface="Calibri"/>
                <a:sym typeface="Calibri"/>
              </a:rPr>
              <a:t>Quy mô: 6 người ở S1, 10 người ở S2, 12 người ở S3-S7.</a:t>
            </a:r>
            <a:endParaRPr b="0" i="0" sz="1300" u="none" cap="none" strike="noStrike">
              <a:solidFill>
                <a:schemeClr val="dk1"/>
              </a:solidFill>
              <a:latin typeface="Calibri"/>
              <a:ea typeface="Calibri"/>
              <a:cs typeface="Calibri"/>
              <a:sym typeface="Calibri"/>
            </a:endParaRPr>
          </a:p>
        </p:txBody>
      </p:sp>
      <p:sp>
        <p:nvSpPr>
          <p:cNvPr id="271" name="Google Shape;271;p11"/>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6F8189"/>
                </a:solidFill>
                <a:latin typeface="Calibri"/>
                <a:ea typeface="Calibri"/>
                <a:cs typeface="Calibri"/>
                <a:sym typeface="Calibri"/>
              </a:rPr>
              <a:t>‹#›</a:t>
            </a:fld>
            <a:endParaRPr b="0" i="0" sz="1000" u="none" cap="none" strike="noStrike">
              <a:solidFill>
                <a:srgbClr val="6F8189"/>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2"/>
          <p:cNvSpPr/>
          <p:nvPr/>
        </p:nvSpPr>
        <p:spPr>
          <a:xfrm>
            <a:off x="548640" y="329184"/>
            <a:ext cx="1466698"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4. Ước lượng</a:t>
            </a:r>
            <a:endParaRPr b="0" i="0" sz="1100" u="none" cap="none" strike="noStrike">
              <a:solidFill>
                <a:schemeClr val="dk1"/>
              </a:solidFill>
              <a:latin typeface="Arial"/>
              <a:ea typeface="Arial"/>
              <a:cs typeface="Arial"/>
              <a:sym typeface="Arial"/>
            </a:endParaRPr>
          </a:p>
        </p:txBody>
      </p:sp>
      <p:sp>
        <p:nvSpPr>
          <p:cNvPr id="278" name="Google Shape;278;p12"/>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lang="en-US" sz="2800">
                <a:solidFill>
                  <a:schemeClr val="dk2"/>
                </a:solidFill>
                <a:latin typeface="Arial"/>
                <a:ea typeface="Arial"/>
                <a:cs typeface="Arial"/>
                <a:sym typeface="Arial"/>
              </a:rPr>
              <a:t>Ước lượng nỗ lực theo loại công việc</a:t>
            </a:r>
            <a:endParaRPr sz="2800">
              <a:latin typeface="Arial"/>
              <a:ea typeface="Arial"/>
              <a:cs typeface="Arial"/>
              <a:sym typeface="Arial"/>
            </a:endParaRPr>
          </a:p>
        </p:txBody>
      </p:sp>
      <p:sp>
        <p:nvSpPr>
          <p:cNvPr id="279" name="Google Shape;279;p12"/>
          <p:cNvSpPr/>
          <p:nvPr/>
        </p:nvSpPr>
        <p:spPr>
          <a:xfrm>
            <a:off x="548640" y="1572768"/>
            <a:ext cx="3566160" cy="502920"/>
          </a:xfrm>
          <a:prstGeom prst="roundRect">
            <a:avLst>
              <a:gd fmla="val 14545" name="adj"/>
            </a:avLst>
          </a:prstGeom>
          <a:solidFill>
            <a:schemeClr val="lt2"/>
          </a:solidFill>
          <a:ln cap="flat" cmpd="sng" w="9525">
            <a:solidFill>
              <a:schemeClr val="lt2"/>
            </a:solidFill>
            <a:prstDash val="solid"/>
            <a:round/>
            <a:headEnd len="sm" w="sm" type="none"/>
            <a:tailEnd len="sm" w="sm" type="none"/>
          </a:ln>
        </p:spPr>
        <p:txBody>
          <a:bodyPr anchorCtr="0" anchor="ctr" bIns="625" lIns="625" spcFirstLastPara="1" rIns="625" wrap="square" tIns="625">
            <a:noAutofit/>
          </a:bodyPr>
          <a:lstStyle/>
          <a:p>
            <a:pPr indent="0" lvl="0" marL="0" marR="0" rtl="0" algn="ctr">
              <a:lnSpc>
                <a:spcPct val="100000"/>
              </a:lnSpc>
              <a:spcBef>
                <a:spcPts val="0"/>
              </a:spcBef>
              <a:spcAft>
                <a:spcPts val="0"/>
              </a:spcAft>
              <a:buClr>
                <a:schemeClr val="dk2"/>
              </a:buClr>
              <a:buSzPts val="1300"/>
              <a:buFont typeface="Calibri"/>
              <a:buNone/>
            </a:pPr>
            <a:r>
              <a:rPr b="1" i="0" lang="en-US" sz="1300" u="none" cap="none" strike="noStrike">
                <a:solidFill>
                  <a:schemeClr val="dk2"/>
                </a:solidFill>
                <a:latin typeface="Arial"/>
                <a:ea typeface="Arial"/>
                <a:cs typeface="Arial"/>
                <a:sym typeface="Arial"/>
              </a:rPr>
              <a:t>106 chức năng và 25 đầu việc phi chức năng</a:t>
            </a:r>
            <a:endParaRPr b="0" i="0" sz="1300" u="none" cap="none" strike="noStrike">
              <a:solidFill>
                <a:schemeClr val="dk1"/>
              </a:solidFill>
              <a:latin typeface="Arial"/>
              <a:ea typeface="Arial"/>
              <a:cs typeface="Arial"/>
              <a:sym typeface="Arial"/>
            </a:endParaRPr>
          </a:p>
        </p:txBody>
      </p:sp>
      <p:sp>
        <p:nvSpPr>
          <p:cNvPr id="280" name="Google Shape;280;p12"/>
          <p:cNvSpPr/>
          <p:nvPr/>
        </p:nvSpPr>
        <p:spPr>
          <a:xfrm>
            <a:off x="4297680" y="1572768"/>
            <a:ext cx="3566160" cy="502920"/>
          </a:xfrm>
          <a:prstGeom prst="roundRect">
            <a:avLst>
              <a:gd fmla="val 14545" name="adj"/>
            </a:avLst>
          </a:prstGeom>
          <a:solidFill>
            <a:schemeClr val="lt2"/>
          </a:solidFill>
          <a:ln cap="flat" cmpd="sng" w="9525">
            <a:solidFill>
              <a:schemeClr val="lt2"/>
            </a:solidFill>
            <a:prstDash val="solid"/>
            <a:round/>
            <a:headEnd len="sm" w="sm" type="none"/>
            <a:tailEnd len="sm" w="sm" type="none"/>
          </a:ln>
        </p:spPr>
        <p:txBody>
          <a:bodyPr anchorCtr="0" anchor="ctr" bIns="625" lIns="625" spcFirstLastPara="1" rIns="625" wrap="square" tIns="625">
            <a:noAutofit/>
          </a:bodyPr>
          <a:lstStyle/>
          <a:p>
            <a:pPr indent="0" lvl="0" marL="0" marR="0" rtl="0" algn="ctr">
              <a:lnSpc>
                <a:spcPct val="100000"/>
              </a:lnSpc>
              <a:spcBef>
                <a:spcPts val="0"/>
              </a:spcBef>
              <a:spcAft>
                <a:spcPts val="0"/>
              </a:spcAft>
              <a:buClr>
                <a:schemeClr val="dk2"/>
              </a:buClr>
              <a:buSzPts val="1300"/>
              <a:buFont typeface="Calibri"/>
              <a:buNone/>
            </a:pPr>
            <a:r>
              <a:rPr b="1" i="0" lang="en-US" sz="1300" u="none" cap="none" strike="noStrike">
                <a:solidFill>
                  <a:schemeClr val="dk2"/>
                </a:solidFill>
                <a:latin typeface="Arial"/>
                <a:ea typeface="Arial"/>
                <a:cs typeface="Arial"/>
                <a:sym typeface="Arial"/>
              </a:rPr>
              <a:t>Sau hiệu chỉnh 657 MD (550,3 và 106,7)</a:t>
            </a:r>
            <a:endParaRPr b="0" i="0" sz="1300" u="none" cap="none" strike="noStrike">
              <a:solidFill>
                <a:schemeClr val="dk1"/>
              </a:solidFill>
              <a:latin typeface="Arial"/>
              <a:ea typeface="Arial"/>
              <a:cs typeface="Arial"/>
              <a:sym typeface="Arial"/>
            </a:endParaRPr>
          </a:p>
        </p:txBody>
      </p:sp>
      <p:sp>
        <p:nvSpPr>
          <p:cNvPr id="281" name="Google Shape;281;p12"/>
          <p:cNvSpPr/>
          <p:nvPr/>
        </p:nvSpPr>
        <p:spPr>
          <a:xfrm>
            <a:off x="8046720" y="1572768"/>
            <a:ext cx="3566160" cy="502920"/>
          </a:xfrm>
          <a:prstGeom prst="roundRect">
            <a:avLst>
              <a:gd fmla="val 14545" name="adj"/>
            </a:avLst>
          </a:prstGeom>
          <a:solidFill>
            <a:schemeClr val="lt2"/>
          </a:solidFill>
          <a:ln cap="flat" cmpd="sng" w="9525">
            <a:solidFill>
              <a:schemeClr val="lt2"/>
            </a:solidFill>
            <a:prstDash val="solid"/>
            <a:round/>
            <a:headEnd len="sm" w="sm" type="none"/>
            <a:tailEnd len="sm" w="sm" type="none"/>
          </a:ln>
        </p:spPr>
        <p:txBody>
          <a:bodyPr anchorCtr="0" anchor="ctr" bIns="625" lIns="625" spcFirstLastPara="1" rIns="625" wrap="square" tIns="625">
            <a:noAutofit/>
          </a:bodyPr>
          <a:lstStyle/>
          <a:p>
            <a:pPr indent="0" lvl="0" marL="0" marR="0" rtl="0" algn="ctr">
              <a:lnSpc>
                <a:spcPct val="100000"/>
              </a:lnSpc>
              <a:spcBef>
                <a:spcPts val="0"/>
              </a:spcBef>
              <a:spcAft>
                <a:spcPts val="0"/>
              </a:spcAft>
              <a:buClr>
                <a:schemeClr val="dk2"/>
              </a:buClr>
              <a:buSzPts val="1300"/>
              <a:buFont typeface="Calibri"/>
              <a:buNone/>
            </a:pPr>
            <a:r>
              <a:rPr b="1" i="0" lang="en-US" sz="1300" u="none" cap="none" strike="noStrike">
                <a:solidFill>
                  <a:schemeClr val="dk2"/>
                </a:solidFill>
                <a:latin typeface="Arial"/>
                <a:ea typeface="Arial"/>
                <a:cs typeface="Arial"/>
                <a:sym typeface="Arial"/>
              </a:rPr>
              <a:t>5.256 giờ, tương đương 32,85 MM</a:t>
            </a:r>
            <a:endParaRPr b="0" i="0" sz="1300" u="none" cap="none" strike="noStrike">
              <a:solidFill>
                <a:schemeClr val="dk1"/>
              </a:solidFill>
              <a:latin typeface="Arial"/>
              <a:ea typeface="Arial"/>
              <a:cs typeface="Arial"/>
              <a:sym typeface="Arial"/>
            </a:endParaRPr>
          </a:p>
        </p:txBody>
      </p:sp>
      <p:graphicFrame>
        <p:nvGraphicFramePr>
          <p:cNvPr id="282" name="Google Shape;282;p12"/>
          <p:cNvGraphicFramePr/>
          <p:nvPr/>
        </p:nvGraphicFramePr>
        <p:xfrm>
          <a:off x="548640" y="2212848"/>
          <a:ext cx="3000000" cy="3000000"/>
        </p:xfrm>
        <a:graphic>
          <a:graphicData uri="http://schemas.openxmlformats.org/drawingml/2006/table">
            <a:tbl>
              <a:tblPr>
                <a:noFill/>
                <a:tableStyleId>{333A356F-784D-4884-A680-775E4A61AB1C}</a:tableStyleId>
              </a:tblPr>
              <a:tblGrid>
                <a:gridCol w="1554475"/>
                <a:gridCol w="1097275"/>
                <a:gridCol w="2651750"/>
                <a:gridCol w="1737350"/>
                <a:gridCol w="4023350"/>
              </a:tblGrid>
              <a:tr h="301750">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Loại công việc</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MD</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Đơn giá trọn gói, triệu đồng/MM</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Chi phí, triệu đồng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Người đảm nhiệm chính</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3017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PM</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49,00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55</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134,75</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Đạt</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BA</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90,00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43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193,50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K, Liên, Đạt</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Tester/QA</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160,00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40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320,00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Q2, Q1, Liên, Toàn, Minh</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Dev</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318,00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42</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667,80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Tuấn Anh, D1-D4, Minh, Toàn, K, Đạt</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DevOps</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40,00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52</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104,00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D3, D4, Toàn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Tổng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657,00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300"/>
                        <a:buFont typeface="Calibri"/>
                        <a:buNone/>
                      </a:pPr>
                      <a:r>
                        <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1.420,05</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12 người</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r>
            </a:tbl>
          </a:graphicData>
        </a:graphic>
      </p:graphicFrame>
      <p:graphicFrame>
        <p:nvGraphicFramePr>
          <p:cNvPr id="283" name="Google Shape;283;p12"/>
          <p:cNvGraphicFramePr/>
          <p:nvPr/>
        </p:nvGraphicFramePr>
        <p:xfrm>
          <a:off x="548640" y="4498848"/>
          <a:ext cx="11064250" cy="3000000"/>
        </p:xfrm>
        <a:graphic>
          <a:graphicData uri="http://schemas.openxmlformats.org/drawingml/2006/table">
            <a:tbl>
              <a:tblPr>
                <a:noFill/>
                <a:tableStyleId>{333A356F-784D-4884-A680-775E4A61AB1C}</a:tableStyleId>
              </a:tblPr>
              <a:tblGrid>
                <a:gridCol w="2651760"/>
                <a:gridCol w="1463050"/>
                <a:gridCol w="5943600"/>
                <a:gridCol w="1005840"/>
              </a:tblGrid>
              <a:tr h="301750">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Nhóm công việc</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Nhu cầu, MD</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Người thực hiện, MD giao</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Số người</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3017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Quản lý dự án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49,00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Đạt 49</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1</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Phân tích và kiểm thử (BA + QA)</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250,00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Liên 68, Q2 48, Q1 45, K 40,67, Toàn 24, Minh 14, Đạt 10,33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Phát triển (Dev + DevOps)</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358,00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Tuấn Anh 59, D3 56, D2 53, D1 51, D4 49, Minh 36, Toàn 35, K 15, Đạt 4</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9</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bl>
          </a:graphicData>
        </a:graphic>
      </p:graphicFrame>
      <p:sp>
        <p:nvSpPr>
          <p:cNvPr id="284" name="Google Shape;284;p12"/>
          <p:cNvSpPr txBox="1"/>
          <p:nvPr/>
        </p:nvSpPr>
        <p:spPr>
          <a:xfrm>
            <a:off x="548640" y="5852160"/>
            <a:ext cx="11064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50"/>
              <a:buFont typeface="Calibri"/>
              <a:buNone/>
            </a:pPr>
            <a:r>
              <a:rPr b="0" i="0" lang="en-US" sz="1250" u="none" cap="none" strike="noStrike">
                <a:solidFill>
                  <a:schemeClr val="dk1"/>
                </a:solidFill>
                <a:latin typeface="Arial"/>
                <a:ea typeface="Arial"/>
                <a:cs typeface="Arial"/>
                <a:sym typeface="Arial"/>
              </a:rPr>
              <a:t>Dòng dự toán là loại công việc, không phải chức danh: một người có thể làm nhiều loại công việc. Chi phí mỗi dòng bằng MD chia 20, nhân đơn giá MM.</a:t>
            </a:r>
            <a:endParaRPr b="0" i="0" sz="1250" u="none" cap="none" strike="noStrike">
              <a:solidFill>
                <a:schemeClr val="dk1"/>
              </a:solidFill>
              <a:latin typeface="Arial"/>
              <a:ea typeface="Arial"/>
              <a:cs typeface="Arial"/>
              <a:sym typeface="Arial"/>
            </a:endParaRPr>
          </a:p>
        </p:txBody>
      </p:sp>
      <p:sp>
        <p:nvSpPr>
          <p:cNvPr id="285" name="Google Shape;285;p12"/>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i="0" lang="en-US" sz="1000" u="none" cap="none" strike="noStrike">
                <a:solidFill>
                  <a:srgbClr val="6F8189"/>
                </a:solidFill>
                <a:latin typeface="Arial"/>
                <a:ea typeface="Arial"/>
                <a:cs typeface="Arial"/>
                <a:sym typeface="Arial"/>
              </a:rPr>
              <a:t>‹#›</a:t>
            </a:fld>
            <a:endParaRPr i="0" sz="1000" u="none" cap="none" strike="noStrike">
              <a:solidFill>
                <a:srgbClr val="6F8189"/>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3"/>
          <p:cNvSpPr/>
          <p:nvPr/>
        </p:nvSpPr>
        <p:spPr>
          <a:xfrm>
            <a:off x="548640" y="329184"/>
            <a:ext cx="1298448"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5. Chi phí</a:t>
            </a:r>
            <a:endParaRPr b="0" i="0" sz="1100" u="none" cap="none" strike="noStrike">
              <a:solidFill>
                <a:schemeClr val="dk1"/>
              </a:solidFill>
              <a:latin typeface="Calibri"/>
              <a:ea typeface="Calibri"/>
              <a:cs typeface="Calibri"/>
              <a:sym typeface="Calibri"/>
            </a:endParaRPr>
          </a:p>
        </p:txBody>
      </p:sp>
      <p:sp>
        <p:nvSpPr>
          <p:cNvPr id="292" name="Google Shape;292;p13"/>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b="1" lang="en-US" sz="2800">
                <a:solidFill>
                  <a:schemeClr val="dk2"/>
                </a:solidFill>
              </a:rPr>
              <a:t>Dự toán chi phí và giá chào</a:t>
            </a:r>
            <a:endParaRPr sz="2800"/>
          </a:p>
        </p:txBody>
      </p:sp>
      <p:graphicFrame>
        <p:nvGraphicFramePr>
          <p:cNvPr id="293" name="Google Shape;293;p13"/>
          <p:cNvGraphicFramePr/>
          <p:nvPr/>
        </p:nvGraphicFramePr>
        <p:xfrm>
          <a:off x="548640" y="1645920"/>
          <a:ext cx="3000000" cy="3000000"/>
        </p:xfrm>
        <a:graphic>
          <a:graphicData uri="http://schemas.openxmlformats.org/drawingml/2006/table">
            <a:tbl>
              <a:tblPr>
                <a:noFill/>
                <a:tableStyleId>{333A356F-784D-4884-A680-775E4A61AB1C}</a:tableStyleId>
              </a:tblPr>
              <a:tblGrid>
                <a:gridCol w="4206250"/>
                <a:gridCol w="1280150"/>
              </a:tblGrid>
              <a:tr h="329175">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Khoản mục</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Triệu đồng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329175">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A - Nhân công theo loại công việc</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1.420,05</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29175">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B - Môi trường, công cụ, bảo hành 12 tháng và dự phòng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150,00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29175">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Chi phí đã biết (A + B)</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1.570,05</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29175">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C - Chi phí chung và lợi nhuận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179,95</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29175">
                <a:tc>
                  <a:txBody>
                    <a:bodyPr/>
                    <a:lstStyle/>
                    <a:p>
                      <a:pPr indent="0" lvl="0" marL="0" marR="0" rtl="0" algn="l">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Giá chào trọn gói (A + B + C)</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1.750,00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r>
            </a:tbl>
          </a:graphicData>
        </a:graphic>
      </p:graphicFrame>
      <p:sp>
        <p:nvSpPr>
          <p:cNvPr id="294" name="Google Shape;294;p13"/>
          <p:cNvSpPr txBox="1"/>
          <p:nvPr/>
        </p:nvSpPr>
        <p:spPr>
          <a:xfrm>
            <a:off x="548640" y="3794760"/>
            <a:ext cx="5486400"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Đối chiếu dòng A với chi phí lương theo công sức</a:t>
            </a:r>
            <a:endParaRPr b="0" i="0" sz="1300" u="none" cap="none" strike="noStrike">
              <a:solidFill>
                <a:schemeClr val="dk1"/>
              </a:solidFill>
              <a:latin typeface="Calibri"/>
              <a:ea typeface="Calibri"/>
              <a:cs typeface="Calibri"/>
              <a:sym typeface="Calibri"/>
            </a:endParaRPr>
          </a:p>
        </p:txBody>
      </p:sp>
      <p:graphicFrame>
        <p:nvGraphicFramePr>
          <p:cNvPr id="295" name="Google Shape;295;p13"/>
          <p:cNvGraphicFramePr/>
          <p:nvPr/>
        </p:nvGraphicFramePr>
        <p:xfrm>
          <a:off x="548640" y="4114800"/>
          <a:ext cx="3000000" cy="3000000"/>
        </p:xfrm>
        <a:graphic>
          <a:graphicData uri="http://schemas.openxmlformats.org/drawingml/2006/table">
            <a:tbl>
              <a:tblPr>
                <a:noFill/>
                <a:tableStyleId>{333A356F-784D-4884-A680-775E4A61AB1C}</a:tableStyleId>
              </a:tblPr>
              <a:tblGrid>
                <a:gridCol w="2194550"/>
                <a:gridCol w="1188725"/>
                <a:gridCol w="2103125"/>
              </a:tblGrid>
              <a:tr h="310900">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Nhóm nhân sự</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MD tính lương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Triệu đồng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31090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5 thành viên nhóm</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299,33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561,69</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1090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7 vị trí bổ sung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357,67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624,15</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10900">
                <a:tc>
                  <a:txBody>
                    <a:bodyPr/>
                    <a:lstStyle/>
                    <a:p>
                      <a:pPr indent="0" lvl="0" marL="0" marR="0" rtl="0" algn="l">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Tổng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657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1.185,84</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r>
            </a:tbl>
          </a:graphicData>
        </a:graphic>
      </p:graphicFrame>
      <p:sp>
        <p:nvSpPr>
          <p:cNvPr id="296" name="Google Shape;296;p13"/>
          <p:cNvSpPr txBox="1"/>
          <p:nvPr/>
        </p:nvSpPr>
        <p:spPr>
          <a:xfrm>
            <a:off x="548640" y="5532120"/>
            <a:ext cx="54864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150"/>
              <a:buFont typeface="Calibri"/>
              <a:buNone/>
            </a:pPr>
            <a:r>
              <a:rPr b="0" i="1" lang="en-US" sz="1150" u="none" cap="none" strike="noStrike">
                <a:solidFill>
                  <a:schemeClr val="accent4"/>
                </a:solidFill>
                <a:latin typeface="Calibri"/>
                <a:ea typeface="Calibri"/>
                <a:cs typeface="Calibri"/>
                <a:sym typeface="Calibri"/>
              </a:rPr>
              <a:t>Lương tham chiếu: trung vị ITviec 2025-2026 theo vị trí, hệ số bảo hiểm 1,235, 22 ngày mỗi tháng. Không phải lương thực tế của từng người.</a:t>
            </a:r>
            <a:endParaRPr b="0" i="0" sz="1150" u="none" cap="none" strike="noStrike">
              <a:solidFill>
                <a:schemeClr val="dk1"/>
              </a:solidFill>
              <a:latin typeface="Calibri"/>
              <a:ea typeface="Calibri"/>
              <a:cs typeface="Calibri"/>
              <a:sym typeface="Calibri"/>
            </a:endParaRPr>
          </a:p>
        </p:txBody>
      </p:sp>
      <p:graphicFrame>
        <p:nvGraphicFramePr>
          <p:cNvPr id="297" name="Google Shape;297;p13"/>
          <p:cNvGraphicFramePr/>
          <p:nvPr/>
        </p:nvGraphicFramePr>
        <p:xfrm>
          <a:off x="6309360" y="1600200"/>
          <a:ext cx="5349240" cy="2834640"/>
        </p:xfrm>
        <a:graphic>
          <a:graphicData uri="http://schemas.openxmlformats.org/drawingml/2006/chart">
            <c:chart r:id="rId3"/>
          </a:graphicData>
        </a:graphic>
      </p:graphicFrame>
      <p:sp>
        <p:nvSpPr>
          <p:cNvPr id="298" name="Google Shape;298;p13"/>
          <p:cNvSpPr txBox="1"/>
          <p:nvPr/>
        </p:nvSpPr>
        <p:spPr>
          <a:xfrm>
            <a:off x="6355080" y="4572000"/>
            <a:ext cx="5303520" cy="169164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Dòng A cao hơn chi phí lương 234,21 triệu đồng (16,5%), đủ chi trả khi năng suất từ 83,5%.</a:t>
            </a:r>
            <a:endParaRPr b="0" i="0" sz="130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Dự phòng 50 triệu đồng thấp hơn EMV 147 triệu đồng, phần vượt bù từ khoản còn lại sau lương.</a:t>
            </a:r>
            <a:endParaRPr b="0" i="0" sz="130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Giá chào thấp hơn giá gói thầu 250 triệu đồng (12,5%).</a:t>
            </a:r>
            <a:endParaRPr b="0" i="0" sz="130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Không chịu thuế GTGT, khoản C là 179,95 triệu đồng (10,28%).</a:t>
            </a:r>
            <a:endParaRPr b="0" i="0" sz="1300" u="none" cap="none" strike="noStrike">
              <a:solidFill>
                <a:schemeClr val="dk1"/>
              </a:solidFill>
              <a:latin typeface="Calibri"/>
              <a:ea typeface="Calibri"/>
              <a:cs typeface="Calibri"/>
              <a:sym typeface="Calibri"/>
            </a:endParaRPr>
          </a:p>
        </p:txBody>
      </p:sp>
      <p:sp>
        <p:nvSpPr>
          <p:cNvPr id="299" name="Google Shape;299;p13"/>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6F8189"/>
                </a:solidFill>
                <a:latin typeface="Calibri"/>
                <a:ea typeface="Calibri"/>
                <a:cs typeface="Calibri"/>
                <a:sym typeface="Calibri"/>
              </a:rPr>
              <a:t>‹#›</a:t>
            </a:fld>
            <a:endParaRPr b="0" i="0" sz="1000" u="none" cap="none" strike="noStrike">
              <a:solidFill>
                <a:srgbClr val="6F8189"/>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5"/>
          <p:cNvSpPr/>
          <p:nvPr/>
        </p:nvSpPr>
        <p:spPr>
          <a:xfrm>
            <a:off x="548640" y="329184"/>
            <a:ext cx="2560320"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7. Rủi ro và truyền thông</a:t>
            </a:r>
            <a:endParaRPr b="0" i="0" sz="1100" u="none" cap="none" strike="noStrike">
              <a:solidFill>
                <a:schemeClr val="dk1"/>
              </a:solidFill>
              <a:latin typeface="Calibri"/>
              <a:ea typeface="Calibri"/>
              <a:cs typeface="Calibri"/>
              <a:sym typeface="Calibri"/>
            </a:endParaRPr>
          </a:p>
        </p:txBody>
      </p:sp>
      <p:sp>
        <p:nvSpPr>
          <p:cNvPr id="306" name="Google Shape;306;p15"/>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lang="en-US" sz="2800">
                <a:solidFill>
                  <a:schemeClr val="dk2"/>
                </a:solidFill>
                <a:latin typeface="Arial"/>
                <a:ea typeface="Arial"/>
                <a:cs typeface="Arial"/>
                <a:sym typeface="Arial"/>
              </a:rPr>
              <a:t>Quản lý rủi ro, truyền thông và báo cáo</a:t>
            </a:r>
            <a:endParaRPr sz="2800">
              <a:latin typeface="Arial"/>
              <a:ea typeface="Arial"/>
              <a:cs typeface="Arial"/>
              <a:sym typeface="Arial"/>
            </a:endParaRPr>
          </a:p>
        </p:txBody>
      </p:sp>
      <p:sp>
        <p:nvSpPr>
          <p:cNvPr id="307" name="Google Shape;307;p15"/>
          <p:cNvSpPr txBox="1"/>
          <p:nvPr/>
        </p:nvSpPr>
        <p:spPr>
          <a:xfrm>
            <a:off x="548640" y="1600200"/>
            <a:ext cx="110642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300"/>
              <a:buFont typeface="Calibri"/>
              <a:buNone/>
            </a:pPr>
            <a:r>
              <a:rPr b="0" i="0" lang="en-US" sz="1300" u="none" cap="none" strike="noStrike">
                <a:solidFill>
                  <a:schemeClr val="accent4"/>
                </a:solidFill>
                <a:latin typeface="Calibri"/>
                <a:ea typeface="Calibri"/>
                <a:cs typeface="Calibri"/>
                <a:sym typeface="Calibri"/>
              </a:rPr>
              <a:t>21 rủi ro (19 đe dọa, 2 cơ hội), 5 rủi ro hạng A. EMV 147 triệu đồng (110-183), dự phòng 50 triệu đồng.</a:t>
            </a:r>
            <a:endParaRPr b="0" i="0" sz="1300" u="none" cap="none" strike="noStrike">
              <a:solidFill>
                <a:schemeClr val="dk1"/>
              </a:solidFill>
              <a:latin typeface="Calibri"/>
              <a:ea typeface="Calibri"/>
              <a:cs typeface="Calibri"/>
              <a:sym typeface="Calibri"/>
            </a:endParaRPr>
          </a:p>
        </p:txBody>
      </p:sp>
      <p:graphicFrame>
        <p:nvGraphicFramePr>
          <p:cNvPr id="308" name="Google Shape;308;p15"/>
          <p:cNvGraphicFramePr/>
          <p:nvPr/>
        </p:nvGraphicFramePr>
        <p:xfrm>
          <a:off x="548640" y="2011680"/>
          <a:ext cx="3000000" cy="3000000"/>
        </p:xfrm>
        <a:graphic>
          <a:graphicData uri="http://schemas.openxmlformats.org/drawingml/2006/table">
            <a:tbl>
              <a:tblPr>
                <a:noFill/>
                <a:tableStyleId>{333A356F-784D-4884-A680-775E4A61AB1C}</a:tableStyleId>
              </a:tblPr>
              <a:tblGrid>
                <a:gridCol w="3657600"/>
                <a:gridCol w="6035050"/>
                <a:gridCol w="1371600"/>
              </a:tblGrid>
              <a:tr h="420625">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Rủi ro hạng A tiêu biểu</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Biện pháp phòng ngừa</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Chủ trì</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420625">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RR02 Tài liệu giao diện, môi trường thử Main System đến muộn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Đề nghị bàn giao tại họp khởi động, dịch vụ giả lập, thống nhất đặc tả bằng biên bản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Toàn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420625">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RR04 Vị trí bổ sung không có mặt đúng sprint huy động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Ký hợp đồng chậm nhất 10 ngày làm việc trước sprint, danh sách người dự phòng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Đạt</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420625">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RR10 Lỗi UAT vượt khả năng khắc phục trong 18/6-29/6</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Khắc phục lỗi ngay từng đợt kiểm thử, thống nhất mức nghiêm trọng từ đầu UAT</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Liên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420625">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RR13 Lương vị trí bổ sung cao hơn lương tham chiếu</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Thống nhất lương khi ký hợp đồng, so với lương tham chiếu trước khi ký</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Đạt</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bl>
          </a:graphicData>
        </a:graphic>
      </p:graphicFrame>
      <p:sp>
        <p:nvSpPr>
          <p:cNvPr id="309" name="Google Shape;309;p15"/>
          <p:cNvSpPr/>
          <p:nvPr/>
        </p:nvSpPr>
        <p:spPr>
          <a:xfrm>
            <a:off x="548640" y="4434840"/>
            <a:ext cx="5440680" cy="1417320"/>
          </a:xfrm>
          <a:prstGeom prst="roundRect">
            <a:avLst>
              <a:gd fmla="val 5161"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15"/>
          <p:cNvSpPr/>
          <p:nvPr/>
        </p:nvSpPr>
        <p:spPr>
          <a:xfrm>
            <a:off x="731520" y="4617720"/>
            <a:ext cx="502920" cy="50292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11" name="Google Shape;311;p15"/>
          <p:cNvPicPr preferRelativeResize="0"/>
          <p:nvPr/>
        </p:nvPicPr>
        <p:blipFill rotWithShape="1">
          <a:blip r:embed="rId3">
            <a:alphaModFix/>
          </a:blip>
          <a:srcRect b="0" l="0" r="0" t="0"/>
          <a:stretch/>
        </p:blipFill>
        <p:spPr>
          <a:xfrm>
            <a:off x="842162" y="4728362"/>
            <a:ext cx="281635" cy="281635"/>
          </a:xfrm>
          <a:prstGeom prst="rect">
            <a:avLst/>
          </a:prstGeom>
          <a:noFill/>
          <a:ln>
            <a:noFill/>
          </a:ln>
        </p:spPr>
      </p:pic>
      <p:sp>
        <p:nvSpPr>
          <p:cNvPr id="312" name="Google Shape;312;p15"/>
          <p:cNvSpPr txBox="1"/>
          <p:nvPr/>
        </p:nvSpPr>
        <p:spPr>
          <a:xfrm>
            <a:off x="1417320" y="4572000"/>
            <a:ext cx="438912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Báo cáo cuối sprint</a:t>
            </a:r>
            <a:endParaRPr b="0" i="0" sz="1500" u="none" cap="none" strike="noStrike">
              <a:solidFill>
                <a:schemeClr val="dk1"/>
              </a:solidFill>
              <a:latin typeface="Calibri"/>
              <a:ea typeface="Calibri"/>
              <a:cs typeface="Calibri"/>
              <a:sym typeface="Calibri"/>
            </a:endParaRPr>
          </a:p>
        </p:txBody>
      </p:sp>
      <p:sp>
        <p:nvSpPr>
          <p:cNvPr id="313" name="Google Shape;313;p15"/>
          <p:cNvSpPr txBox="1"/>
          <p:nvPr/>
        </p:nvSpPr>
        <p:spPr>
          <a:xfrm>
            <a:off x="1417320" y="4919472"/>
            <a:ext cx="438912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Gửi đầu mối ABC Wear ngày cuối sprint: SPI, CPI, mốc, rủi ro, thay đổi và vấn đề cần quyết định.</a:t>
            </a:r>
            <a:endParaRPr b="0" i="0" sz="1300" u="none" cap="none" strike="noStrike">
              <a:solidFill>
                <a:schemeClr val="dk1"/>
              </a:solidFill>
              <a:latin typeface="Calibri"/>
              <a:ea typeface="Calibri"/>
              <a:cs typeface="Calibri"/>
              <a:sym typeface="Calibri"/>
            </a:endParaRPr>
          </a:p>
        </p:txBody>
      </p:sp>
      <p:sp>
        <p:nvSpPr>
          <p:cNvPr id="314" name="Google Shape;314;p15"/>
          <p:cNvSpPr/>
          <p:nvPr/>
        </p:nvSpPr>
        <p:spPr>
          <a:xfrm>
            <a:off x="6172200" y="4434840"/>
            <a:ext cx="5440680" cy="1417320"/>
          </a:xfrm>
          <a:prstGeom prst="roundRect">
            <a:avLst>
              <a:gd fmla="val 5161"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15"/>
          <p:cNvSpPr/>
          <p:nvPr/>
        </p:nvSpPr>
        <p:spPr>
          <a:xfrm>
            <a:off x="6355080" y="4617720"/>
            <a:ext cx="502920" cy="50292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16" name="Google Shape;316;p15"/>
          <p:cNvPicPr preferRelativeResize="0"/>
          <p:nvPr/>
        </p:nvPicPr>
        <p:blipFill rotWithShape="1">
          <a:blip r:embed="rId4">
            <a:alphaModFix/>
          </a:blip>
          <a:srcRect b="0" l="0" r="0" t="0"/>
          <a:stretch/>
        </p:blipFill>
        <p:spPr>
          <a:xfrm>
            <a:off x="6465722" y="4728362"/>
            <a:ext cx="281635" cy="281635"/>
          </a:xfrm>
          <a:prstGeom prst="rect">
            <a:avLst/>
          </a:prstGeom>
          <a:noFill/>
          <a:ln>
            <a:noFill/>
          </a:ln>
        </p:spPr>
      </p:pic>
      <p:sp>
        <p:nvSpPr>
          <p:cNvPr id="317" name="Google Shape;317;p15"/>
          <p:cNvSpPr txBox="1"/>
          <p:nvPr/>
        </p:nvSpPr>
        <p:spPr>
          <a:xfrm>
            <a:off x="7040880" y="4572000"/>
            <a:ext cx="438912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Nhịp phối hợp</a:t>
            </a:r>
            <a:endParaRPr b="0" i="0" sz="1500" u="none" cap="none" strike="noStrike">
              <a:solidFill>
                <a:schemeClr val="dk1"/>
              </a:solidFill>
              <a:latin typeface="Calibri"/>
              <a:ea typeface="Calibri"/>
              <a:cs typeface="Calibri"/>
              <a:sym typeface="Calibri"/>
            </a:endParaRPr>
          </a:p>
        </p:txBody>
      </p:sp>
      <p:sp>
        <p:nvSpPr>
          <p:cNvPr id="318" name="Google Shape;318;p15"/>
          <p:cNvSpPr txBox="1"/>
          <p:nvPr/>
        </p:nvSpPr>
        <p:spPr>
          <a:xfrm>
            <a:off x="7040880" y="4919472"/>
            <a:ext cx="438912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Họp tiến độ hằng tuần với ABC Wear. Mỗi sprint có lập kế hoạch, trình diễn và họp cải tiến.</a:t>
            </a:r>
            <a:endParaRPr b="0" i="0" sz="1300" u="none" cap="none" strike="noStrike">
              <a:solidFill>
                <a:schemeClr val="dk1"/>
              </a:solidFill>
              <a:latin typeface="Calibri"/>
              <a:ea typeface="Calibri"/>
              <a:cs typeface="Calibri"/>
              <a:sym typeface="Calibri"/>
            </a:endParaRPr>
          </a:p>
        </p:txBody>
      </p:sp>
      <p:sp>
        <p:nvSpPr>
          <p:cNvPr id="319" name="Google Shape;319;p15"/>
          <p:cNvSpPr txBox="1"/>
          <p:nvPr/>
        </p:nvSpPr>
        <p:spPr>
          <a:xfrm>
            <a:off x="548640" y="5943600"/>
            <a:ext cx="110642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150"/>
              <a:buFont typeface="Calibri"/>
              <a:buNone/>
            </a:pPr>
            <a:r>
              <a:rPr b="0" i="1" lang="en-US" sz="1150" u="none" cap="none" strike="noStrike">
                <a:solidFill>
                  <a:schemeClr val="accent4"/>
                </a:solidFill>
                <a:latin typeface="Calibri"/>
                <a:ea typeface="Calibri"/>
                <a:cs typeface="Calibri"/>
                <a:sym typeface="Calibri"/>
              </a:rPr>
              <a:t>Rà soát rủi ro đường găng hằng tuần, báo ABC Wear khi dự trữ còn dưới 2 ngày.</a:t>
            </a:r>
            <a:endParaRPr b="0" i="0" sz="1150" u="none" cap="none" strike="noStrike">
              <a:solidFill>
                <a:schemeClr val="dk1"/>
              </a:solidFill>
              <a:latin typeface="Calibri"/>
              <a:ea typeface="Calibri"/>
              <a:cs typeface="Calibri"/>
              <a:sym typeface="Calibri"/>
            </a:endParaRPr>
          </a:p>
        </p:txBody>
      </p:sp>
      <p:sp>
        <p:nvSpPr>
          <p:cNvPr id="320" name="Google Shape;320;p15"/>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6F8189"/>
                </a:solidFill>
                <a:latin typeface="Calibri"/>
                <a:ea typeface="Calibri"/>
                <a:cs typeface="Calibri"/>
                <a:sym typeface="Calibri"/>
              </a:rPr>
              <a:t>‹#›</a:t>
            </a:fld>
            <a:endParaRPr b="0" i="0" sz="1000" u="none" cap="none" strike="noStrike">
              <a:solidFill>
                <a:srgbClr val="6F8189"/>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16"/>
          <p:cNvSpPr/>
          <p:nvPr/>
        </p:nvSpPr>
        <p:spPr>
          <a:xfrm>
            <a:off x="548640" y="329184"/>
            <a:ext cx="1634947"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8. Chuyển giao</a:t>
            </a:r>
            <a:endParaRPr b="0" i="0" sz="1100" u="none" cap="none" strike="noStrike">
              <a:solidFill>
                <a:schemeClr val="dk1"/>
              </a:solidFill>
              <a:latin typeface="Arial"/>
              <a:ea typeface="Arial"/>
              <a:cs typeface="Arial"/>
              <a:sym typeface="Arial"/>
            </a:endParaRPr>
          </a:p>
        </p:txBody>
      </p:sp>
      <p:sp>
        <p:nvSpPr>
          <p:cNvPr id="327" name="Google Shape;327;p16"/>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lang="en-US" sz="2800">
                <a:solidFill>
                  <a:schemeClr val="dk2"/>
                </a:solidFill>
                <a:latin typeface="Arial"/>
                <a:ea typeface="Arial"/>
                <a:cs typeface="Arial"/>
                <a:sym typeface="Arial"/>
              </a:rPr>
              <a:t>Chuyển đổi và điều kiện hoàn thành</a:t>
            </a:r>
            <a:endParaRPr sz="2800">
              <a:latin typeface="Arial"/>
              <a:ea typeface="Arial"/>
              <a:cs typeface="Arial"/>
              <a:sym typeface="Arial"/>
            </a:endParaRPr>
          </a:p>
        </p:txBody>
      </p:sp>
      <p:sp>
        <p:nvSpPr>
          <p:cNvPr id="328" name="Google Shape;328;p16"/>
          <p:cNvSpPr/>
          <p:nvPr/>
        </p:nvSpPr>
        <p:spPr>
          <a:xfrm>
            <a:off x="548640" y="1645920"/>
            <a:ext cx="2103120" cy="2743200"/>
          </a:xfrm>
          <a:prstGeom prst="roundRect">
            <a:avLst>
              <a:gd fmla="val 3478"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16"/>
          <p:cNvSpPr/>
          <p:nvPr/>
        </p:nvSpPr>
        <p:spPr>
          <a:xfrm>
            <a:off x="713232" y="1783080"/>
            <a:ext cx="411480" cy="411480"/>
          </a:xfrm>
          <a:prstGeom prst="ellipse">
            <a:avLst/>
          </a:prstGeom>
          <a:solidFill>
            <a:schemeClr val="dk2"/>
          </a:solidFill>
          <a:ln cap="flat" cmpd="sng" w="9525">
            <a:solidFill>
              <a:schemeClr val="l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400"/>
              <a:buFont typeface="Calibri"/>
              <a:buNone/>
            </a:pPr>
            <a:r>
              <a:rPr b="1" i="0" lang="en-US" sz="1400" u="none" cap="none" strike="noStrike">
                <a:solidFill>
                  <a:schemeClr val="lt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330" name="Google Shape;330;p16"/>
          <p:cNvSpPr txBox="1"/>
          <p:nvPr/>
        </p:nvSpPr>
        <p:spPr>
          <a:xfrm>
            <a:off x="713232" y="2286000"/>
            <a:ext cx="18288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Arial"/>
                <a:ea typeface="Arial"/>
                <a:cs typeface="Arial"/>
                <a:sym typeface="Arial"/>
              </a:rPr>
              <a:t>UAT</a:t>
            </a:r>
            <a:endParaRPr b="0" i="0" sz="1500" u="none" cap="none" strike="noStrike">
              <a:solidFill>
                <a:schemeClr val="dk1"/>
              </a:solidFill>
              <a:latin typeface="Arial"/>
              <a:ea typeface="Arial"/>
              <a:cs typeface="Arial"/>
              <a:sym typeface="Arial"/>
            </a:endParaRPr>
          </a:p>
        </p:txBody>
      </p:sp>
      <p:sp>
        <p:nvSpPr>
          <p:cNvPr id="331" name="Google Shape;331;p16"/>
          <p:cNvSpPr txBox="1"/>
          <p:nvPr/>
        </p:nvSpPr>
        <p:spPr>
          <a:xfrm>
            <a:off x="713232" y="2606040"/>
            <a:ext cx="18288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250"/>
              <a:buFont typeface="Calibri"/>
              <a:buNone/>
            </a:pPr>
            <a:r>
              <a:rPr b="1" i="0" lang="en-US" sz="1250" u="none" cap="none" strike="noStrike">
                <a:solidFill>
                  <a:schemeClr val="accent1"/>
                </a:solidFill>
                <a:latin typeface="Arial"/>
                <a:ea typeface="Arial"/>
                <a:cs typeface="Arial"/>
                <a:sym typeface="Arial"/>
              </a:rPr>
              <a:t>18/6-29/6/2027</a:t>
            </a:r>
            <a:endParaRPr b="0" i="0" sz="1250" u="none" cap="none" strike="noStrike">
              <a:solidFill>
                <a:schemeClr val="dk1"/>
              </a:solidFill>
              <a:latin typeface="Arial"/>
              <a:ea typeface="Arial"/>
              <a:cs typeface="Arial"/>
              <a:sym typeface="Arial"/>
            </a:endParaRPr>
          </a:p>
        </p:txBody>
      </p:sp>
      <p:sp>
        <p:nvSpPr>
          <p:cNvPr id="332" name="Google Shape;332;p16"/>
          <p:cNvSpPr txBox="1"/>
          <p:nvPr/>
        </p:nvSpPr>
        <p:spPr>
          <a:xfrm>
            <a:off x="713232" y="2971800"/>
            <a:ext cx="182880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0" i="0" lang="en-US" sz="1300" u="none" cap="none" strike="noStrike">
                <a:solidFill>
                  <a:schemeClr val="dk1"/>
                </a:solidFill>
                <a:latin typeface="Arial"/>
                <a:ea typeface="Arial"/>
                <a:cs typeface="Arial"/>
                <a:sym typeface="Arial"/>
              </a:rPr>
              <a:t>Hai luồng kiểm thử chấp nhận cùng ABC Wear, khắc phục lỗi nghiêm trọng và cao.</a:t>
            </a:r>
            <a:endParaRPr b="0" i="0" sz="1300" u="none" cap="none" strike="noStrike">
              <a:solidFill>
                <a:schemeClr val="dk1"/>
              </a:solidFill>
              <a:latin typeface="Arial"/>
              <a:ea typeface="Arial"/>
              <a:cs typeface="Arial"/>
              <a:sym typeface="Arial"/>
            </a:endParaRPr>
          </a:p>
        </p:txBody>
      </p:sp>
      <p:sp>
        <p:nvSpPr>
          <p:cNvPr id="333" name="Google Shape;333;p16"/>
          <p:cNvSpPr/>
          <p:nvPr/>
        </p:nvSpPr>
        <p:spPr>
          <a:xfrm>
            <a:off x="2788920" y="1645920"/>
            <a:ext cx="2103120" cy="2743200"/>
          </a:xfrm>
          <a:prstGeom prst="roundRect">
            <a:avLst>
              <a:gd fmla="val 3478"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16"/>
          <p:cNvSpPr/>
          <p:nvPr/>
        </p:nvSpPr>
        <p:spPr>
          <a:xfrm>
            <a:off x="2953512" y="1783080"/>
            <a:ext cx="411480" cy="411480"/>
          </a:xfrm>
          <a:prstGeom prst="ellipse">
            <a:avLst/>
          </a:prstGeom>
          <a:solidFill>
            <a:schemeClr val="dk2"/>
          </a:solidFill>
          <a:ln cap="flat" cmpd="sng" w="9525">
            <a:solidFill>
              <a:schemeClr val="l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400"/>
              <a:buFont typeface="Calibri"/>
              <a:buNone/>
            </a:pPr>
            <a:r>
              <a:rPr b="1" i="0" lang="en-US" sz="1400" u="none" cap="none" strike="noStrike">
                <a:solidFill>
                  <a:schemeClr val="lt1"/>
                </a:solidFill>
                <a:latin typeface="Arial"/>
                <a:ea typeface="Arial"/>
                <a:cs typeface="Arial"/>
                <a:sym typeface="Arial"/>
              </a:rPr>
              <a:t>2</a:t>
            </a:r>
            <a:endParaRPr b="0" i="0" sz="1400" u="none" cap="none" strike="noStrike">
              <a:solidFill>
                <a:schemeClr val="dk1"/>
              </a:solidFill>
              <a:latin typeface="Arial"/>
              <a:ea typeface="Arial"/>
              <a:cs typeface="Arial"/>
              <a:sym typeface="Arial"/>
            </a:endParaRPr>
          </a:p>
        </p:txBody>
      </p:sp>
      <p:sp>
        <p:nvSpPr>
          <p:cNvPr id="335" name="Google Shape;335;p16"/>
          <p:cNvSpPr txBox="1"/>
          <p:nvPr/>
        </p:nvSpPr>
        <p:spPr>
          <a:xfrm>
            <a:off x="2953498" y="2286000"/>
            <a:ext cx="2178300" cy="32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Arial"/>
                <a:ea typeface="Arial"/>
                <a:cs typeface="Arial"/>
                <a:sym typeface="Arial"/>
              </a:rPr>
              <a:t>Chuẩn bị chuyển đổi</a:t>
            </a:r>
            <a:endParaRPr b="0" i="0" sz="1500" u="none" cap="none" strike="noStrike">
              <a:solidFill>
                <a:schemeClr val="dk1"/>
              </a:solidFill>
              <a:latin typeface="Arial"/>
              <a:ea typeface="Arial"/>
              <a:cs typeface="Arial"/>
              <a:sym typeface="Arial"/>
            </a:endParaRPr>
          </a:p>
        </p:txBody>
      </p:sp>
      <p:sp>
        <p:nvSpPr>
          <p:cNvPr id="336" name="Google Shape;336;p16"/>
          <p:cNvSpPr txBox="1"/>
          <p:nvPr/>
        </p:nvSpPr>
        <p:spPr>
          <a:xfrm>
            <a:off x="2953512" y="2606040"/>
            <a:ext cx="18288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250"/>
              <a:buFont typeface="Calibri"/>
              <a:buNone/>
            </a:pPr>
            <a:r>
              <a:rPr b="1" i="0" lang="en-US" sz="1250" u="none" cap="none" strike="noStrike">
                <a:solidFill>
                  <a:schemeClr val="accent1"/>
                </a:solidFill>
                <a:latin typeface="Arial"/>
                <a:ea typeface="Arial"/>
                <a:cs typeface="Arial"/>
                <a:sym typeface="Arial"/>
              </a:rPr>
              <a:t>Đến 30/6/2027</a:t>
            </a:r>
            <a:endParaRPr b="0" i="0" sz="1250" u="none" cap="none" strike="noStrike">
              <a:solidFill>
                <a:schemeClr val="dk1"/>
              </a:solidFill>
              <a:latin typeface="Arial"/>
              <a:ea typeface="Arial"/>
              <a:cs typeface="Arial"/>
              <a:sym typeface="Arial"/>
            </a:endParaRPr>
          </a:p>
        </p:txBody>
      </p:sp>
      <p:sp>
        <p:nvSpPr>
          <p:cNvPr id="337" name="Google Shape;337;p16"/>
          <p:cNvSpPr txBox="1"/>
          <p:nvPr/>
        </p:nvSpPr>
        <p:spPr>
          <a:xfrm>
            <a:off x="2953512" y="2971800"/>
            <a:ext cx="182880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0" i="0" lang="en-US" sz="1300" u="none" cap="none" strike="noStrike">
                <a:solidFill>
                  <a:schemeClr val="dk1"/>
                </a:solidFill>
                <a:latin typeface="Arial"/>
                <a:ea typeface="Arial"/>
                <a:cs typeface="Arial"/>
                <a:sym typeface="Arial"/>
              </a:rPr>
              <a:t>Diễn tập triển khai, khôi phục, danh sách kiểm tra cut over được xác nhận.</a:t>
            </a:r>
            <a:endParaRPr b="0" i="0" sz="1300" u="none" cap="none" strike="noStrike">
              <a:solidFill>
                <a:schemeClr val="dk1"/>
              </a:solidFill>
              <a:latin typeface="Arial"/>
              <a:ea typeface="Arial"/>
              <a:cs typeface="Arial"/>
              <a:sym typeface="Arial"/>
            </a:endParaRPr>
          </a:p>
        </p:txBody>
      </p:sp>
      <p:sp>
        <p:nvSpPr>
          <p:cNvPr id="338" name="Google Shape;338;p16"/>
          <p:cNvSpPr/>
          <p:nvPr/>
        </p:nvSpPr>
        <p:spPr>
          <a:xfrm>
            <a:off x="5029200" y="1645920"/>
            <a:ext cx="2103120" cy="2743200"/>
          </a:xfrm>
          <a:prstGeom prst="roundRect">
            <a:avLst>
              <a:gd fmla="val 3478"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16"/>
          <p:cNvSpPr/>
          <p:nvPr/>
        </p:nvSpPr>
        <p:spPr>
          <a:xfrm>
            <a:off x="5193792" y="1783080"/>
            <a:ext cx="411480" cy="411480"/>
          </a:xfrm>
          <a:prstGeom prst="ellipse">
            <a:avLst/>
          </a:prstGeom>
          <a:solidFill>
            <a:schemeClr val="accent1"/>
          </a:solidFill>
          <a:ln cap="flat" cmpd="sng" w="9525">
            <a:solidFill>
              <a:schemeClr val="l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400"/>
              <a:buFont typeface="Calibri"/>
              <a:buNone/>
            </a:pPr>
            <a:r>
              <a:rPr b="1" i="0" lang="en-US" sz="1400" u="none" cap="none" strike="noStrike">
                <a:solidFill>
                  <a:schemeClr val="lt1"/>
                </a:solidFill>
                <a:latin typeface="Arial"/>
                <a:ea typeface="Arial"/>
                <a:cs typeface="Arial"/>
                <a:sym typeface="Arial"/>
              </a:rPr>
              <a:t>3</a:t>
            </a:r>
            <a:endParaRPr b="0" i="0" sz="1400" u="none" cap="none" strike="noStrike">
              <a:solidFill>
                <a:schemeClr val="dk1"/>
              </a:solidFill>
              <a:latin typeface="Arial"/>
              <a:ea typeface="Arial"/>
              <a:cs typeface="Arial"/>
              <a:sym typeface="Arial"/>
            </a:endParaRPr>
          </a:p>
        </p:txBody>
      </p:sp>
      <p:sp>
        <p:nvSpPr>
          <p:cNvPr id="340" name="Google Shape;340;p16"/>
          <p:cNvSpPr txBox="1"/>
          <p:nvPr/>
        </p:nvSpPr>
        <p:spPr>
          <a:xfrm>
            <a:off x="5193792" y="2286000"/>
            <a:ext cx="18288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Arial"/>
                <a:ea typeface="Arial"/>
                <a:cs typeface="Arial"/>
                <a:sym typeface="Arial"/>
              </a:rPr>
              <a:t>Cut over</a:t>
            </a:r>
            <a:endParaRPr b="0" i="0" sz="1500" u="none" cap="none" strike="noStrike">
              <a:solidFill>
                <a:schemeClr val="dk1"/>
              </a:solidFill>
              <a:latin typeface="Arial"/>
              <a:ea typeface="Arial"/>
              <a:cs typeface="Arial"/>
              <a:sym typeface="Arial"/>
            </a:endParaRPr>
          </a:p>
        </p:txBody>
      </p:sp>
      <p:sp>
        <p:nvSpPr>
          <p:cNvPr id="341" name="Google Shape;341;p16"/>
          <p:cNvSpPr txBox="1"/>
          <p:nvPr/>
        </p:nvSpPr>
        <p:spPr>
          <a:xfrm>
            <a:off x="5193792" y="2606040"/>
            <a:ext cx="18288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250"/>
              <a:buFont typeface="Calibri"/>
              <a:buNone/>
            </a:pPr>
            <a:r>
              <a:rPr b="1" i="0" lang="en-US" sz="1250" u="none" cap="none" strike="noStrike">
                <a:solidFill>
                  <a:schemeClr val="accent1"/>
                </a:solidFill>
                <a:latin typeface="Arial"/>
                <a:ea typeface="Arial"/>
                <a:cs typeface="Arial"/>
                <a:sym typeface="Arial"/>
              </a:rPr>
              <a:t>01/7/2027</a:t>
            </a:r>
            <a:endParaRPr b="0" i="0" sz="1250" u="none" cap="none" strike="noStrike">
              <a:solidFill>
                <a:schemeClr val="dk1"/>
              </a:solidFill>
              <a:latin typeface="Arial"/>
              <a:ea typeface="Arial"/>
              <a:cs typeface="Arial"/>
              <a:sym typeface="Arial"/>
            </a:endParaRPr>
          </a:p>
        </p:txBody>
      </p:sp>
      <p:sp>
        <p:nvSpPr>
          <p:cNvPr id="342" name="Google Shape;342;p16"/>
          <p:cNvSpPr txBox="1"/>
          <p:nvPr/>
        </p:nvSpPr>
        <p:spPr>
          <a:xfrm>
            <a:off x="5193792" y="2971800"/>
            <a:ext cx="182880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0" i="0" lang="en-US" sz="1300" u="none" cap="none" strike="noStrike">
                <a:solidFill>
                  <a:schemeClr val="dk1"/>
                </a:solidFill>
                <a:latin typeface="Arial"/>
                <a:ea typeface="Arial"/>
                <a:cs typeface="Arial"/>
                <a:sym typeface="Arial"/>
              </a:rPr>
              <a:t>Chuyển đổi dữ liệu chính thức ngày 30/6, kiểm tra chức năng chính sau triển khai.</a:t>
            </a:r>
            <a:endParaRPr b="0" i="0" sz="1300" u="none" cap="none" strike="noStrike">
              <a:solidFill>
                <a:schemeClr val="dk1"/>
              </a:solidFill>
              <a:latin typeface="Arial"/>
              <a:ea typeface="Arial"/>
              <a:cs typeface="Arial"/>
              <a:sym typeface="Arial"/>
            </a:endParaRPr>
          </a:p>
        </p:txBody>
      </p:sp>
      <p:sp>
        <p:nvSpPr>
          <p:cNvPr id="343" name="Google Shape;343;p16"/>
          <p:cNvSpPr/>
          <p:nvPr/>
        </p:nvSpPr>
        <p:spPr>
          <a:xfrm>
            <a:off x="7269480" y="1645920"/>
            <a:ext cx="2103120" cy="2743200"/>
          </a:xfrm>
          <a:prstGeom prst="roundRect">
            <a:avLst>
              <a:gd fmla="val 3478"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16"/>
          <p:cNvSpPr/>
          <p:nvPr/>
        </p:nvSpPr>
        <p:spPr>
          <a:xfrm>
            <a:off x="7434072" y="1783080"/>
            <a:ext cx="411480" cy="411480"/>
          </a:xfrm>
          <a:prstGeom prst="ellipse">
            <a:avLst/>
          </a:prstGeom>
          <a:solidFill>
            <a:schemeClr val="dk2"/>
          </a:solidFill>
          <a:ln cap="flat" cmpd="sng" w="9525">
            <a:solidFill>
              <a:schemeClr val="l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400"/>
              <a:buFont typeface="Calibri"/>
              <a:buNone/>
            </a:pPr>
            <a:r>
              <a:rPr b="1" i="0" lang="en-US" sz="1400" u="none" cap="none" strike="noStrike">
                <a:solidFill>
                  <a:schemeClr val="lt1"/>
                </a:solidFill>
                <a:latin typeface="Arial"/>
                <a:ea typeface="Arial"/>
                <a:cs typeface="Arial"/>
                <a:sym typeface="Arial"/>
              </a:rPr>
              <a:t>4</a:t>
            </a:r>
            <a:endParaRPr b="0" i="0" sz="1400" u="none" cap="none" strike="noStrike">
              <a:solidFill>
                <a:schemeClr val="dk1"/>
              </a:solidFill>
              <a:latin typeface="Arial"/>
              <a:ea typeface="Arial"/>
              <a:cs typeface="Arial"/>
              <a:sym typeface="Arial"/>
            </a:endParaRPr>
          </a:p>
        </p:txBody>
      </p:sp>
      <p:sp>
        <p:nvSpPr>
          <p:cNvPr id="345" name="Google Shape;345;p16"/>
          <p:cNvSpPr txBox="1"/>
          <p:nvPr/>
        </p:nvSpPr>
        <p:spPr>
          <a:xfrm>
            <a:off x="7434072" y="2286000"/>
            <a:ext cx="18288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Arial"/>
                <a:ea typeface="Arial"/>
                <a:cs typeface="Arial"/>
                <a:sym typeface="Arial"/>
              </a:rPr>
              <a:t>Bàn giao</a:t>
            </a:r>
            <a:endParaRPr b="0" i="0" sz="1500" u="none" cap="none" strike="noStrike">
              <a:solidFill>
                <a:schemeClr val="dk1"/>
              </a:solidFill>
              <a:latin typeface="Arial"/>
              <a:ea typeface="Arial"/>
              <a:cs typeface="Arial"/>
              <a:sym typeface="Arial"/>
            </a:endParaRPr>
          </a:p>
        </p:txBody>
      </p:sp>
      <p:sp>
        <p:nvSpPr>
          <p:cNvPr id="346" name="Google Shape;346;p16"/>
          <p:cNvSpPr txBox="1"/>
          <p:nvPr/>
        </p:nvSpPr>
        <p:spPr>
          <a:xfrm>
            <a:off x="7434072" y="2606040"/>
            <a:ext cx="18288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250"/>
              <a:buFont typeface="Calibri"/>
              <a:buNone/>
            </a:pPr>
            <a:r>
              <a:rPr b="1" i="0" lang="en-US" sz="1250" u="none" cap="none" strike="noStrike">
                <a:solidFill>
                  <a:schemeClr val="accent1"/>
                </a:solidFill>
                <a:latin typeface="Arial"/>
                <a:ea typeface="Arial"/>
                <a:cs typeface="Arial"/>
                <a:sym typeface="Arial"/>
              </a:rPr>
              <a:t>01/7/2027</a:t>
            </a:r>
            <a:endParaRPr b="0" i="0" sz="1250" u="none" cap="none" strike="noStrike">
              <a:solidFill>
                <a:schemeClr val="dk1"/>
              </a:solidFill>
              <a:latin typeface="Arial"/>
              <a:ea typeface="Arial"/>
              <a:cs typeface="Arial"/>
              <a:sym typeface="Arial"/>
            </a:endParaRPr>
          </a:p>
        </p:txBody>
      </p:sp>
      <p:sp>
        <p:nvSpPr>
          <p:cNvPr id="347" name="Google Shape;347;p16"/>
          <p:cNvSpPr txBox="1"/>
          <p:nvPr/>
        </p:nvSpPr>
        <p:spPr>
          <a:xfrm>
            <a:off x="7434072" y="2971800"/>
            <a:ext cx="182880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0" i="0" lang="en-US" sz="1300" u="none" cap="none" strike="noStrike">
                <a:solidFill>
                  <a:schemeClr val="dk1"/>
                </a:solidFill>
                <a:latin typeface="Arial"/>
                <a:ea typeface="Arial"/>
                <a:cs typeface="Arial"/>
                <a:sym typeface="Arial"/>
              </a:rPr>
              <a:t>Mã nguồn, tài liệu kỹ thuật, hướng dẫn vận hành, biên bản bàn giao (M7).</a:t>
            </a:r>
            <a:endParaRPr b="0" i="0" sz="1300" u="none" cap="none" strike="noStrike">
              <a:solidFill>
                <a:schemeClr val="dk1"/>
              </a:solidFill>
              <a:latin typeface="Arial"/>
              <a:ea typeface="Arial"/>
              <a:cs typeface="Arial"/>
              <a:sym typeface="Arial"/>
            </a:endParaRPr>
          </a:p>
        </p:txBody>
      </p:sp>
      <p:sp>
        <p:nvSpPr>
          <p:cNvPr id="348" name="Google Shape;348;p16"/>
          <p:cNvSpPr/>
          <p:nvPr/>
        </p:nvSpPr>
        <p:spPr>
          <a:xfrm>
            <a:off x="9509760" y="1645920"/>
            <a:ext cx="2103120" cy="2743200"/>
          </a:xfrm>
          <a:prstGeom prst="roundRect">
            <a:avLst>
              <a:gd fmla="val 3478"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16"/>
          <p:cNvSpPr/>
          <p:nvPr/>
        </p:nvSpPr>
        <p:spPr>
          <a:xfrm>
            <a:off x="9674352" y="1783080"/>
            <a:ext cx="411480" cy="411480"/>
          </a:xfrm>
          <a:prstGeom prst="ellipse">
            <a:avLst/>
          </a:prstGeom>
          <a:solidFill>
            <a:schemeClr val="dk2"/>
          </a:solidFill>
          <a:ln cap="flat" cmpd="sng" w="9525">
            <a:solidFill>
              <a:schemeClr val="l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400"/>
              <a:buFont typeface="Calibri"/>
              <a:buNone/>
            </a:pPr>
            <a:r>
              <a:rPr b="1" i="0" lang="en-US" sz="1400" u="none" cap="none" strike="noStrike">
                <a:solidFill>
                  <a:schemeClr val="lt1"/>
                </a:solidFill>
                <a:latin typeface="Arial"/>
                <a:ea typeface="Arial"/>
                <a:cs typeface="Arial"/>
                <a:sym typeface="Arial"/>
              </a:rPr>
              <a:t>5</a:t>
            </a:r>
            <a:endParaRPr b="0" i="0" sz="1400" u="none" cap="none" strike="noStrike">
              <a:solidFill>
                <a:schemeClr val="dk1"/>
              </a:solidFill>
              <a:latin typeface="Arial"/>
              <a:ea typeface="Arial"/>
              <a:cs typeface="Arial"/>
              <a:sym typeface="Arial"/>
            </a:endParaRPr>
          </a:p>
        </p:txBody>
      </p:sp>
      <p:sp>
        <p:nvSpPr>
          <p:cNvPr id="350" name="Google Shape;350;p16"/>
          <p:cNvSpPr txBox="1"/>
          <p:nvPr/>
        </p:nvSpPr>
        <p:spPr>
          <a:xfrm>
            <a:off x="9674352" y="2286000"/>
            <a:ext cx="18288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Arial"/>
                <a:ea typeface="Arial"/>
                <a:cs typeface="Arial"/>
                <a:sym typeface="Arial"/>
              </a:rPr>
              <a:t>Sau nghiệm thu</a:t>
            </a:r>
            <a:endParaRPr b="0" i="0" sz="1500" u="none" cap="none" strike="noStrike">
              <a:solidFill>
                <a:schemeClr val="dk1"/>
              </a:solidFill>
              <a:latin typeface="Arial"/>
              <a:ea typeface="Arial"/>
              <a:cs typeface="Arial"/>
              <a:sym typeface="Arial"/>
            </a:endParaRPr>
          </a:p>
        </p:txBody>
      </p:sp>
      <p:sp>
        <p:nvSpPr>
          <p:cNvPr id="351" name="Google Shape;351;p16"/>
          <p:cNvSpPr txBox="1"/>
          <p:nvPr/>
        </p:nvSpPr>
        <p:spPr>
          <a:xfrm>
            <a:off x="9674352" y="2606040"/>
            <a:ext cx="18288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250"/>
              <a:buFont typeface="Calibri"/>
              <a:buNone/>
            </a:pPr>
            <a:r>
              <a:rPr b="1" i="0" lang="en-US" sz="1250" u="none" cap="none" strike="noStrike">
                <a:solidFill>
                  <a:schemeClr val="accent1"/>
                </a:solidFill>
                <a:latin typeface="Arial"/>
                <a:ea typeface="Arial"/>
                <a:cs typeface="Arial"/>
                <a:sym typeface="Arial"/>
              </a:rPr>
              <a:t>12 tháng</a:t>
            </a:r>
            <a:endParaRPr b="0" i="0" sz="1250" u="none" cap="none" strike="noStrike">
              <a:solidFill>
                <a:schemeClr val="dk1"/>
              </a:solidFill>
              <a:latin typeface="Arial"/>
              <a:ea typeface="Arial"/>
              <a:cs typeface="Arial"/>
              <a:sym typeface="Arial"/>
            </a:endParaRPr>
          </a:p>
        </p:txBody>
      </p:sp>
      <p:sp>
        <p:nvSpPr>
          <p:cNvPr id="352" name="Google Shape;352;p16"/>
          <p:cNvSpPr txBox="1"/>
          <p:nvPr/>
        </p:nvSpPr>
        <p:spPr>
          <a:xfrm>
            <a:off x="9674352" y="2971800"/>
            <a:ext cx="182880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0" i="0" lang="en-US" sz="1300" u="none" cap="none" strike="noStrike">
                <a:solidFill>
                  <a:schemeClr val="dk1"/>
                </a:solidFill>
                <a:latin typeface="Arial"/>
                <a:ea typeface="Arial"/>
                <a:cs typeface="Arial"/>
                <a:sym typeface="Arial"/>
              </a:rPr>
              <a:t>Bảo hành, hỗ trợ tăng cường 02/7-15/7, bảo lãnh bảo hành 5%.</a:t>
            </a:r>
            <a:endParaRPr b="0" i="0" sz="1300" u="none" cap="none" strike="noStrike">
              <a:solidFill>
                <a:schemeClr val="dk1"/>
              </a:solidFill>
              <a:latin typeface="Arial"/>
              <a:ea typeface="Arial"/>
              <a:cs typeface="Arial"/>
              <a:sym typeface="Arial"/>
            </a:endParaRPr>
          </a:p>
        </p:txBody>
      </p:sp>
      <p:sp>
        <p:nvSpPr>
          <p:cNvPr id="353" name="Google Shape;353;p16"/>
          <p:cNvSpPr txBox="1"/>
          <p:nvPr/>
        </p:nvSpPr>
        <p:spPr>
          <a:xfrm>
            <a:off x="548640" y="4572000"/>
            <a:ext cx="110642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Arial"/>
                <a:ea typeface="Arial"/>
                <a:cs typeface="Arial"/>
                <a:sym typeface="Arial"/>
              </a:rPr>
              <a:t>Ba đường cơ sở, kiểm soát bằng SPI, CPI cuối mỗi sprint</a:t>
            </a:r>
            <a:endParaRPr b="0" i="0" sz="1500" u="none" cap="none" strike="noStrike">
              <a:solidFill>
                <a:schemeClr val="dk1"/>
              </a:solidFill>
              <a:latin typeface="Arial"/>
              <a:ea typeface="Arial"/>
              <a:cs typeface="Arial"/>
              <a:sym typeface="Arial"/>
            </a:endParaRPr>
          </a:p>
        </p:txBody>
      </p:sp>
      <p:sp>
        <p:nvSpPr>
          <p:cNvPr id="354" name="Google Shape;354;p16"/>
          <p:cNvSpPr/>
          <p:nvPr/>
        </p:nvSpPr>
        <p:spPr>
          <a:xfrm>
            <a:off x="548640" y="4983480"/>
            <a:ext cx="3566160" cy="1188720"/>
          </a:xfrm>
          <a:prstGeom prst="roundRect">
            <a:avLst>
              <a:gd fmla="val 6154" name="adj"/>
            </a:avLst>
          </a:prstGeom>
          <a:solidFill>
            <a:schemeClr val="dk2"/>
          </a:solidFill>
          <a:ln cap="flat" cmpd="sng" w="127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16"/>
          <p:cNvSpPr txBox="1"/>
          <p:nvPr/>
        </p:nvSpPr>
        <p:spPr>
          <a:xfrm>
            <a:off x="777240" y="5074920"/>
            <a:ext cx="310896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2800"/>
              <a:buFont typeface="Cambria"/>
              <a:buNone/>
            </a:pPr>
            <a:r>
              <a:rPr b="1" i="0" lang="en-US" sz="2800" u="none" cap="none" strike="noStrike">
                <a:solidFill>
                  <a:schemeClr val="accent3"/>
                </a:solidFill>
                <a:latin typeface="Arial"/>
                <a:ea typeface="Arial"/>
                <a:cs typeface="Arial"/>
                <a:sym typeface="Arial"/>
              </a:rPr>
              <a:t>657 MD</a:t>
            </a:r>
            <a:endParaRPr b="0" i="0" sz="2800" u="none" cap="none" strike="noStrike">
              <a:solidFill>
                <a:schemeClr val="dk1"/>
              </a:solidFill>
              <a:latin typeface="Arial"/>
              <a:ea typeface="Arial"/>
              <a:cs typeface="Arial"/>
              <a:sym typeface="Arial"/>
            </a:endParaRPr>
          </a:p>
        </p:txBody>
      </p:sp>
      <p:sp>
        <p:nvSpPr>
          <p:cNvPr id="356" name="Google Shape;356;p16"/>
          <p:cNvSpPr txBox="1"/>
          <p:nvPr/>
        </p:nvSpPr>
        <p:spPr>
          <a:xfrm>
            <a:off x="777240" y="5669280"/>
            <a:ext cx="310896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300"/>
              <a:buFont typeface="Calibri"/>
              <a:buNone/>
            </a:pPr>
            <a:r>
              <a:rPr b="0" i="0" lang="en-US" sz="1300" u="none" cap="none" strike="noStrike">
                <a:solidFill>
                  <a:schemeClr val="lt1"/>
                </a:solidFill>
                <a:latin typeface="Arial"/>
                <a:ea typeface="Arial"/>
                <a:cs typeface="Arial"/>
                <a:sym typeface="Arial"/>
              </a:rPr>
              <a:t>Phạm vi: 144 gói WBS, đặc tả tại M2</a:t>
            </a:r>
            <a:endParaRPr b="0" i="0" sz="1300" u="none" cap="none" strike="noStrike">
              <a:solidFill>
                <a:schemeClr val="dk1"/>
              </a:solidFill>
              <a:latin typeface="Arial"/>
              <a:ea typeface="Arial"/>
              <a:cs typeface="Arial"/>
              <a:sym typeface="Arial"/>
            </a:endParaRPr>
          </a:p>
        </p:txBody>
      </p:sp>
      <p:sp>
        <p:nvSpPr>
          <p:cNvPr id="357" name="Google Shape;357;p16"/>
          <p:cNvSpPr/>
          <p:nvPr/>
        </p:nvSpPr>
        <p:spPr>
          <a:xfrm>
            <a:off x="4297680" y="4983480"/>
            <a:ext cx="3566160" cy="1188720"/>
          </a:xfrm>
          <a:prstGeom prst="roundRect">
            <a:avLst>
              <a:gd fmla="val 6154" name="adj"/>
            </a:avLst>
          </a:prstGeom>
          <a:solidFill>
            <a:schemeClr val="dk2"/>
          </a:solidFill>
          <a:ln cap="flat" cmpd="sng" w="127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16"/>
          <p:cNvSpPr txBox="1"/>
          <p:nvPr/>
        </p:nvSpPr>
        <p:spPr>
          <a:xfrm>
            <a:off x="4526280" y="5074920"/>
            <a:ext cx="310896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2800"/>
              <a:buFont typeface="Cambria"/>
              <a:buNone/>
            </a:pPr>
            <a:r>
              <a:rPr b="1" i="0" lang="en-US" sz="2800" u="none" cap="none" strike="noStrike">
                <a:solidFill>
                  <a:schemeClr val="accent3"/>
                </a:solidFill>
                <a:latin typeface="Arial"/>
                <a:ea typeface="Arial"/>
                <a:cs typeface="Arial"/>
                <a:sym typeface="Arial"/>
              </a:rPr>
              <a:t>7 sprint</a:t>
            </a:r>
            <a:endParaRPr b="0" i="0" sz="2800" u="none" cap="none" strike="noStrike">
              <a:solidFill>
                <a:schemeClr val="dk1"/>
              </a:solidFill>
              <a:latin typeface="Arial"/>
              <a:ea typeface="Arial"/>
              <a:cs typeface="Arial"/>
              <a:sym typeface="Arial"/>
            </a:endParaRPr>
          </a:p>
        </p:txBody>
      </p:sp>
      <p:sp>
        <p:nvSpPr>
          <p:cNvPr id="359" name="Google Shape;359;p16"/>
          <p:cNvSpPr txBox="1"/>
          <p:nvPr/>
        </p:nvSpPr>
        <p:spPr>
          <a:xfrm>
            <a:off x="4526280" y="5669280"/>
            <a:ext cx="310896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300"/>
              <a:buFont typeface="Calibri"/>
              <a:buNone/>
            </a:pPr>
            <a:r>
              <a:rPr b="0" i="0" lang="en-US" sz="1300" u="none" cap="none" strike="noStrike">
                <a:solidFill>
                  <a:schemeClr val="lt1"/>
                </a:solidFill>
                <a:latin typeface="Arial"/>
                <a:ea typeface="Arial"/>
                <a:cs typeface="Arial"/>
                <a:sym typeface="Arial"/>
              </a:rPr>
              <a:t>Tiến độ: cut over 01/7/2027, dự trữ 4 ngày</a:t>
            </a:r>
            <a:endParaRPr b="0" i="0" sz="1300" u="none" cap="none" strike="noStrike">
              <a:solidFill>
                <a:schemeClr val="dk1"/>
              </a:solidFill>
              <a:latin typeface="Arial"/>
              <a:ea typeface="Arial"/>
              <a:cs typeface="Arial"/>
              <a:sym typeface="Arial"/>
            </a:endParaRPr>
          </a:p>
        </p:txBody>
      </p:sp>
      <p:sp>
        <p:nvSpPr>
          <p:cNvPr id="360" name="Google Shape;360;p16"/>
          <p:cNvSpPr/>
          <p:nvPr/>
        </p:nvSpPr>
        <p:spPr>
          <a:xfrm>
            <a:off x="8046720" y="4983480"/>
            <a:ext cx="3566160" cy="1188720"/>
          </a:xfrm>
          <a:prstGeom prst="roundRect">
            <a:avLst>
              <a:gd fmla="val 6154" name="adj"/>
            </a:avLst>
          </a:prstGeom>
          <a:solidFill>
            <a:schemeClr val="dk2"/>
          </a:solidFill>
          <a:ln cap="flat" cmpd="sng" w="127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16"/>
          <p:cNvSpPr txBox="1"/>
          <p:nvPr/>
        </p:nvSpPr>
        <p:spPr>
          <a:xfrm>
            <a:off x="8275320" y="5074920"/>
            <a:ext cx="310896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2800"/>
              <a:buFont typeface="Cambria"/>
              <a:buNone/>
            </a:pPr>
            <a:r>
              <a:rPr b="1" i="0" lang="en-US" sz="2800" u="none" cap="none" strike="noStrike">
                <a:solidFill>
                  <a:schemeClr val="accent3"/>
                </a:solidFill>
                <a:latin typeface="Arial"/>
                <a:ea typeface="Arial"/>
                <a:cs typeface="Arial"/>
                <a:sym typeface="Arial"/>
              </a:rPr>
              <a:t>1.420,05 triệu</a:t>
            </a:r>
            <a:endParaRPr b="0" i="0" sz="2800" u="none" cap="none" strike="noStrike">
              <a:solidFill>
                <a:schemeClr val="dk1"/>
              </a:solidFill>
              <a:latin typeface="Arial"/>
              <a:ea typeface="Arial"/>
              <a:cs typeface="Arial"/>
              <a:sym typeface="Arial"/>
            </a:endParaRPr>
          </a:p>
        </p:txBody>
      </p:sp>
      <p:sp>
        <p:nvSpPr>
          <p:cNvPr id="362" name="Google Shape;362;p16"/>
          <p:cNvSpPr txBox="1"/>
          <p:nvPr/>
        </p:nvSpPr>
        <p:spPr>
          <a:xfrm>
            <a:off x="8275320" y="5669280"/>
            <a:ext cx="310896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300"/>
              <a:buFont typeface="Calibri"/>
              <a:buNone/>
            </a:pPr>
            <a:r>
              <a:rPr b="0" i="0" lang="en-US" sz="1300" u="none" cap="none" strike="noStrike">
                <a:solidFill>
                  <a:schemeClr val="lt1"/>
                </a:solidFill>
                <a:latin typeface="Arial"/>
                <a:ea typeface="Arial"/>
                <a:cs typeface="Arial"/>
                <a:sym typeface="Arial"/>
              </a:rPr>
              <a:t>Chi phí: BAC bằng khoản A</a:t>
            </a:r>
            <a:endParaRPr b="0" i="0" sz="1300" u="none" cap="none" strike="noStrike">
              <a:solidFill>
                <a:schemeClr val="dk1"/>
              </a:solidFill>
              <a:latin typeface="Arial"/>
              <a:ea typeface="Arial"/>
              <a:cs typeface="Arial"/>
              <a:sym typeface="Arial"/>
            </a:endParaRPr>
          </a:p>
        </p:txBody>
      </p:sp>
      <p:sp>
        <p:nvSpPr>
          <p:cNvPr id="363" name="Google Shape;363;p16"/>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i="0" lang="en-US" sz="1000" u="none" cap="none" strike="noStrike">
                <a:solidFill>
                  <a:srgbClr val="6F8189"/>
                </a:solidFill>
                <a:latin typeface="Arial"/>
                <a:ea typeface="Arial"/>
                <a:cs typeface="Arial"/>
                <a:sym typeface="Arial"/>
              </a:rPr>
              <a:t>‹#›</a:t>
            </a:fld>
            <a:endParaRPr i="0" sz="1000" u="none" cap="none" strike="noStrike">
              <a:solidFill>
                <a:srgbClr val="6F8189"/>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14"/>
          <p:cNvSpPr/>
          <p:nvPr/>
        </p:nvSpPr>
        <p:spPr>
          <a:xfrm>
            <a:off x="548640" y="329184"/>
            <a:ext cx="2560320"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6. Chất lượng và thay đổi</a:t>
            </a:r>
            <a:endParaRPr b="0" i="0" sz="1100" u="none" cap="none" strike="noStrike">
              <a:solidFill>
                <a:schemeClr val="dk1"/>
              </a:solidFill>
              <a:latin typeface="Calibri"/>
              <a:ea typeface="Calibri"/>
              <a:cs typeface="Calibri"/>
              <a:sym typeface="Calibri"/>
            </a:endParaRPr>
          </a:p>
        </p:txBody>
      </p:sp>
      <p:sp>
        <p:nvSpPr>
          <p:cNvPr id="370" name="Google Shape;370;p14"/>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b="1" lang="en-US" sz="2800">
                <a:solidFill>
                  <a:schemeClr val="dk2"/>
                </a:solidFill>
              </a:rPr>
              <a:t>Quản lý chất lượng, thay đổi và cấu hình</a:t>
            </a:r>
            <a:endParaRPr sz="2800"/>
          </a:p>
        </p:txBody>
      </p:sp>
      <p:sp>
        <p:nvSpPr>
          <p:cNvPr id="371" name="Google Shape;371;p14"/>
          <p:cNvSpPr/>
          <p:nvPr/>
        </p:nvSpPr>
        <p:spPr>
          <a:xfrm>
            <a:off x="548640" y="1600200"/>
            <a:ext cx="2514600" cy="1280160"/>
          </a:xfrm>
          <a:prstGeom prst="roundRect">
            <a:avLst>
              <a:gd fmla="val 5714"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14"/>
          <p:cNvSpPr txBox="1"/>
          <p:nvPr/>
        </p:nvSpPr>
        <p:spPr>
          <a:xfrm>
            <a:off x="685800" y="1691640"/>
            <a:ext cx="2240280"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Calibri"/>
              <a:buNone/>
            </a:pPr>
            <a:r>
              <a:rPr b="1" i="0" lang="en-US" sz="1400" u="none" cap="none" strike="noStrike">
                <a:solidFill>
                  <a:schemeClr val="accent1"/>
                </a:solidFill>
                <a:latin typeface="Calibri"/>
                <a:ea typeface="Calibri"/>
                <a:cs typeface="Calibri"/>
                <a:sym typeface="Calibri"/>
              </a:rPr>
              <a:t>1. Lập phiếu CR</a:t>
            </a:r>
            <a:endParaRPr b="0" i="0" sz="1400" u="none" cap="none" strike="noStrike">
              <a:solidFill>
                <a:schemeClr val="dk1"/>
              </a:solidFill>
              <a:latin typeface="Calibri"/>
              <a:ea typeface="Calibri"/>
              <a:cs typeface="Calibri"/>
              <a:sym typeface="Calibri"/>
            </a:endParaRPr>
          </a:p>
        </p:txBody>
      </p:sp>
      <p:sp>
        <p:nvSpPr>
          <p:cNvPr id="373" name="Google Shape;373;p14"/>
          <p:cNvSpPr txBox="1"/>
          <p:nvPr/>
        </p:nvSpPr>
        <p:spPr>
          <a:xfrm>
            <a:off x="685800" y="2011680"/>
            <a:ext cx="22402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Áp dụng cho mọi đề nghị thay đổi, chấm điểm tác động từ 1 đến 10.</a:t>
            </a:r>
            <a:endParaRPr b="0" i="0" sz="1200" u="none" cap="none" strike="noStrike">
              <a:solidFill>
                <a:schemeClr val="dk1"/>
              </a:solidFill>
              <a:latin typeface="Calibri"/>
              <a:ea typeface="Calibri"/>
              <a:cs typeface="Calibri"/>
              <a:sym typeface="Calibri"/>
            </a:endParaRPr>
          </a:p>
        </p:txBody>
      </p:sp>
      <p:sp>
        <p:nvSpPr>
          <p:cNvPr id="374" name="Google Shape;374;p14"/>
          <p:cNvSpPr/>
          <p:nvPr/>
        </p:nvSpPr>
        <p:spPr>
          <a:xfrm>
            <a:off x="3108960" y="2103120"/>
            <a:ext cx="246888" cy="274320"/>
          </a:xfrm>
          <a:prstGeom prst="rightArrow">
            <a:avLst>
              <a:gd fmla="val 50000" name="adj1"/>
              <a:gd fmla="val 50000" name="adj2"/>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14"/>
          <p:cNvSpPr/>
          <p:nvPr/>
        </p:nvSpPr>
        <p:spPr>
          <a:xfrm>
            <a:off x="3401568" y="1600200"/>
            <a:ext cx="2514600" cy="1280160"/>
          </a:xfrm>
          <a:prstGeom prst="roundRect">
            <a:avLst>
              <a:gd fmla="val 5714"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14"/>
          <p:cNvSpPr txBox="1"/>
          <p:nvPr/>
        </p:nvSpPr>
        <p:spPr>
          <a:xfrm>
            <a:off x="3538728" y="1691640"/>
            <a:ext cx="2240280"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Calibri"/>
              <a:buNone/>
            </a:pPr>
            <a:r>
              <a:rPr b="1" i="0" lang="en-US" sz="1400" u="none" cap="none" strike="noStrike">
                <a:solidFill>
                  <a:schemeClr val="accent1"/>
                </a:solidFill>
                <a:latin typeface="Calibri"/>
                <a:ea typeface="Calibri"/>
                <a:cs typeface="Calibri"/>
                <a:sym typeface="Calibri"/>
              </a:rPr>
              <a:t>2. Đánh giá tác động</a:t>
            </a:r>
            <a:endParaRPr b="0" i="0" sz="1400" u="none" cap="none" strike="noStrike">
              <a:solidFill>
                <a:schemeClr val="dk1"/>
              </a:solidFill>
              <a:latin typeface="Calibri"/>
              <a:ea typeface="Calibri"/>
              <a:cs typeface="Calibri"/>
              <a:sym typeface="Calibri"/>
            </a:endParaRPr>
          </a:p>
        </p:txBody>
      </p:sp>
      <p:sp>
        <p:nvSpPr>
          <p:cNvPr id="377" name="Google Shape;377;p14"/>
          <p:cNvSpPr txBox="1"/>
          <p:nvPr/>
        </p:nvSpPr>
        <p:spPr>
          <a:xfrm>
            <a:off x="3538728" y="2011680"/>
            <a:ext cx="22402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Đánh giá WBS, MD, chi phí, mốc: 1 ngày làm việc (nhỏ), 3 ngày làm việc (trung bình, lớn).</a:t>
            </a:r>
            <a:endParaRPr b="0" i="0" sz="1200" u="none" cap="none" strike="noStrike">
              <a:solidFill>
                <a:schemeClr val="dk1"/>
              </a:solidFill>
              <a:latin typeface="Calibri"/>
              <a:ea typeface="Calibri"/>
              <a:cs typeface="Calibri"/>
              <a:sym typeface="Calibri"/>
            </a:endParaRPr>
          </a:p>
        </p:txBody>
      </p:sp>
      <p:sp>
        <p:nvSpPr>
          <p:cNvPr id="378" name="Google Shape;378;p14"/>
          <p:cNvSpPr/>
          <p:nvPr/>
        </p:nvSpPr>
        <p:spPr>
          <a:xfrm>
            <a:off x="5961888" y="2103120"/>
            <a:ext cx="246888" cy="274320"/>
          </a:xfrm>
          <a:prstGeom prst="rightArrow">
            <a:avLst>
              <a:gd fmla="val 50000" name="adj1"/>
              <a:gd fmla="val 50000" name="adj2"/>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14"/>
          <p:cNvSpPr/>
          <p:nvPr/>
        </p:nvSpPr>
        <p:spPr>
          <a:xfrm>
            <a:off x="6254496" y="1600200"/>
            <a:ext cx="2514600" cy="1280160"/>
          </a:xfrm>
          <a:prstGeom prst="roundRect">
            <a:avLst>
              <a:gd fmla="val 5714"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14"/>
          <p:cNvSpPr txBox="1"/>
          <p:nvPr/>
        </p:nvSpPr>
        <p:spPr>
          <a:xfrm>
            <a:off x="6391656" y="1691640"/>
            <a:ext cx="2240280"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Calibri"/>
              <a:buNone/>
            </a:pPr>
            <a:r>
              <a:rPr b="1" i="0" lang="en-US" sz="1400" u="none" cap="none" strike="noStrike">
                <a:solidFill>
                  <a:schemeClr val="accent1"/>
                </a:solidFill>
                <a:latin typeface="Calibri"/>
                <a:ea typeface="Calibri"/>
                <a:cs typeface="Calibri"/>
                <a:sym typeface="Calibri"/>
              </a:rPr>
              <a:t>3. Phê duyệt</a:t>
            </a:r>
            <a:endParaRPr b="0" i="0" sz="1400" u="none" cap="none" strike="noStrike">
              <a:solidFill>
                <a:schemeClr val="dk1"/>
              </a:solidFill>
              <a:latin typeface="Calibri"/>
              <a:ea typeface="Calibri"/>
              <a:cs typeface="Calibri"/>
              <a:sym typeface="Calibri"/>
            </a:endParaRPr>
          </a:p>
        </p:txBody>
      </p:sp>
      <p:sp>
        <p:nvSpPr>
          <p:cNvPr id="381" name="Google Shape;381;p14"/>
          <p:cNvSpPr txBox="1"/>
          <p:nvPr/>
        </p:nvSpPr>
        <p:spPr>
          <a:xfrm>
            <a:off x="6391656" y="2011680"/>
            <a:ext cx="22402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Nhỏ: quản trị dự án. Trung bình: thêm đầu mối ABC Wear. Lớn: ban kiểm soát, phụ lục hợp đồng.</a:t>
            </a:r>
            <a:endParaRPr b="0" i="0" sz="1200" u="none" cap="none" strike="noStrike">
              <a:solidFill>
                <a:schemeClr val="dk1"/>
              </a:solidFill>
              <a:latin typeface="Calibri"/>
              <a:ea typeface="Calibri"/>
              <a:cs typeface="Calibri"/>
              <a:sym typeface="Calibri"/>
            </a:endParaRPr>
          </a:p>
        </p:txBody>
      </p:sp>
      <p:sp>
        <p:nvSpPr>
          <p:cNvPr id="382" name="Google Shape;382;p14"/>
          <p:cNvSpPr/>
          <p:nvPr/>
        </p:nvSpPr>
        <p:spPr>
          <a:xfrm>
            <a:off x="8814816" y="2103120"/>
            <a:ext cx="246888" cy="274320"/>
          </a:xfrm>
          <a:prstGeom prst="rightArrow">
            <a:avLst>
              <a:gd fmla="val 50000" name="adj1"/>
              <a:gd fmla="val 50000" name="adj2"/>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14"/>
          <p:cNvSpPr/>
          <p:nvPr/>
        </p:nvSpPr>
        <p:spPr>
          <a:xfrm>
            <a:off x="9107424" y="1600200"/>
            <a:ext cx="2514600" cy="1280160"/>
          </a:xfrm>
          <a:prstGeom prst="roundRect">
            <a:avLst>
              <a:gd fmla="val 5714"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14"/>
          <p:cNvSpPr txBox="1"/>
          <p:nvPr/>
        </p:nvSpPr>
        <p:spPr>
          <a:xfrm>
            <a:off x="9244584" y="1691640"/>
            <a:ext cx="2240280"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Calibri"/>
              <a:buNone/>
            </a:pPr>
            <a:r>
              <a:rPr b="1" i="0" lang="en-US" sz="1400" u="none" cap="none" strike="noStrike">
                <a:solidFill>
                  <a:schemeClr val="accent1"/>
                </a:solidFill>
                <a:latin typeface="Calibri"/>
                <a:ea typeface="Calibri"/>
                <a:cs typeface="Calibri"/>
                <a:sym typeface="Calibri"/>
              </a:rPr>
              <a:t>4. Cập nhật cấu hình</a:t>
            </a:r>
            <a:endParaRPr b="0" i="0" sz="1400" u="none" cap="none" strike="noStrike">
              <a:solidFill>
                <a:schemeClr val="dk1"/>
              </a:solidFill>
              <a:latin typeface="Calibri"/>
              <a:ea typeface="Calibri"/>
              <a:cs typeface="Calibri"/>
              <a:sym typeface="Calibri"/>
            </a:endParaRPr>
          </a:p>
        </p:txBody>
      </p:sp>
      <p:sp>
        <p:nvSpPr>
          <p:cNvPr id="385" name="Google Shape;385;p14"/>
          <p:cNvSpPr txBox="1"/>
          <p:nvPr/>
        </p:nvSpPr>
        <p:spPr>
          <a:xfrm>
            <a:off x="9244584" y="2011680"/>
            <a:ext cx="22402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Cập nhật tài liệu theo sơ đồ phụ thuộc, tăng phiên bản, đóng CR khi ABC Wear kiểm tra đạt.</a:t>
            </a:r>
            <a:endParaRPr b="0" i="0" sz="1200" u="none" cap="none" strike="noStrike">
              <a:solidFill>
                <a:schemeClr val="dk1"/>
              </a:solidFill>
              <a:latin typeface="Calibri"/>
              <a:ea typeface="Calibri"/>
              <a:cs typeface="Calibri"/>
              <a:sym typeface="Calibri"/>
            </a:endParaRPr>
          </a:p>
        </p:txBody>
      </p:sp>
      <p:sp>
        <p:nvSpPr>
          <p:cNvPr id="386" name="Google Shape;386;p14"/>
          <p:cNvSpPr/>
          <p:nvPr/>
        </p:nvSpPr>
        <p:spPr>
          <a:xfrm>
            <a:off x="548640" y="3154680"/>
            <a:ext cx="3566160" cy="2103120"/>
          </a:xfrm>
          <a:prstGeom prst="roundRect">
            <a:avLst>
              <a:gd fmla="val 3478" name="adj"/>
            </a:avLst>
          </a:prstGeom>
          <a:solidFill>
            <a:schemeClr val="lt1"/>
          </a:solidFill>
          <a:ln cap="flat" cmpd="sng" w="12700">
            <a:solidFill>
              <a:srgbClr val="C9D2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14"/>
          <p:cNvSpPr/>
          <p:nvPr/>
        </p:nvSpPr>
        <p:spPr>
          <a:xfrm>
            <a:off x="731520" y="3337560"/>
            <a:ext cx="502920" cy="50292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88" name="Google Shape;388;p14"/>
          <p:cNvPicPr preferRelativeResize="0"/>
          <p:nvPr/>
        </p:nvPicPr>
        <p:blipFill rotWithShape="1">
          <a:blip r:embed="rId3">
            <a:alphaModFix/>
          </a:blip>
          <a:srcRect b="0" l="0" r="0" t="0"/>
          <a:stretch/>
        </p:blipFill>
        <p:spPr>
          <a:xfrm>
            <a:off x="842162" y="3448202"/>
            <a:ext cx="281635" cy="281635"/>
          </a:xfrm>
          <a:prstGeom prst="rect">
            <a:avLst/>
          </a:prstGeom>
          <a:noFill/>
          <a:ln>
            <a:noFill/>
          </a:ln>
        </p:spPr>
      </p:pic>
      <p:sp>
        <p:nvSpPr>
          <p:cNvPr id="389" name="Google Shape;389;p14"/>
          <p:cNvSpPr txBox="1"/>
          <p:nvPr/>
        </p:nvSpPr>
        <p:spPr>
          <a:xfrm>
            <a:off x="1371600" y="3401568"/>
            <a:ext cx="26060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Định nghĩa hoàn thành</a:t>
            </a:r>
            <a:endParaRPr b="0" i="0" sz="1500" u="none" cap="none" strike="noStrike">
              <a:solidFill>
                <a:schemeClr val="dk1"/>
              </a:solidFill>
              <a:latin typeface="Calibri"/>
              <a:ea typeface="Calibri"/>
              <a:cs typeface="Calibri"/>
              <a:sym typeface="Calibri"/>
            </a:endParaRPr>
          </a:p>
        </p:txBody>
      </p:sp>
      <p:sp>
        <p:nvSpPr>
          <p:cNvPr id="390" name="Google Shape;390;p14"/>
          <p:cNvSpPr txBox="1"/>
          <p:nvPr/>
        </p:nvSpPr>
        <p:spPr>
          <a:xfrm>
            <a:off x="731520" y="4023360"/>
            <a:ext cx="3200400" cy="114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50"/>
              <a:buFont typeface="Calibri"/>
              <a:buNone/>
            </a:pPr>
            <a:r>
              <a:rPr b="0" i="0" lang="en-US" sz="1550" u="none" cap="none" strike="noStrike">
                <a:solidFill>
                  <a:schemeClr val="dk1"/>
                </a:solidFill>
                <a:latin typeface="Calibri"/>
                <a:ea typeface="Calibri"/>
                <a:cs typeface="Calibri"/>
                <a:sym typeface="Calibri"/>
              </a:rPr>
              <a:t>Sản phẩm đúng đặc tả, mã nguồn đạt quy chuẩn, kiểm thử đạt, trình diễn cuối sprint được ABC Wear xác nhận.</a:t>
            </a:r>
            <a:endParaRPr b="0" i="0" sz="1550" u="none" cap="none" strike="noStrike">
              <a:solidFill>
                <a:schemeClr val="dk1"/>
              </a:solidFill>
              <a:latin typeface="Calibri"/>
              <a:ea typeface="Calibri"/>
              <a:cs typeface="Calibri"/>
              <a:sym typeface="Calibri"/>
            </a:endParaRPr>
          </a:p>
        </p:txBody>
      </p:sp>
      <p:sp>
        <p:nvSpPr>
          <p:cNvPr id="391" name="Google Shape;391;p14"/>
          <p:cNvSpPr/>
          <p:nvPr/>
        </p:nvSpPr>
        <p:spPr>
          <a:xfrm>
            <a:off x="4297680" y="3154680"/>
            <a:ext cx="3566160" cy="2103120"/>
          </a:xfrm>
          <a:prstGeom prst="roundRect">
            <a:avLst>
              <a:gd fmla="val 3478" name="adj"/>
            </a:avLst>
          </a:prstGeom>
          <a:solidFill>
            <a:schemeClr val="lt1"/>
          </a:solidFill>
          <a:ln cap="flat" cmpd="sng" w="12700">
            <a:solidFill>
              <a:srgbClr val="C9D2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14"/>
          <p:cNvSpPr/>
          <p:nvPr/>
        </p:nvSpPr>
        <p:spPr>
          <a:xfrm>
            <a:off x="4480560" y="3337560"/>
            <a:ext cx="502920" cy="50292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93" name="Google Shape;393;p14"/>
          <p:cNvPicPr preferRelativeResize="0"/>
          <p:nvPr/>
        </p:nvPicPr>
        <p:blipFill rotWithShape="1">
          <a:blip r:embed="rId4">
            <a:alphaModFix/>
          </a:blip>
          <a:srcRect b="0" l="0" r="0" t="0"/>
          <a:stretch/>
        </p:blipFill>
        <p:spPr>
          <a:xfrm>
            <a:off x="4591202" y="3448202"/>
            <a:ext cx="281635" cy="281635"/>
          </a:xfrm>
          <a:prstGeom prst="rect">
            <a:avLst/>
          </a:prstGeom>
          <a:noFill/>
          <a:ln>
            <a:noFill/>
          </a:ln>
        </p:spPr>
      </p:pic>
      <p:sp>
        <p:nvSpPr>
          <p:cNvPr id="394" name="Google Shape;394;p14"/>
          <p:cNvSpPr txBox="1"/>
          <p:nvPr/>
        </p:nvSpPr>
        <p:spPr>
          <a:xfrm>
            <a:off x="5120640" y="3401568"/>
            <a:ext cx="26060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Chất lượng và nghiệm thu</a:t>
            </a:r>
            <a:endParaRPr b="0" i="0" sz="1500" u="none" cap="none" strike="noStrike">
              <a:solidFill>
                <a:schemeClr val="dk1"/>
              </a:solidFill>
              <a:latin typeface="Calibri"/>
              <a:ea typeface="Calibri"/>
              <a:cs typeface="Calibri"/>
              <a:sym typeface="Calibri"/>
            </a:endParaRPr>
          </a:p>
        </p:txBody>
      </p:sp>
      <p:sp>
        <p:nvSpPr>
          <p:cNvPr id="395" name="Google Shape;395;p14"/>
          <p:cNvSpPr txBox="1"/>
          <p:nvPr/>
        </p:nvSpPr>
        <p:spPr>
          <a:xfrm>
            <a:off x="4480560" y="4023360"/>
            <a:ext cx="3200400" cy="114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50"/>
              <a:buFont typeface="Calibri"/>
              <a:buNone/>
            </a:pPr>
            <a:r>
              <a:rPr b="0" i="0" lang="en-US" sz="1550" u="none" cap="none" strike="noStrike">
                <a:solidFill>
                  <a:schemeClr val="dk1"/>
                </a:solidFill>
                <a:latin typeface="Calibri"/>
                <a:ea typeface="Calibri"/>
                <a:cs typeface="Calibri"/>
                <a:sym typeface="Calibri"/>
              </a:rPr>
              <a:t>Năm chỉ tiêu KT01-KT05: sẵn sàng 99,5%, phản hồi không quá 2 giây, 500 người dùng đồng thời, OWASP Top 10, sao lưu.</a:t>
            </a:r>
            <a:endParaRPr b="0" i="0" sz="1550" u="none" cap="none" strike="noStrike">
              <a:solidFill>
                <a:schemeClr val="dk1"/>
              </a:solidFill>
              <a:latin typeface="Calibri"/>
              <a:ea typeface="Calibri"/>
              <a:cs typeface="Calibri"/>
              <a:sym typeface="Calibri"/>
            </a:endParaRPr>
          </a:p>
        </p:txBody>
      </p:sp>
      <p:sp>
        <p:nvSpPr>
          <p:cNvPr id="396" name="Google Shape;396;p14"/>
          <p:cNvSpPr/>
          <p:nvPr/>
        </p:nvSpPr>
        <p:spPr>
          <a:xfrm>
            <a:off x="8046720" y="3154680"/>
            <a:ext cx="3566160" cy="2103120"/>
          </a:xfrm>
          <a:prstGeom prst="roundRect">
            <a:avLst>
              <a:gd fmla="val 3478" name="adj"/>
            </a:avLst>
          </a:prstGeom>
          <a:solidFill>
            <a:schemeClr val="lt1"/>
          </a:solidFill>
          <a:ln cap="flat" cmpd="sng" w="12700">
            <a:solidFill>
              <a:srgbClr val="C9D2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14"/>
          <p:cNvSpPr/>
          <p:nvPr/>
        </p:nvSpPr>
        <p:spPr>
          <a:xfrm>
            <a:off x="8229600" y="3337560"/>
            <a:ext cx="502920" cy="50292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98" name="Google Shape;398;p14"/>
          <p:cNvPicPr preferRelativeResize="0"/>
          <p:nvPr/>
        </p:nvPicPr>
        <p:blipFill rotWithShape="1">
          <a:blip r:embed="rId5">
            <a:alphaModFix/>
          </a:blip>
          <a:srcRect b="0" l="0" r="0" t="0"/>
          <a:stretch/>
        </p:blipFill>
        <p:spPr>
          <a:xfrm>
            <a:off x="8340242" y="3448202"/>
            <a:ext cx="281635" cy="281635"/>
          </a:xfrm>
          <a:prstGeom prst="rect">
            <a:avLst/>
          </a:prstGeom>
          <a:noFill/>
          <a:ln>
            <a:noFill/>
          </a:ln>
        </p:spPr>
      </p:pic>
      <p:sp>
        <p:nvSpPr>
          <p:cNvPr id="399" name="Google Shape;399;p14"/>
          <p:cNvSpPr txBox="1"/>
          <p:nvPr/>
        </p:nvSpPr>
        <p:spPr>
          <a:xfrm>
            <a:off x="8869680" y="3401568"/>
            <a:ext cx="26060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Quản lý cấu hình</a:t>
            </a:r>
            <a:endParaRPr b="0" i="0" sz="1500" u="none" cap="none" strike="noStrike">
              <a:solidFill>
                <a:schemeClr val="dk1"/>
              </a:solidFill>
              <a:latin typeface="Calibri"/>
              <a:ea typeface="Calibri"/>
              <a:cs typeface="Calibri"/>
              <a:sym typeface="Calibri"/>
            </a:endParaRPr>
          </a:p>
        </p:txBody>
      </p:sp>
      <p:sp>
        <p:nvSpPr>
          <p:cNvPr id="400" name="Google Shape;400;p14"/>
          <p:cNvSpPr txBox="1"/>
          <p:nvPr/>
        </p:nvSpPr>
        <p:spPr>
          <a:xfrm>
            <a:off x="8229600" y="4023360"/>
            <a:ext cx="3200400" cy="114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50"/>
              <a:buFont typeface="Calibri"/>
              <a:buNone/>
            </a:pPr>
            <a:r>
              <a:rPr b="0" i="0" lang="en-US" sz="1550" u="none" cap="none" strike="noStrike">
                <a:solidFill>
                  <a:schemeClr val="dk1"/>
                </a:solidFill>
                <a:latin typeface="Calibri"/>
                <a:ea typeface="Calibri"/>
                <a:cs typeface="Calibri"/>
                <a:sym typeface="Calibri"/>
              </a:rPr>
              <a:t>Đường cơ sở tại M2, nhánh và nhãn phiên bản, kiểm tra cấu hình trước M3 và cut over, sổ phiên bản tự động.</a:t>
            </a:r>
            <a:endParaRPr b="0" i="0" sz="1550" u="none" cap="none" strike="noStrike">
              <a:solidFill>
                <a:schemeClr val="dk1"/>
              </a:solidFill>
              <a:latin typeface="Calibri"/>
              <a:ea typeface="Calibri"/>
              <a:cs typeface="Calibri"/>
              <a:sym typeface="Calibri"/>
            </a:endParaRPr>
          </a:p>
        </p:txBody>
      </p:sp>
      <p:sp>
        <p:nvSpPr>
          <p:cNvPr id="401" name="Google Shape;401;p14"/>
          <p:cNvSpPr txBox="1"/>
          <p:nvPr/>
        </p:nvSpPr>
        <p:spPr>
          <a:xfrm>
            <a:off x="548640" y="5486400"/>
            <a:ext cx="110642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Calibri"/>
              <a:buNone/>
            </a:pPr>
            <a:r>
              <a:rPr b="0" i="1" lang="en-US" sz="1200" u="none" cap="none" strike="noStrike">
                <a:solidFill>
                  <a:schemeClr val="accent4"/>
                </a:solidFill>
                <a:latin typeface="Calibri"/>
                <a:ea typeface="Calibri"/>
                <a:cs typeface="Calibri"/>
                <a:sym typeface="Calibri"/>
              </a:rPr>
              <a:t>Nội dung là quy trình theo kế hoạch, không phải kết quả kiểm thử thực tế.</a:t>
            </a:r>
            <a:endParaRPr b="0" i="0" sz="1200" u="none" cap="none" strike="noStrike">
              <a:solidFill>
                <a:schemeClr val="dk1"/>
              </a:solidFill>
              <a:latin typeface="Calibri"/>
              <a:ea typeface="Calibri"/>
              <a:cs typeface="Calibri"/>
              <a:sym typeface="Calibri"/>
            </a:endParaRPr>
          </a:p>
        </p:txBody>
      </p:sp>
      <p:sp>
        <p:nvSpPr>
          <p:cNvPr id="402" name="Google Shape;402;p14"/>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6F8189"/>
                </a:solidFill>
                <a:latin typeface="Calibri"/>
                <a:ea typeface="Calibri"/>
                <a:cs typeface="Calibri"/>
                <a:sym typeface="Calibri"/>
              </a:rPr>
              <a:t>‹#›</a:t>
            </a:fld>
            <a:endParaRPr b="0" i="0" sz="1000" u="none" cap="none" strike="noStrike">
              <a:solidFill>
                <a:srgbClr val="6F8189"/>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7" name="Shape 407"/>
        <p:cNvGrpSpPr/>
        <p:nvPr/>
      </p:nvGrpSpPr>
      <p:grpSpPr>
        <a:xfrm>
          <a:off x="0" y="0"/>
          <a:ext cx="0" cy="0"/>
          <a:chOff x="0" y="0"/>
          <a:chExt cx="0" cy="0"/>
        </a:xfrm>
      </p:grpSpPr>
      <p:sp>
        <p:nvSpPr>
          <p:cNvPr id="408" name="Google Shape;408;p17"/>
          <p:cNvSpPr txBox="1"/>
          <p:nvPr>
            <p:ph type="title"/>
          </p:nvPr>
        </p:nvSpPr>
        <p:spPr>
          <a:xfrm>
            <a:off x="548640" y="548640"/>
            <a:ext cx="11064240" cy="7315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1"/>
              </a:buClr>
              <a:buSzPts val="3200"/>
              <a:buFont typeface="Cambria"/>
              <a:buNone/>
            </a:pPr>
            <a:r>
              <a:rPr lang="en-US" sz="3200">
                <a:solidFill>
                  <a:schemeClr val="dk2"/>
                </a:solidFill>
                <a:latin typeface="Arial"/>
                <a:ea typeface="Arial"/>
                <a:cs typeface="Arial"/>
                <a:sym typeface="Arial"/>
              </a:rPr>
              <a:t>Tổng kết</a:t>
            </a:r>
            <a:endParaRPr sz="3200">
              <a:solidFill>
                <a:schemeClr val="dk2"/>
              </a:solidFill>
              <a:latin typeface="Arial"/>
              <a:ea typeface="Arial"/>
              <a:cs typeface="Arial"/>
              <a:sym typeface="Arial"/>
            </a:endParaRPr>
          </a:p>
        </p:txBody>
      </p:sp>
      <p:sp>
        <p:nvSpPr>
          <p:cNvPr id="409" name="Google Shape;409;p17"/>
          <p:cNvSpPr/>
          <p:nvPr/>
        </p:nvSpPr>
        <p:spPr>
          <a:xfrm>
            <a:off x="548640" y="1600200"/>
            <a:ext cx="2103120" cy="2377440"/>
          </a:xfrm>
          <a:prstGeom prst="roundRect">
            <a:avLst>
              <a:gd fmla="val 3478" name="adj"/>
            </a:avLst>
          </a:prstGeom>
          <a:solidFill>
            <a:schemeClr val="lt1">
              <a:alpha val="10196"/>
            </a:schemeClr>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17"/>
          <p:cNvSpPr txBox="1"/>
          <p:nvPr/>
        </p:nvSpPr>
        <p:spPr>
          <a:xfrm>
            <a:off x="713232" y="1783080"/>
            <a:ext cx="178308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1500"/>
              <a:buFont typeface="Calibri"/>
              <a:buNone/>
            </a:pPr>
            <a:r>
              <a:rPr b="1" i="0" lang="en-US" sz="1500" u="none" cap="none" strike="noStrike">
                <a:solidFill>
                  <a:schemeClr val="accent3"/>
                </a:solidFill>
                <a:latin typeface="Arial"/>
                <a:ea typeface="Arial"/>
                <a:cs typeface="Arial"/>
                <a:sym typeface="Arial"/>
              </a:rPr>
              <a:t>Hồ sơ mời thầu</a:t>
            </a:r>
            <a:endParaRPr b="0" i="0" sz="1500" u="none" cap="none" strike="noStrike">
              <a:solidFill>
                <a:schemeClr val="dk1"/>
              </a:solidFill>
              <a:latin typeface="Arial"/>
              <a:ea typeface="Arial"/>
              <a:cs typeface="Arial"/>
              <a:sym typeface="Arial"/>
            </a:endParaRPr>
          </a:p>
        </p:txBody>
      </p:sp>
      <p:sp>
        <p:nvSpPr>
          <p:cNvPr id="411" name="Google Shape;411;p17"/>
          <p:cNvSpPr txBox="1"/>
          <p:nvPr/>
        </p:nvSpPr>
        <p:spPr>
          <a:xfrm>
            <a:off x="713232" y="2514600"/>
            <a:ext cx="178308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400"/>
              <a:buFont typeface="Calibri"/>
              <a:buNone/>
            </a:pPr>
            <a:r>
              <a:rPr b="0" i="0" lang="en-US" sz="1400" u="none" cap="none" strike="noStrike">
                <a:solidFill>
                  <a:schemeClr val="dk2"/>
                </a:solidFill>
                <a:latin typeface="Arial"/>
                <a:ea typeface="Arial"/>
                <a:cs typeface="Arial"/>
                <a:sym typeface="Arial"/>
              </a:rPr>
              <a:t>Mẫu 5A, giá gói thầu 2 tỷ đồng, bảng dữ liệu 23 mục, điều kiện cụ thể 25 mục</a:t>
            </a:r>
            <a:endParaRPr b="0" i="0" sz="1400" u="none" cap="none" strike="noStrike">
              <a:solidFill>
                <a:schemeClr val="dk2"/>
              </a:solidFill>
              <a:latin typeface="Arial"/>
              <a:ea typeface="Arial"/>
              <a:cs typeface="Arial"/>
              <a:sym typeface="Arial"/>
            </a:endParaRPr>
          </a:p>
        </p:txBody>
      </p:sp>
      <p:sp>
        <p:nvSpPr>
          <p:cNvPr id="412" name="Google Shape;412;p17"/>
          <p:cNvSpPr/>
          <p:nvPr/>
        </p:nvSpPr>
        <p:spPr>
          <a:xfrm>
            <a:off x="2788920" y="1600200"/>
            <a:ext cx="2103120" cy="2377440"/>
          </a:xfrm>
          <a:prstGeom prst="roundRect">
            <a:avLst>
              <a:gd fmla="val 3478" name="adj"/>
            </a:avLst>
          </a:prstGeom>
          <a:solidFill>
            <a:schemeClr val="lt1">
              <a:alpha val="10196"/>
            </a:schemeClr>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17"/>
          <p:cNvSpPr txBox="1"/>
          <p:nvPr/>
        </p:nvSpPr>
        <p:spPr>
          <a:xfrm>
            <a:off x="2953512" y="1783080"/>
            <a:ext cx="178308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1500"/>
              <a:buFont typeface="Calibri"/>
              <a:buNone/>
            </a:pPr>
            <a:r>
              <a:rPr b="1" i="0" lang="en-US" sz="1500" u="none" cap="none" strike="noStrike">
                <a:solidFill>
                  <a:schemeClr val="accent3"/>
                </a:solidFill>
                <a:latin typeface="Arial"/>
                <a:ea typeface="Arial"/>
                <a:cs typeface="Arial"/>
                <a:sym typeface="Arial"/>
              </a:rPr>
              <a:t>WBS</a:t>
            </a:r>
            <a:endParaRPr b="0" i="0" sz="1500" u="none" cap="none" strike="noStrike">
              <a:solidFill>
                <a:schemeClr val="dk1"/>
              </a:solidFill>
              <a:latin typeface="Arial"/>
              <a:ea typeface="Arial"/>
              <a:cs typeface="Arial"/>
              <a:sym typeface="Arial"/>
            </a:endParaRPr>
          </a:p>
        </p:txBody>
      </p:sp>
      <p:sp>
        <p:nvSpPr>
          <p:cNvPr id="414" name="Google Shape;414;p17"/>
          <p:cNvSpPr txBox="1"/>
          <p:nvPr/>
        </p:nvSpPr>
        <p:spPr>
          <a:xfrm>
            <a:off x="2953512" y="2514600"/>
            <a:ext cx="178308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400"/>
              <a:buFont typeface="Calibri"/>
              <a:buNone/>
            </a:pPr>
            <a:r>
              <a:rPr b="0" i="0" lang="en-US" sz="1400" u="none" cap="none" strike="noStrike">
                <a:solidFill>
                  <a:schemeClr val="dk2"/>
                </a:solidFill>
                <a:latin typeface="Arial"/>
                <a:ea typeface="Arial"/>
                <a:cs typeface="Arial"/>
                <a:sym typeface="Arial"/>
              </a:rPr>
              <a:t>8 nhóm công việc, 144 gói, tổng 657 MD</a:t>
            </a:r>
            <a:endParaRPr b="0" i="0" sz="1400" u="none" cap="none" strike="noStrike">
              <a:solidFill>
                <a:schemeClr val="dk2"/>
              </a:solidFill>
              <a:latin typeface="Arial"/>
              <a:ea typeface="Arial"/>
              <a:cs typeface="Arial"/>
              <a:sym typeface="Arial"/>
            </a:endParaRPr>
          </a:p>
        </p:txBody>
      </p:sp>
      <p:sp>
        <p:nvSpPr>
          <p:cNvPr id="415" name="Google Shape;415;p17"/>
          <p:cNvSpPr/>
          <p:nvPr/>
        </p:nvSpPr>
        <p:spPr>
          <a:xfrm>
            <a:off x="5029200" y="1600200"/>
            <a:ext cx="2103120" cy="2377440"/>
          </a:xfrm>
          <a:prstGeom prst="roundRect">
            <a:avLst>
              <a:gd fmla="val 3478" name="adj"/>
            </a:avLst>
          </a:prstGeom>
          <a:solidFill>
            <a:schemeClr val="lt1">
              <a:alpha val="10196"/>
            </a:schemeClr>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17"/>
          <p:cNvSpPr txBox="1"/>
          <p:nvPr/>
        </p:nvSpPr>
        <p:spPr>
          <a:xfrm>
            <a:off x="5193792" y="1783080"/>
            <a:ext cx="178308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1500"/>
              <a:buFont typeface="Calibri"/>
              <a:buNone/>
            </a:pPr>
            <a:r>
              <a:rPr b="1" i="0" lang="en-US" sz="1500" u="none" cap="none" strike="noStrike">
                <a:solidFill>
                  <a:schemeClr val="accent3"/>
                </a:solidFill>
                <a:latin typeface="Arial"/>
                <a:ea typeface="Arial"/>
                <a:cs typeface="Arial"/>
                <a:sym typeface="Arial"/>
              </a:rPr>
              <a:t>Tiến độ và nhân sự</a:t>
            </a:r>
            <a:endParaRPr b="0" i="0" sz="1500" u="none" cap="none" strike="noStrike">
              <a:solidFill>
                <a:schemeClr val="dk1"/>
              </a:solidFill>
              <a:latin typeface="Arial"/>
              <a:ea typeface="Arial"/>
              <a:cs typeface="Arial"/>
              <a:sym typeface="Arial"/>
            </a:endParaRPr>
          </a:p>
        </p:txBody>
      </p:sp>
      <p:sp>
        <p:nvSpPr>
          <p:cNvPr id="417" name="Google Shape;417;p17"/>
          <p:cNvSpPr txBox="1"/>
          <p:nvPr/>
        </p:nvSpPr>
        <p:spPr>
          <a:xfrm>
            <a:off x="5193792" y="2514600"/>
            <a:ext cx="178308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400"/>
              <a:buFont typeface="Calibri"/>
              <a:buNone/>
            </a:pPr>
            <a:r>
              <a:rPr b="0" i="0" lang="en-US" sz="1400" u="none" cap="none" strike="noStrike">
                <a:solidFill>
                  <a:schemeClr val="dk2"/>
                </a:solidFill>
                <a:latin typeface="Arial"/>
                <a:ea typeface="Arial"/>
                <a:cs typeface="Arial"/>
                <a:sym typeface="Arial"/>
              </a:rPr>
              <a:t>7 sprint, 5 người chính và 7 vị trí bổ sung, quỹ 796 MD</a:t>
            </a:r>
            <a:endParaRPr b="0" i="0" sz="1400" u="none" cap="none" strike="noStrike">
              <a:solidFill>
                <a:schemeClr val="dk2"/>
              </a:solidFill>
              <a:latin typeface="Arial"/>
              <a:ea typeface="Arial"/>
              <a:cs typeface="Arial"/>
              <a:sym typeface="Arial"/>
            </a:endParaRPr>
          </a:p>
        </p:txBody>
      </p:sp>
      <p:sp>
        <p:nvSpPr>
          <p:cNvPr id="418" name="Google Shape;418;p17"/>
          <p:cNvSpPr/>
          <p:nvPr/>
        </p:nvSpPr>
        <p:spPr>
          <a:xfrm>
            <a:off x="7269480" y="1600200"/>
            <a:ext cx="2103120" cy="2377440"/>
          </a:xfrm>
          <a:prstGeom prst="roundRect">
            <a:avLst>
              <a:gd fmla="val 3478" name="adj"/>
            </a:avLst>
          </a:prstGeom>
          <a:solidFill>
            <a:schemeClr val="lt1">
              <a:alpha val="10196"/>
            </a:schemeClr>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17"/>
          <p:cNvSpPr txBox="1"/>
          <p:nvPr/>
        </p:nvSpPr>
        <p:spPr>
          <a:xfrm>
            <a:off x="7434072" y="1783080"/>
            <a:ext cx="178308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1500"/>
              <a:buFont typeface="Calibri"/>
              <a:buNone/>
            </a:pPr>
            <a:r>
              <a:rPr b="1" i="0" lang="en-US" sz="1500" u="none" cap="none" strike="noStrike">
                <a:solidFill>
                  <a:schemeClr val="accent3"/>
                </a:solidFill>
                <a:latin typeface="Arial"/>
                <a:ea typeface="Arial"/>
                <a:cs typeface="Arial"/>
                <a:sym typeface="Arial"/>
              </a:rPr>
              <a:t>Ước lượng và chi phí</a:t>
            </a:r>
            <a:endParaRPr b="0" i="0" sz="1500" u="none" cap="none" strike="noStrike">
              <a:solidFill>
                <a:schemeClr val="dk1"/>
              </a:solidFill>
              <a:latin typeface="Arial"/>
              <a:ea typeface="Arial"/>
              <a:cs typeface="Arial"/>
              <a:sym typeface="Arial"/>
            </a:endParaRPr>
          </a:p>
        </p:txBody>
      </p:sp>
      <p:sp>
        <p:nvSpPr>
          <p:cNvPr id="420" name="Google Shape;420;p17"/>
          <p:cNvSpPr txBox="1"/>
          <p:nvPr/>
        </p:nvSpPr>
        <p:spPr>
          <a:xfrm>
            <a:off x="7434072" y="2514600"/>
            <a:ext cx="178308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400"/>
              <a:buFont typeface="Calibri"/>
              <a:buNone/>
            </a:pPr>
            <a:r>
              <a:rPr b="0" i="0" lang="en-US" sz="1400" u="none" cap="none" strike="noStrike">
                <a:solidFill>
                  <a:schemeClr val="dk2"/>
                </a:solidFill>
                <a:latin typeface="Arial"/>
                <a:ea typeface="Arial"/>
                <a:cs typeface="Arial"/>
                <a:sym typeface="Arial"/>
              </a:rPr>
              <a:t>Ước lượng theo chức năng, BAC 1,42 tỷ đồng, giá chào 1,75 tỷ đồng</a:t>
            </a:r>
            <a:endParaRPr b="0" i="0" sz="1400" u="none" cap="none" strike="noStrike">
              <a:solidFill>
                <a:schemeClr val="dk2"/>
              </a:solidFill>
              <a:latin typeface="Arial"/>
              <a:ea typeface="Arial"/>
              <a:cs typeface="Arial"/>
              <a:sym typeface="Arial"/>
            </a:endParaRPr>
          </a:p>
        </p:txBody>
      </p:sp>
      <p:sp>
        <p:nvSpPr>
          <p:cNvPr id="421" name="Google Shape;421;p17"/>
          <p:cNvSpPr/>
          <p:nvPr/>
        </p:nvSpPr>
        <p:spPr>
          <a:xfrm>
            <a:off x="9509760" y="1600200"/>
            <a:ext cx="2103120" cy="2377440"/>
          </a:xfrm>
          <a:prstGeom prst="roundRect">
            <a:avLst>
              <a:gd fmla="val 3478" name="adj"/>
            </a:avLst>
          </a:prstGeom>
          <a:solidFill>
            <a:schemeClr val="lt1">
              <a:alpha val="10196"/>
            </a:schemeClr>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17"/>
          <p:cNvSpPr txBox="1"/>
          <p:nvPr/>
        </p:nvSpPr>
        <p:spPr>
          <a:xfrm>
            <a:off x="9674352" y="1783080"/>
            <a:ext cx="178308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1500"/>
              <a:buFont typeface="Calibri"/>
              <a:buNone/>
            </a:pPr>
            <a:r>
              <a:rPr b="1" i="0" lang="en-US" sz="1500" u="none" cap="none" strike="noStrike">
                <a:solidFill>
                  <a:schemeClr val="accent3"/>
                </a:solidFill>
                <a:latin typeface="Arial"/>
                <a:ea typeface="Arial"/>
                <a:cs typeface="Arial"/>
                <a:sym typeface="Arial"/>
              </a:rPr>
              <a:t>Kiểm soát và chuyển giao</a:t>
            </a:r>
            <a:endParaRPr b="0" i="0" sz="1500" u="none" cap="none" strike="noStrike">
              <a:solidFill>
                <a:schemeClr val="dk1"/>
              </a:solidFill>
              <a:latin typeface="Arial"/>
              <a:ea typeface="Arial"/>
              <a:cs typeface="Arial"/>
              <a:sym typeface="Arial"/>
            </a:endParaRPr>
          </a:p>
        </p:txBody>
      </p:sp>
      <p:sp>
        <p:nvSpPr>
          <p:cNvPr id="423" name="Google Shape;423;p17"/>
          <p:cNvSpPr txBox="1"/>
          <p:nvPr/>
        </p:nvSpPr>
        <p:spPr>
          <a:xfrm>
            <a:off x="9674352" y="2514600"/>
            <a:ext cx="178308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400"/>
              <a:buFont typeface="Calibri"/>
              <a:buNone/>
            </a:pPr>
            <a:r>
              <a:rPr b="0" i="0" lang="en-US" sz="1400" u="none" cap="none" strike="noStrike">
                <a:solidFill>
                  <a:schemeClr val="dk2"/>
                </a:solidFill>
                <a:latin typeface="Arial"/>
                <a:ea typeface="Arial"/>
                <a:cs typeface="Arial"/>
                <a:sym typeface="Arial"/>
              </a:rPr>
              <a:t>Rủi ro, thay đổi, cấu hình, phiên bản, báo cáo và điều kiện bàn giao</a:t>
            </a:r>
            <a:endParaRPr b="0" i="0" sz="1400" u="none" cap="none" strike="noStrike">
              <a:solidFill>
                <a:schemeClr val="dk2"/>
              </a:solidFill>
              <a:latin typeface="Arial"/>
              <a:ea typeface="Arial"/>
              <a:cs typeface="Arial"/>
              <a:sym typeface="Arial"/>
            </a:endParaRPr>
          </a:p>
        </p:txBody>
      </p:sp>
      <p:sp>
        <p:nvSpPr>
          <p:cNvPr id="424" name="Google Shape;424;p17"/>
          <p:cNvSpPr txBox="1"/>
          <p:nvPr/>
        </p:nvSpPr>
        <p:spPr>
          <a:xfrm>
            <a:off x="548640" y="4343400"/>
            <a:ext cx="11064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900"/>
              <a:buFont typeface="Cambria"/>
              <a:buNone/>
            </a:pPr>
            <a:r>
              <a:rPr b="0" i="0" lang="en-US" sz="1900" u="none" cap="none" strike="noStrike">
                <a:solidFill>
                  <a:schemeClr val="dk2"/>
                </a:solidFill>
                <a:latin typeface="Arial"/>
                <a:ea typeface="Arial"/>
                <a:cs typeface="Arial"/>
                <a:sym typeface="Arial"/>
              </a:rPr>
              <a:t>Các tài liệu dùng chung một nguồn dữ liệu, liên kết theo mã WBS và đều đạt kiểm tra lớp A, lớp B.</a:t>
            </a:r>
            <a:endParaRPr b="0" i="0" sz="1900" u="none" cap="none" strike="noStrike">
              <a:solidFill>
                <a:schemeClr val="dk2"/>
              </a:solidFill>
              <a:latin typeface="Arial"/>
              <a:ea typeface="Arial"/>
              <a:cs typeface="Arial"/>
              <a:sym typeface="Arial"/>
            </a:endParaRPr>
          </a:p>
        </p:txBody>
      </p:sp>
      <p:sp>
        <p:nvSpPr>
          <p:cNvPr id="425" name="Google Shape;425;p17"/>
          <p:cNvSpPr txBox="1"/>
          <p:nvPr/>
        </p:nvSpPr>
        <p:spPr>
          <a:xfrm>
            <a:off x="548640" y="5120640"/>
            <a:ext cx="1106424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3000"/>
              <a:buFont typeface="Cambria"/>
              <a:buNone/>
            </a:pPr>
            <a:r>
              <a:rPr b="1" i="0" lang="en-US" sz="3000" u="none" cap="none" strike="noStrike">
                <a:solidFill>
                  <a:schemeClr val="accent3"/>
                </a:solidFill>
                <a:latin typeface="Arial"/>
                <a:ea typeface="Arial"/>
                <a:cs typeface="Arial"/>
                <a:sym typeface="Arial"/>
              </a:rPr>
              <a:t>Trao đổi và câu hỏi</a:t>
            </a:r>
            <a:endParaRPr b="0" i="0" sz="3000" u="none" cap="none" strike="noStrike">
              <a:solidFill>
                <a:schemeClr val="dk1"/>
              </a:solidFill>
              <a:latin typeface="Arial"/>
              <a:ea typeface="Arial"/>
              <a:cs typeface="Arial"/>
              <a:sym typeface="Arial"/>
            </a:endParaRPr>
          </a:p>
        </p:txBody>
      </p:sp>
      <p:sp>
        <p:nvSpPr>
          <p:cNvPr id="426" name="Google Shape;426;p17"/>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i="0" lang="en-US" sz="1000" u="none" cap="none" strike="noStrike">
                <a:solidFill>
                  <a:srgbClr val="A8C1C4"/>
                </a:solidFill>
                <a:latin typeface="Arial"/>
                <a:ea typeface="Arial"/>
                <a:cs typeface="Arial"/>
                <a:sym typeface="Arial"/>
              </a:rPr>
              <a:t>‹#›</a:t>
            </a:fld>
            <a:endParaRPr i="0" sz="1000" u="none" cap="none" strike="noStrike">
              <a:solidFill>
                <a:srgbClr val="A8C1C4"/>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1" name="Shape 43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ABC Wear W3">
  <a:themeElements>
    <a:clrScheme name="ABC Wear W3">
      <a:dk1>
        <a:srgbClr val="1D2327"/>
      </a:dk1>
      <a:lt1>
        <a:srgbClr val="FFFFFF"/>
      </a:lt1>
      <a:dk2>
        <a:srgbClr val="24343D"/>
      </a:dk2>
      <a:lt2>
        <a:srgbClr val="EEF2F3"/>
      </a:lt2>
      <a:accent1>
        <a:srgbClr val="B4523A"/>
      </a:accent1>
      <a:accent2>
        <a:srgbClr val="3E6F74"/>
      </a:accent2>
      <a:accent3>
        <a:srgbClr val="D3A13F"/>
      </a:accent3>
      <a:accent4>
        <a:srgbClr val="6F8189"/>
      </a:accent4>
      <a:accent5>
        <a:srgbClr val="8A3A2A"/>
      </a:accent5>
      <a:accent6>
        <a:srgbClr val="A8C1C4"/>
      </a:accent6>
      <a:hlink>
        <a:srgbClr val="3E6F74"/>
      </a:hlink>
      <a:folHlink>
        <a:srgbClr val="6F818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BC Wear W3">
  <a:themeElements>
    <a:clrScheme name="ABC Wear W3">
      <a:dk1>
        <a:srgbClr val="1D2327"/>
      </a:dk1>
      <a:lt1>
        <a:srgbClr val="FFFFFF"/>
      </a:lt1>
      <a:dk2>
        <a:srgbClr val="24343D"/>
      </a:dk2>
      <a:lt2>
        <a:srgbClr val="EEF2F3"/>
      </a:lt2>
      <a:accent1>
        <a:srgbClr val="B4523A"/>
      </a:accent1>
      <a:accent2>
        <a:srgbClr val="3E6F74"/>
      </a:accent2>
      <a:accent3>
        <a:srgbClr val="D3A13F"/>
      </a:accent3>
      <a:accent4>
        <a:srgbClr val="6F8189"/>
      </a:accent4>
      <a:accent5>
        <a:srgbClr val="8A3A2A"/>
      </a:accent5>
      <a:accent6>
        <a:srgbClr val="A8C1C4"/>
      </a:accent6>
      <a:hlink>
        <a:srgbClr val="3E6F74"/>
      </a:hlink>
      <a:folHlink>
        <a:srgbClr val="6F818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2026-10-02T18:09:41Z</dcterms:created>
  <dc:creator>Tran Ba Dat</dc:creator>
</cp:coreProperties>
</file>