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3rthzhLPst2zs7GclfCnjSFev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3A356F-784D-4884-A680-775E4A61AB1C}">
  <a:tblStyle styleId="{333A356F-784D-4884-A680-775E4A61AB1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Bốn phân hệ chức năng</c:v>
                </c:pt>
              </c:strCache>
            </c:strRef>
          </c:tx>
          <c:spPr>
            <a:solidFill>
              <a:srgbClr val="B4523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1. Quản lý dự án</c:v>
                  </c:pt>
                  <c:pt idx="1">
                    <c:v>2. Phân tích và thiết kế chung</c:v>
                  </c:pt>
                  <c:pt idx="2">
                    <c:v>3. Quản lý khách hàng</c:v>
                  </c:pt>
                  <c:pt idx="3">
                    <c:v>4. Quản lý sản phẩm</c:v>
                  </c:pt>
                  <c:pt idx="4">
                    <c:v>5. Quản lý đơn hàng</c:v>
                  </c:pt>
                  <c:pt idx="5">
                    <c:v>6. Tích hợp hệ thống</c:v>
                  </c:pt>
                  <c:pt idx="6">
                    <c:v>7. Kiểm thử hệ thống và vận hành thử</c:v>
                  </c:pt>
                  <c:pt idx="7">
                    <c:v>8. Triển khai và chuyển giao</c:v>
                  </c:pt>
                </c:lvl>
              </c:multiLvlStrCache>
            </c:multiLvlStrRef>
          </c:cat>
          <c:val>
            <c:numRef>
              <c:f>Sheet1!$B$2:$B$9</c:f>
              <c:numCache>
                <c:formatCode>General</c:formatCode>
                <c:ptCount val="8"/>
                <c:pt idx="0">
                  <c:v>0</c:v>
                </c:pt>
                <c:pt idx="1">
                  <c:v>0</c:v>
                </c:pt>
                <c:pt idx="2">
                  <c:v>91</c:v>
                </c:pt>
                <c:pt idx="3">
                  <c:v>95</c:v>
                </c:pt>
                <c:pt idx="4">
                  <c:v>129</c:v>
                </c:pt>
                <c:pt idx="5">
                  <c:v>95</c:v>
                </c:pt>
                <c:pt idx="6">
                  <c:v>0</c:v>
                </c:pt>
                <c:pt idx="7">
                  <c:v>0</c:v>
                </c:pt>
              </c:numCache>
            </c:numRef>
          </c:val>
        </c:ser>
        <c:ser>
          <c:idx val="1"/>
          <c:order val="1"/>
          <c:tx>
            <c:strRef>
              <c:f>Sheet1!$C$1</c:f>
              <c:strCache>
                <c:ptCount val="1"/>
                <c:pt idx="0">
                  <c:v>Quản lý, thiết kế chung, kiểm thử, chuyển giao</c:v>
                </c:pt>
              </c:strCache>
            </c:strRef>
          </c:tx>
          <c:spPr>
            <a:solidFill>
              <a:srgbClr val="6F8189"/>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1. Quản lý dự án</c:v>
                  </c:pt>
                  <c:pt idx="1">
                    <c:v>2. Phân tích và thiết kế chung</c:v>
                  </c:pt>
                  <c:pt idx="2">
                    <c:v>3. Quản lý khách hàng</c:v>
                  </c:pt>
                  <c:pt idx="3">
                    <c:v>4. Quản lý sản phẩm</c:v>
                  </c:pt>
                  <c:pt idx="4">
                    <c:v>5. Quản lý đơn hàng</c:v>
                  </c:pt>
                  <c:pt idx="5">
                    <c:v>6. Tích hợp hệ thống</c:v>
                  </c:pt>
                  <c:pt idx="6">
                    <c:v>7. Kiểm thử hệ thống và vận hành thử</c:v>
                  </c:pt>
                  <c:pt idx="7">
                    <c:v>8. Triển khai và chuyển giao</c:v>
                  </c:pt>
                </c:lvl>
              </c:multiLvlStrCache>
            </c:multiLvlStrRef>
          </c:cat>
          <c:val>
            <c:numRef>
              <c:f>Sheet1!$C$2:$C$9</c:f>
              <c:numCache>
                <c:formatCode>General</c:formatCode>
                <c:ptCount val="8"/>
                <c:pt idx="0">
                  <c:v>60</c:v>
                </c:pt>
                <c:pt idx="1">
                  <c:v>66</c:v>
                </c:pt>
                <c:pt idx="2">
                  <c:v>0</c:v>
                </c:pt>
                <c:pt idx="3">
                  <c:v>0</c:v>
                </c:pt>
                <c:pt idx="4">
                  <c:v>0</c:v>
                </c:pt>
                <c:pt idx="5">
                  <c:v>0</c:v>
                </c:pt>
                <c:pt idx="6">
                  <c:v>71</c:v>
                </c:pt>
                <c:pt idx="7">
                  <c:v>50</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D232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D232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43D"/>
                </a:solidFill>
                <a:latin typeface="+mn-lt"/>
              </a:defRPr>
            </a:pPr>
            <a:r>
              <a:rPr sz="1400" b="0" i="0" u="none" strike="noStrike">
                <a:solidFill>
                  <a:srgbClr val="24343D"/>
                </a:solidFill>
                <a:latin typeface="+mn-lt"/>
              </a:rPr>
              <a:t>Số người theo sprint</a:t>
            </a:r>
          </a:p>
        </c:rich>
      </c:tx>
      <c:layout/>
      <c:overlay val="0"/>
    </c:title>
    <c:autoTitleDeleted val="0"/>
    <c:plotArea>
      <c:layout/>
      <c:barChart>
        <c:barDir val="col"/>
        <c:grouping val="stacked"/>
        <c:varyColors val="0"/>
        <c:ser>
          <c:idx val="0"/>
          <c:order val="0"/>
          <c:tx>
            <c:strRef>
              <c:f>Sheet1!$B$1</c:f>
              <c:strCache>
                <c:ptCount val="1"/>
                <c:pt idx="0">
                  <c:v>Nhóm chính</c:v>
                </c:pt>
              </c:strCache>
            </c:strRef>
          </c:tx>
          <c:spPr>
            <a:solidFill>
              <a:srgbClr val="24343D"/>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S1</c:v>
                  </c:pt>
                  <c:pt idx="1">
                    <c:v>S2</c:v>
                  </c:pt>
                  <c:pt idx="2">
                    <c:v>S3</c:v>
                  </c:pt>
                  <c:pt idx="3">
                    <c:v>S4</c:v>
                  </c:pt>
                  <c:pt idx="4">
                    <c:v>S5</c:v>
                  </c:pt>
                  <c:pt idx="5">
                    <c:v>S6</c:v>
                  </c:pt>
                  <c:pt idx="6">
                    <c:v>S7</c:v>
                  </c:pt>
                </c:lvl>
              </c:multiLvlStrCache>
            </c:multiLvlStrRef>
          </c:cat>
          <c:val>
            <c:numRef>
              <c:f>Sheet1!$B$2:$B$8</c:f>
              <c:numCache>
                <c:formatCode>General</c:formatCode>
                <c:ptCount val="7"/>
                <c:pt idx="0">
                  <c:v>5</c:v>
                </c:pt>
                <c:pt idx="1">
                  <c:v>5</c:v>
                </c:pt>
                <c:pt idx="2">
                  <c:v>5</c:v>
                </c:pt>
                <c:pt idx="3">
                  <c:v>5</c:v>
                </c:pt>
                <c:pt idx="4">
                  <c:v>5</c:v>
                </c:pt>
                <c:pt idx="5">
                  <c:v>5</c:v>
                </c:pt>
                <c:pt idx="6">
                  <c:v>5</c:v>
                </c:pt>
              </c:numCache>
            </c:numRef>
          </c:val>
        </c:ser>
        <c:ser>
          <c:idx val="1"/>
          <c:order val="1"/>
          <c:tx>
            <c:strRef>
              <c:f>Sheet1!$C$1</c:f>
              <c:strCache>
                <c:ptCount val="1"/>
                <c:pt idx="0">
                  <c:v>Vị trí bổ sung</c:v>
                </c:pt>
              </c:strCache>
            </c:strRef>
          </c:tx>
          <c:spPr>
            <a:solidFill>
              <a:srgbClr val="B4523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S1</c:v>
                  </c:pt>
                  <c:pt idx="1">
                    <c:v>S2</c:v>
                  </c:pt>
                  <c:pt idx="2">
                    <c:v>S3</c:v>
                  </c:pt>
                  <c:pt idx="3">
                    <c:v>S4</c:v>
                  </c:pt>
                  <c:pt idx="4">
                    <c:v>S5</c:v>
                  </c:pt>
                  <c:pt idx="5">
                    <c:v>S6</c:v>
                  </c:pt>
                  <c:pt idx="6">
                    <c:v>S7</c:v>
                  </c:pt>
                </c:lvl>
              </c:multiLvlStrCache>
            </c:multiLvlStrRef>
          </c:cat>
          <c:val>
            <c:numRef>
              <c:f>Sheet1!$C$2:$C$8</c:f>
              <c:numCache>
                <c:formatCode>General</c:formatCode>
                <c:ptCount val="7"/>
                <c:pt idx="0">
                  <c:v>1</c:v>
                </c:pt>
                <c:pt idx="1">
                  <c:v>1</c:v>
                </c:pt>
                <c:pt idx="2">
                  <c:v>4</c:v>
                </c:pt>
                <c:pt idx="3">
                  <c:v>6</c:v>
                </c:pt>
                <c:pt idx="4">
                  <c:v>6</c:v>
                </c:pt>
                <c:pt idx="5">
                  <c:v>6</c:v>
                </c:pt>
                <c:pt idx="6">
                  <c:v>6</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2327"/>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D232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4343D"/>
                </a:solidFill>
                <a:latin typeface="+mn-lt"/>
              </a:defRPr>
            </a:pPr>
            <a:r>
              <a:rPr sz="1300" b="0" i="0" u="none" strike="noStrike">
                <a:solidFill>
                  <a:srgbClr val="24343D"/>
                </a:solidFill>
                <a:latin typeface="+mn-lt"/>
              </a:rPr>
              <a:t>Chi phí và giá, triệu đồng</a:t>
            </a:r>
          </a:p>
        </c:rich>
      </c:tx>
      <c:layout/>
      <c:overlay val="0"/>
    </c:title>
    <c:autoTitleDeleted val="0"/>
    <c:plotArea>
      <c:layout/>
      <c:barChart>
        <c:barDir val="bar"/>
        <c:grouping val="clustered"/>
        <c:varyColors val="0"/>
        <c:ser>
          <c:idx val="0"/>
          <c:order val="0"/>
          <c:tx>
            <c:strRef>
              <c:f>Sheet1!$B$1</c:f>
              <c:strCache>
                <c:ptCount val="1"/>
                <c:pt idx="0">
                  <c:v>Triệu đồng</c:v>
                </c:pt>
              </c:strCache>
            </c:strRef>
          </c:tx>
          <c:spPr>
            <a:solidFill>
              <a:srgbClr val="3E6F7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Lương và bảo hiểm theo người: 1.244,04</c:v>
                  </c:pt>
                  <c:pt idx="1">
                    <c:v>A - Nhân công: 1.411,98</c:v>
                  </c:pt>
                  <c:pt idx="2">
                    <c:v>A + B - Chi phí đã biết: 1.561,98</c:v>
                  </c:pt>
                  <c:pt idx="3">
                    <c:v>Giá chào: 1.750,00</c:v>
                  </c:pt>
                  <c:pt idx="4">
                    <c:v>Giá gói thầu: 2.000,00</c:v>
                  </c:pt>
                </c:lvl>
              </c:multiLvlStrCache>
            </c:multiLvlStrRef>
          </c:cat>
          <c:val>
            <c:numRef>
              <c:f>Sheet1!$B$2:$B$6</c:f>
              <c:numCache>
                <c:formatCode>General</c:formatCode>
                <c:ptCount val="5"/>
                <c:pt idx="0">
                  <c:v>1244.04</c:v>
                </c:pt>
                <c:pt idx="1">
                  <c:v>1411.98</c:v>
                </c:pt>
                <c:pt idx="2">
                  <c:v>1561.98</c:v>
                </c:pt>
                <c:pt idx="3">
                  <c:v>1750</c:v>
                </c:pt>
                <c:pt idx="4">
                  <c:v>2000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D2327"/>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25 giây</a:t>
            </a:r>
            <a:br>
              <a:rPr lang="en-US"/>
            </a:br>
            <a:br>
              <a:rPr lang="en-US"/>
            </a:br>
            <a:r>
              <a:rPr lang="en-US"/>
              <a:t>Nhóm xin báo cáo kết quả bài tập ABC Wear. Nội dung gồm hai phần: hồ sơ mời thầu ở vai trò bên mời thầu và hồ sơ dự thầu ở vai trò nhà thầu, với các đầu mục WBS, tiến độ, nhân sự, ước lượng, chi phí và các kế hoạch quản lý. Mỗi đầu mục trình bày sản phẩm và số liệu chính.</a:t>
            </a:r>
            <a:br>
              <a:rPr lang="en-US"/>
            </a:br>
            <a:br>
              <a:rPr lang="en-US"/>
            </a:br>
            <a:r>
              <a:rPr lang="en-US"/>
              <a:t>Nguồn đối chiếu: [S12], [S15].</a:t>
            </a:r>
            <a:endParaRPr/>
          </a:p>
        </p:txBody>
      </p:sp>
      <p:sp>
        <p:nvSpPr>
          <p:cNvPr id="24" name="Google Shape;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45 giây</a:t>
            </a:r>
            <a:br>
              <a:rPr lang="en-US"/>
            </a:br>
            <a:br>
              <a:rPr lang="en-US"/>
            </a:br>
            <a:r>
              <a:rPr lang="en-US"/>
              <a:t>Bài tập yêu cầu lập phương án triển khai website bán hàng cho ABC Wear. Ở vai trò bên mời thầu, nhóm lập hồ sơ mời thầu theo Mẫu 5A. Ở vai trò nhà thầu, nhóm phân rã bốn phân hệ chức năng và các công việc hỗ trợ thành tám nhóm WBS, sau đó lập tiến độ, phân công nhân sự, dự toán và các quy trình kiểm soát. Hồ sơ dự thầu tổng hợp các nội dung này theo đầu mục. Các chức năng phần mềm nêu trong hồ sơ là sản phẩm dự kiến của giai đoạn triển khai.</a:t>
            </a:r>
            <a:br>
              <a:rPr lang="en-US"/>
            </a:br>
            <a:br>
              <a:rPr lang="en-US"/>
            </a:br>
            <a:r>
              <a:rPr lang="en-US"/>
              <a:t>Nguồn đối chiếu: [S1]-[S8], [S10], [S12], [S14], [S15] mục II.3 và III.1-III.11.</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r>
              <a:rPr lang="en-US"/>
              <a:t>Ở vai trò bên mời thầu, nhóm lập E-HSMT theo Mẫu 5A của Thông tư số 79/2025/TT-BTC cho gói thầu dịch vụ phi tư vấn, hình thức đấu thầu rộng rãi qua mạng, phương thức một giai đoạn một túi hồ sơ, loại hợp đồng trọn gói. Giá gói thầu là 2 tỷ đồng. Bảo đảm dự thầu là 30 triệu đồng, thấp hơn mức 50 triệu đồng, do đó nhà thầu cam kết trong đơn dự thầu. Lịch đấu thầu bảo đảm hợp đồng có hiệu lực ngày 18/3 và giữ mốc vận hành 01/7/2027 theo RFP. Hồ sơ dự thầu được đánh giá theo ba bước: năng lực và kinh nghiệm theo tiêu chí đạt hoặc không đạt, kỹ thuật tối thiểu 70 trên 100 điểm, tài chính theo phương pháp giá thấp nhất. Hồ sơ mời thầu điền đủ 23 mục bảng dữ liệu đấu thầu và 23 mục điều kiện cụ thể của hợp đồng theo mẫu. So với RFP, hồ sơ có hai điểm điều chỉnh: nộp một bộ hồ sơ qua Hệ thống và tổ chức hội nghị tiền đấu thầu thay cho 10 bản in và buổi trình bày. Hạn làm rõ là ngày 03/3 để bảo đảm thời hạn tối thiểu trước thời điểm đóng thầu.</a:t>
            </a:r>
            <a:br>
              <a:rPr lang="en-US"/>
            </a:br>
            <a:br>
              <a:rPr lang="en-US"/>
            </a:br>
            <a:r>
              <a:rPr lang="en-US"/>
              <a:t>Nguồn đối chiếu: [S12] gồm thông tin E-TBMT, Chương II, III, VII và RFP ABC Wear.</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50 giây</a:t>
            </a:r>
            <a:br>
              <a:rPr lang="en-US"/>
            </a:br>
            <a:br>
              <a:rPr lang="en-US"/>
            </a:br>
            <a:r>
              <a:rPr lang="en-US"/>
              <a:t>Bộ WBS gồm tám tài liệu, tổng 657 MD. Bốn phân hệ khách hàng, sản phẩm, đơn hàng và tích hợp chiếm 410 MD, còn quản lý dự án, thiết kế chung, kiểm thử hệ thống và chuyển giao chiếm 247 MD. Mỗi nhóm được phân rã thành các gói có mã, nỗ lực và sản phẩm đầu ra. So với phương án W2, bản W3 tăng 57 MD, trong đó 27 MD cho năm hạng mục nền tảng phát triển, bảo mật dùng chung, tối ưu hiệu năng, giám sát và sao lưu. Phần bổ sung đã nằm trong tổng 657 MD và không được cộng thêm khi lập dự toán.</a:t>
            </a:r>
            <a:br>
              <a:rPr lang="en-US"/>
            </a:br>
            <a:br>
              <a:rPr lang="en-US"/>
            </a:br>
            <a:r>
              <a:rPr lang="en-US"/>
              <a:t>Nguồn đối chiếu: [S1]-[S8], bảng điều chỉnh MD trong [S11], [S15] mục III.2.</a:t>
            </a: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50 giây</a:t>
            </a:r>
            <a:br>
              <a:rPr lang="en-US"/>
            </a:br>
            <a:br>
              <a:rPr lang="en-US"/>
            </a:br>
            <a:r>
              <a:rPr lang="en-US"/>
              <a:t>Phân hệ khách hàng gồm các chức năng đăng ký, đăng nhập, hồ sơ thành viên, địa chỉ giao hàng và khôi phục mật khẩu. Bản W3 bổ sung đồng ý điều khoản, chính sách bảo mật khi đăng ký, giới hạn số lần đăng nhập sai và danh mục địa chỉ hành chính. Phần lập trình và kiểm thử đơn vị là 44 MD. Cộng thêm công phân tích yêu cầu, thiết kế, kiểm thử và tài liệu, tổng phân hệ là 91 MD.</a:t>
            </a:r>
            <a:br>
              <a:rPr lang="en-US"/>
            </a:br>
            <a:br>
              <a:rPr lang="en-US"/>
            </a:br>
            <a:r>
              <a:rPr lang="en-US"/>
              <a:t>Nguồn đối chiếu: [S3], mục bảng chi tiết, mã 3.1-3.5.</a:t>
            </a:r>
            <a:endParaRPr/>
          </a:p>
        </p:txBody>
      </p:sp>
      <p:sp>
        <p:nvSpPr>
          <p:cNvPr id="117" name="Google Shape;11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45 giây</a:t>
            </a:r>
            <a:br>
              <a:rPr lang="en-US"/>
            </a:br>
            <a:br>
              <a:rPr lang="en-US"/>
            </a:br>
            <a:r>
              <a:rPr lang="en-US"/>
              <a:t>Phân hệ sản phẩm gồm danh mục, thuộc tính, hình ảnh, giá, khuyến mại, tìm kiếm và giao diện sản phẩm. Phần lập trình và kiểm thử đơn vị là 43 MD trong tổng 95 MD của phân hệ. Dữ liệu sản phẩm được lấy từ Main System theo quy tắc của ABC Wear, do đó phạm vi không bao gồm hệ thống quản trị sản phẩm nội bộ mới.</a:t>
            </a:r>
            <a:br>
              <a:rPr lang="en-US"/>
            </a:br>
            <a:br>
              <a:rPr lang="en-US"/>
            </a:br>
            <a:r>
              <a:rPr lang="en-US"/>
              <a:t>Nguồn đối chiếu: [S4] mục bảng chi tiết, [S12] và [S15] mục II.3.</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r>
              <a:rPr lang="en-US"/>
              <a:t>Phân hệ đơn hàng có nỗ lực dự kiến lớn nhất. Quy trình mua hàng được tách thành các gói giỏ hàng, tạo đơn, thanh toán, trạng thái đơn, giao diện, tính tổng tiền và giữ tồn kho. Tổng tiền và giữ tồn kho có mã riêng để xác định rõ phạm vi nghiệp vụ. Chính sách thanh toán, phí giao hàng, hủy đơn và đổi trả cần ABC Wear xác nhận khi triển khai.</a:t>
            </a:r>
            <a:br>
              <a:rPr lang="en-US"/>
            </a:br>
            <a:br>
              <a:rPr lang="en-US"/>
            </a:br>
            <a:r>
              <a:rPr lang="en-US"/>
              <a:t>Nguồn đối chiếu: [S5], mục bảng chi tiết, mã 5.1-5.5.</a:t>
            </a:r>
            <a:endParaRPr/>
          </a:p>
        </p:txBody>
      </p:sp>
      <p:sp>
        <p:nvSpPr>
          <p:cNvPr id="171" name="Google Shape;1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50 giây</a:t>
            </a:r>
            <a:br>
              <a:rPr lang="en-US"/>
            </a:br>
            <a:br>
              <a:rPr lang="en-US"/>
            </a:br>
            <a:r>
              <a:rPr lang="en-US"/>
              <a:t>WBS tích hợp gồm các kết nối giữa website với Main System, hệ thống giao vận, dịch vụ email và cổng thanh toán theo nhà cung cấp được xác nhận. Ngoài lập trình kết nối, WBS gồm đặc tả giao diện, thiết kế adapter, kiểm thử đầu cuối và tài liệu, tổng 95 MD. Nghiệp vụ thanh toán trong đơn hàng và kết nối cổng thanh toán được tách thành hai gói riêng để không tính trùng.</a:t>
            </a:r>
            <a:br>
              <a:rPr lang="en-US"/>
            </a:br>
            <a:br>
              <a:rPr lang="en-US"/>
            </a:br>
            <a:r>
              <a:rPr lang="en-US"/>
              <a:t>Nguồn đối chiếu: [S6] mục bảng chi tiết, [S15] mục II.2 và II.3.</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65 giây</a:t>
            </a:r>
            <a:br>
              <a:rPr lang="en-US"/>
            </a:br>
            <a:br>
              <a:rPr lang="en-US"/>
            </a:br>
            <a:r>
              <a:rPr lang="en-US"/>
              <a:t>Kế hoạch gồm bảy sprint, mỗi sprint có sản phẩm cuối kỳ. Ba sprint đầu thực hiện khảo sát, xây dựng nền tảng và thiết kế, trong đó sprint 3 gồm ba tuần, các sprint còn lại gồm hai tuần. Sprint 4 đến sprint 6 thực hiện phát triển và tích hợp. Tích hợp hoàn tất trong sprint 6, ngày 17/6, để sprint 7 dành cho UAT và chuyển giao. Mỗi sprint có điều kiện kiểm tra trước khi chuyển sang sprint tiếp theo. Lịch 73 ngày làm việc là giả định kế hoạch, cần điều chỉnh theo ngày hiệu lực hợp đồng và lịch nghỉ chính thức năm 2027.</a:t>
            </a:r>
            <a:br>
              <a:rPr lang="en-US"/>
            </a:br>
            <a:br>
              <a:rPr lang="en-US"/>
            </a:br>
            <a:r>
              <a:rPr lang="en-US"/>
              <a:t>Nguồn đối chiếu: [S10] mục 7.1 và 8.1, [S15] mục II.6, III.1, III.3 và Mẫu 10A.</a:t>
            </a:r>
            <a:endParaRPr/>
          </a:p>
        </p:txBody>
      </p:sp>
      <p:sp>
        <p:nvSpPr>
          <p:cNvPr id="219" name="Google Shape;2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r>
              <a:rPr lang="en-US"/>
              <a:t>Nhóm chính gồm năm thành viên với vai trò chính và vai trò kiêm nhiệm. Bảng phân công xác định các mã WBS mỗi người chủ trì hoặc phối hợp và số MD theo từng sprint. Quỹ thời gian của nhóm chính là 365 MD, số MD được giao là 355 MD, thấp hơn nhiều so với khối lượng 657 MD, do đó cần huy động thêm nhân sự. Vai trò kiêm nhiệm dùng chung quỹ thời gian của cùng một người.</a:t>
            </a:r>
            <a:br>
              <a:rPr lang="en-US"/>
            </a:br>
            <a:br>
              <a:rPr lang="en-US"/>
            </a:br>
            <a:r>
              <a:rPr lang="en-US"/>
              <a:t>Nguồn đối chiếu: [S10] mục 1, 2 và 2.1, [S15] mục III.4 và Mẫu 06A.</a:t>
            </a:r>
            <a:endParaRPr/>
          </a:p>
        </p:txBody>
      </p:sp>
      <p:sp>
        <p:nvSpPr>
          <p:cNvPr id="244" name="Google Shape;2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65 giây</a:t>
            </a:r>
            <a:br>
              <a:rPr lang="en-US"/>
            </a:br>
            <a:br>
              <a:rPr lang="en-US"/>
            </a:br>
            <a:r>
              <a:rPr lang="en-US"/>
              <a:t>Phương án bổ sung sáu vị trí từ nhân sự nội bộ của nhà thầu, tổng 302 MD. Vị trí K tham gia từ S1 nhưng chưa được giao công việc trong S1, các vị trí còn lại tham gia từ S3 hoặc S4. Tổng quỹ thời gian là 677 MD so với khối lượng 657 MD, phần dư 20 MD thuộc sprint đầu. Do S2 đến S7 sử dụng toàn bộ quỹ thời gian, nhóm theo dõi rủi ro huy động nhân sự và khối lượng cuối kỳ. Phần dư ở S1 không bù được cho chậm trễ ở S7.</a:t>
            </a:r>
            <a:br>
              <a:rPr lang="en-US"/>
            </a:br>
            <a:br>
              <a:rPr lang="en-US"/>
            </a:br>
            <a:r>
              <a:rPr lang="en-US"/>
              <a:t>Nguồn đối chiếu: [S10] mục 1.1, 1.2, 2 và 8.1, [S15] mục III.3, III.4 và Mẫu 09A.</a:t>
            </a:r>
            <a:endParaRPr/>
          </a:p>
        </p:txBody>
      </p:sp>
      <p:sp>
        <p:nvSpPr>
          <p:cNvPr id="263" name="Google Shape;2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65 giây</a:t>
            </a:r>
            <a:br>
              <a:rPr lang="en-US"/>
            </a:br>
            <a:br>
              <a:rPr lang="en-US"/>
            </a:br>
            <a:r>
              <a:rPr lang="en-US"/>
              <a:t>Danh mục ước lượng gồm 106 chức năng và 25 đầu việc phi chức năng, gắn với mã WBS và định mức. Tổng sau hiệu chỉnh là 657 MD. Nỗ lực được chia theo năm loại công việc để áp đơn giá. Dòng Dev có 285,78 MD, chia 20 rồi nhân đơn giá 42 triệu đồng mỗi MM. Các dòng này thể hiện loại công việc, không phải chức danh. So với bảng phân công, nhóm phát triển dư 61,03 MD, nhóm phân tích và kiểm thử thiếu 74,03 MD. Phần thiếu do trưởng nhóm đảm nhận 13 MD kiến trúc và nghiệm thu, nhóm phát triển đảm nhận phần còn lại. Công việc DevOps tách riêng là 8,19 MD, còn phần lớn thời gian của Toàn và D3 thuộc dòng Dev.</a:t>
            </a:r>
            <a:br>
              <a:rPr lang="en-US"/>
            </a:br>
            <a:br>
              <a:rPr lang="en-US"/>
            </a:br>
            <a:r>
              <a:rPr lang="en-US"/>
              <a:t>Nguồn đối chiếu: [S14] sheet Tong hop, ô E13:E16 và B19:G27, [S10] và [S15] mục III.4-III.6, Mẫu 06A, 09A. Số trình bày được làm tròn, chi phí tính bằng số chưa làm tròn.</a:t>
            </a:r>
            <a:endParaRPr/>
          </a:p>
        </p:txBody>
      </p:sp>
      <p:sp>
        <p:nvSpPr>
          <p:cNvPr id="275" name="Google Shape;2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75 giây</a:t>
            </a:r>
            <a:br>
              <a:rPr lang="en-US"/>
            </a:br>
            <a:br>
              <a:rPr lang="en-US"/>
            </a:br>
            <a:r>
              <a:rPr lang="en-US"/>
              <a:t>Dòng A là 1.411,98 triệu đồng, tính theo đơn giá trọn gói của từng loại công việc. Cộng 150 triệu đồng cho môi trường, công cụ, bảo hành và dự phòng, chi phí đã biết là 1.561,98 triệu đồng. Để kiểm tra dòng A, nhóm tính chi phí theo từng người được huy động, sử dụng mức lương tham chiếu thị trường và chi phí bảo hiểm. Kết quả là 1.244,04 triệu đồng cho 677 MD, bao gồm 20 MD dư ở sprint đầu. Dòng A cao hơn 167,94 triệu đồng và đủ chi trả khi năng suất từ 88,1% trở lên. Giá chào 1.750 triệu đồng thấp hơn giá gói thầu 12,5%. Dịch vụ phần mềm thuộc đối tượng không chịu thuế GTGT, do đó 188,02 triệu đồng còn lại là phần chi phí chung và lợi nhuận. Bảng phân bổ nhân công theo sprint và giá theo WBS trong hồ sơ dự thầu là phân bổ giá, không thay thế bảng chi phí này.</a:t>
            </a:r>
            <a:br>
              <a:rPr lang="en-US"/>
            </a:br>
            <a:br>
              <a:rPr lang="en-US"/>
            </a:br>
            <a:r>
              <a:rPr lang="en-US"/>
              <a:t>Nguồn đối chiếu: [S14] sheet Tong hop, ô G27:G37, [S15] mục III.6 và Mẫu 11A, [S16] mục 3 và 5. Khoản 21 Điều 5 Luật Thuế GTGT số 48/2024/QH15 và khoản 13 Điều 4 Nghị định 181/2025/NĐ-CP. Số tiền làm tròn đến 0,01 triệu đồng.</a:t>
            </a:r>
            <a:endParaRPr/>
          </a:p>
        </p:txBody>
      </p:sp>
      <p:sp>
        <p:nvSpPr>
          <p:cNvPr id="289" name="Google Shape;28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60 giây</a:t>
            </a:r>
            <a:br>
              <a:rPr lang="en-US"/>
            </a:br>
            <a:br>
              <a:rPr lang="en-US"/>
            </a:br>
            <a:r>
              <a:rPr lang="en-US"/>
              <a:t>Danh mục rủi ro gồm tám rủi ro, bảng trình bày bốn rủi ro ảnh hưởng trực tiếp đến tính khả thi của kế hoạch. Mỗi rủi ro có tín hiệu nhận biết, biện pháp và người chủ trì. Rủi ro chậm bàn giao API được xử lý bằng việc xác nhận đặc tả giao diện sớm và sử dụng API giả lập, còn khối lượng tập trung ở S7 được giảm bằng kiểm thử tăng dần từ S5. Báo cáo tuần được gửi trước 17 giờ thứ Sáu và các cuộc họp được tổ chức theo sprint. Nội dung báo cáo được tổng hợp theo mã WBS, gồm công việc, nỗ lực, chi phí và các vấn đề cần quyết định.</a:t>
            </a:r>
            <a:br>
              <a:rPr lang="en-US"/>
            </a:br>
            <a:br>
              <a:rPr lang="en-US"/>
            </a:br>
            <a:r>
              <a:rPr lang="en-US"/>
              <a:t>Nguồn đối chiếu: [S15], III.9-III.10 và II.8. Các tên trong bảng là người chủ trì được đề xuất trong kế hoạch.</a:t>
            </a:r>
            <a:endParaRPr/>
          </a:p>
        </p:txBody>
      </p:sp>
      <p:sp>
        <p:nvSpPr>
          <p:cNvPr id="303" name="Google Shape;30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45 giây</a:t>
            </a:r>
            <a:br>
              <a:rPr lang="en-US"/>
            </a:br>
            <a:br>
              <a:rPr lang="en-US"/>
            </a:br>
            <a:r>
              <a:rPr lang="en-US"/>
              <a:t>Điều kiện hoàn thành được xác định theo tiêu chí, không chỉ theo ngày kết thúc. UAT phải đạt và các lỗi gây gián đoạn luồng đặt hàng phải được khắc phục dứt điểm. Trước chuyển đổi, hệ thống được vận hành thử đến ngày 30/6, sau đó hai bên diễn tập, đối chiếu dữ liệu, thống nhất quyết định go/no-go và phương án rollback. Ngày 01/7 là mốc cut over dự kiến và ABC Wear xác nhận khi hệ thống đáp ứng tiêu chí. Hồ sơ xác định nội dung bàn giao, thời hạn bảo hành và ba đường cơ sở về phạm vi, tiến độ, chi phí.</a:t>
            </a:r>
            <a:br>
              <a:rPr lang="en-US"/>
            </a:br>
            <a:br>
              <a:rPr lang="en-US"/>
            </a:br>
            <a:r>
              <a:rPr lang="en-US"/>
              <a:t>Nguồn đối chiếu: [S15] mục III.7, III.11, II.4, II.10 và [S8]. Các mốc và biên bản là nội dung dự kiến trong kế hoạch.</a:t>
            </a:r>
            <a:endParaRPr/>
          </a:p>
        </p:txBody>
      </p:sp>
      <p:sp>
        <p:nvSpPr>
          <p:cNvPr id="324" name="Google Shape;3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55 giây</a:t>
            </a:r>
            <a:br>
              <a:rPr lang="en-US"/>
            </a:br>
            <a:br>
              <a:rPr lang="en-US"/>
            </a:br>
            <a:r>
              <a:rPr lang="en-US"/>
              <a:t>Kế hoạch chất lượng xác định tiêu chí hoàn thành làm căn cứ nghiệm thu: mỗi hạng mục phải được review, kiểm thử, triển khai thành công trên môi trường thử và cập nhật tài liệu. Yêu cầu thay đổi phát sinh sau ngày ký baseline SRS được lập phiếu CR và đánh giá tác động trong ba ngày làm việc. Thay đổi ảnh hưởng đến giá hoặc ngày vận hành phải được ban chỉ đạo phê duyệt. Tài liệu và mã nguồn được quản lý phiên bản để truy vết và khôi phục khi cần.</a:t>
            </a:r>
            <a:br>
              <a:rPr lang="en-US"/>
            </a:br>
            <a:br>
              <a:rPr lang="en-US"/>
            </a:br>
            <a:r>
              <a:rPr lang="en-US"/>
              <a:t>Nguồn đối chiếu: [S15] mục III.7-III.8 và các hoạt động chất lượng trong [S7]. Nội dung là quy trình theo kế hoạch, không phải kết quả kiểm thử thực tế.</a:t>
            </a:r>
            <a:endParaRPr/>
          </a:p>
        </p:txBody>
      </p:sp>
      <p:sp>
        <p:nvSpPr>
          <p:cNvPr id="367" name="Google Shape;36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Thời lượng: 30 giây</a:t>
            </a:r>
            <a:br>
              <a:rPr lang="en-US"/>
            </a:br>
            <a:br>
              <a:rPr lang="en-US"/>
            </a:br>
            <a:r>
              <a:rPr lang="en-US"/>
              <a:t>Kết quả bài tập gồm hồ sơ mời thầu theo Mẫu 5A và bộ tài liệu kế hoạch liên kết từ WBS đến sprint, nhân sự, dự toán và kiểm soát dự án. Hồ sơ dự thầu tổng hợp các kết quả này theo đầu mục. Khi triển khai thực tế, các giả định về nhân sự, giao diện với đối tác và lịch thực hiện cần được xác nhận lại. Nhóm xin kết thúc phần báo cáo và sẵn sàng trả lời câu hỏi.</a:t>
            </a:r>
            <a:br>
              <a:rPr lang="en-US"/>
            </a:br>
            <a:br>
              <a:rPr lang="en-US"/>
            </a:br>
            <a:r>
              <a:rPr lang="en-US"/>
              <a:t>Nguồn đối chiếu: Tổng hợp các đầu mục trên.</a:t>
            </a:r>
            <a:br>
              <a:rPr lang="en-US"/>
            </a:br>
            <a:br>
              <a:rPr lang="en-US"/>
            </a:br>
            <a:r>
              <a:rPr lang="en-US"/>
              <a:t>Danh mục nguồn:</a:t>
            </a:r>
            <a:br>
              <a:rPr lang="en-US"/>
            </a:br>
            <a:r>
              <a:rPr lang="en-US"/>
              <a:t>[S1]-[S8] WBS 1 đến WBS 8</a:t>
            </a:r>
            <a:br>
              <a:rPr lang="en-US"/>
            </a:br>
            <a:r>
              <a:rPr lang="en-US"/>
              <a:t>[S9] Kế hoạch theo sprint</a:t>
            </a:r>
            <a:br>
              <a:rPr lang="en-US"/>
            </a:br>
            <a:r>
              <a:rPr lang="en-US"/>
              <a:t>[S10] Nhân sự và năng lực thực tế của nhóm</a:t>
            </a:r>
            <a:br>
              <a:rPr lang="en-US"/>
            </a:br>
            <a:r>
              <a:rPr lang="en-US"/>
              <a:t>[S11] Ghi chú điều chỉnh HSDT</a:t>
            </a:r>
            <a:br>
              <a:rPr lang="en-US"/>
            </a:br>
            <a:r>
              <a:rPr lang="en-US"/>
              <a:t>[S12] HSMT ABC Wear W3</a:t>
            </a:r>
            <a:br>
              <a:rPr lang="en-US"/>
            </a:br>
            <a:r>
              <a:rPr lang="en-US"/>
              <a:t>[S13] Năng lực và cơ cấu nhân sự theo sprint</a:t>
            </a:r>
            <a:br>
              <a:rPr lang="en-US"/>
            </a:br>
            <a:r>
              <a:rPr lang="en-US"/>
              <a:t>[S14] Chi phí và báo giá.xlsx</a:t>
            </a:r>
            <a:br>
              <a:rPr lang="en-US"/>
            </a:br>
            <a:r>
              <a:rPr lang="en-US"/>
              <a:t>[S15] Hồ sơ dự thầu tổng hợp</a:t>
            </a:r>
            <a:br>
              <a:rPr lang="en-US"/>
            </a:br>
            <a:r>
              <a:rPr lang="en-US"/>
              <a:t>[S16] Ghi chú quan trọng bàn giao</a:t>
            </a:r>
            <a:endParaRPr/>
          </a:p>
        </p:txBody>
      </p:sp>
      <p:sp>
        <p:nvSpPr>
          <p:cNvPr id="406" name="Google Shape;40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67f9e92cad1e895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h67f9e92cad1e895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h67f9e92cad1e895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chemeClr val="dk2"/>
        </a:solidFill>
      </p:bgPr>
    </p:bg>
    <p:spTree>
      <p:nvGrpSpPr>
        <p:cNvPr id="11" name="Shape 11"/>
        <p:cNvGrpSpPr/>
        <p:nvPr/>
      </p:nvGrpSpPr>
      <p:grpSpPr>
        <a:xfrm>
          <a:off x="0" y="0"/>
          <a:ext cx="0" cy="0"/>
          <a:chOff x="0" y="0"/>
          <a:chExt cx="0" cy="0"/>
        </a:xfrm>
      </p:grpSpPr>
      <p:sp>
        <p:nvSpPr>
          <p:cNvPr id="12" name="Google Shape;12;p19"/>
          <p:cNvSpPr txBox="1"/>
          <p:nvPr>
            <p:ph type="title"/>
          </p:nvPr>
        </p:nvSpPr>
        <p:spPr>
          <a:xfrm>
            <a:off x="731520" y="1417320"/>
            <a:ext cx="10698480" cy="914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4000"/>
              <a:buFont typeface="Cambria"/>
              <a:buNone/>
              <a:defRPr b="1" i="0" sz="40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20"/>
          <p:cNvSpPr txBox="1"/>
          <p:nvPr>
            <p:ph type="title"/>
          </p:nvPr>
        </p:nvSpPr>
        <p:spPr>
          <a:xfrm>
            <a:off x="548640" y="786384"/>
            <a:ext cx="11064240" cy="65836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Cambria"/>
              <a:buNone/>
              <a:defRPr b="1" i="0" sz="2800" u="none" cap="none" strike="noStrike">
                <a:solidFill>
                  <a:schemeClr val="dk2"/>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20"/>
          <p:cNvSpPr/>
          <p:nvPr/>
        </p:nvSpPr>
        <p:spPr>
          <a:xfrm>
            <a:off x="548640" y="64008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000"/>
              <a:buFont typeface="Calibri"/>
              <a:buNone/>
            </a:pPr>
            <a:r>
              <a:rPr b="0" i="0" lang="en-US" sz="1000" u="none" cap="none" strike="noStrike">
                <a:solidFill>
                  <a:schemeClr val="accent4"/>
                </a:solidFill>
                <a:latin typeface="Calibri"/>
                <a:ea typeface="Calibri"/>
                <a:cs typeface="Calibri"/>
                <a:sym typeface="Calibri"/>
              </a:rPr>
              <a:t>ABC Wear - Báo cáo kết quả bài tập W3</a:t>
            </a:r>
            <a:endParaRPr b="0" i="0" sz="1000" u="none" cap="none" strike="noStrike">
              <a:solidFill>
                <a:schemeClr val="dk1"/>
              </a:solidFill>
              <a:latin typeface="Calibri"/>
              <a:ea typeface="Calibri"/>
              <a:cs typeface="Calibri"/>
              <a:sym typeface="Calibri"/>
            </a:endParaRPr>
          </a:p>
        </p:txBody>
      </p:sp>
      <p:sp>
        <p:nvSpPr>
          <p:cNvPr id="16" name="Google Shape;16;p20"/>
          <p:cNvSpPr txBox="1"/>
          <p:nvPr>
            <p:ph idx="12"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2"/>
        </a:solidFill>
      </p:bgPr>
    </p:bg>
    <p:spTree>
      <p:nvGrpSpPr>
        <p:cNvPr id="17" name="Shape 17"/>
        <p:cNvGrpSpPr/>
        <p:nvPr/>
      </p:nvGrpSpPr>
      <p:grpSpPr>
        <a:xfrm>
          <a:off x="0" y="0"/>
          <a:ext cx="0" cy="0"/>
          <a:chOff x="0" y="0"/>
          <a:chExt cx="0" cy="0"/>
        </a:xfrm>
      </p:grpSpPr>
      <p:sp>
        <p:nvSpPr>
          <p:cNvPr id="18" name="Google Shape;18;p21"/>
          <p:cNvSpPr txBox="1"/>
          <p:nvPr>
            <p:ph type="title"/>
          </p:nvPr>
        </p:nvSpPr>
        <p:spPr>
          <a:xfrm>
            <a:off x="548640" y="548640"/>
            <a:ext cx="11064240" cy="73152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3200"/>
              <a:buFont typeface="Cambria"/>
              <a:buNone/>
              <a:defRPr b="1" i="0" sz="32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21"/>
          <p:cNvSpPr txBox="1"/>
          <p:nvPr>
            <p:ph idx="12"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A8C1C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8"/>
          <p:cNvSpPr txBox="1"/>
          <p:nvPr>
            <p:ph idx="12"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6F81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 name="Shape 25"/>
        <p:cNvGrpSpPr/>
        <p:nvPr/>
      </p:nvGrpSpPr>
      <p:grpSpPr>
        <a:xfrm>
          <a:off x="0" y="0"/>
          <a:ext cx="0" cy="0"/>
          <a:chOff x="0" y="0"/>
          <a:chExt cx="0" cy="0"/>
        </a:xfrm>
      </p:grpSpPr>
      <p:sp>
        <p:nvSpPr>
          <p:cNvPr id="26" name="Google Shape;26;p1"/>
          <p:cNvSpPr txBox="1"/>
          <p:nvPr>
            <p:ph type="title"/>
          </p:nvPr>
        </p:nvSpPr>
        <p:spPr>
          <a:xfrm>
            <a:off x="731520" y="1179195"/>
            <a:ext cx="1069860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4000"/>
              <a:buFont typeface="Cambria"/>
              <a:buNone/>
            </a:pPr>
            <a:r>
              <a:rPr b="1" lang="en-US" sz="4000">
                <a:solidFill>
                  <a:schemeClr val="lt1"/>
                </a:solidFill>
              </a:rPr>
              <a:t>Báo cáo kết quả bài tập W3</a:t>
            </a:r>
            <a:endParaRPr sz="4000"/>
          </a:p>
        </p:txBody>
      </p:sp>
      <p:sp>
        <p:nvSpPr>
          <p:cNvPr id="27" name="Google Shape;27;p1"/>
          <p:cNvSpPr txBox="1"/>
          <p:nvPr/>
        </p:nvSpPr>
        <p:spPr>
          <a:xfrm>
            <a:off x="731520" y="1544965"/>
            <a:ext cx="10698600" cy="548700"/>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BÁO CÁO KẾT QUẢ</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accent3"/>
              </a:buClr>
              <a:buSzPts val="2600"/>
              <a:buFont typeface="Cambria"/>
              <a:buNone/>
            </a:pPr>
            <a:r>
              <a:t/>
            </a:r>
            <a:endParaRPr b="0" i="0" sz="2600" u="none" cap="none" strike="noStrike">
              <a:solidFill>
                <a:schemeClr val="accent3"/>
              </a:solidFill>
              <a:latin typeface="Cambria"/>
              <a:ea typeface="Cambria"/>
              <a:cs typeface="Cambria"/>
              <a:sym typeface="Cambria"/>
            </a:endParaRPr>
          </a:p>
        </p:txBody>
      </p:sp>
      <p:sp>
        <p:nvSpPr>
          <p:cNvPr id="28" name="Google Shape;28;p1"/>
          <p:cNvSpPr txBox="1"/>
          <p:nvPr/>
        </p:nvSpPr>
        <p:spPr>
          <a:xfrm>
            <a:off x="14376" y="2470550"/>
            <a:ext cx="11949900" cy="1371600"/>
          </a:xfrm>
          <a:prstGeom prst="rect">
            <a:avLst/>
          </a:prstGeom>
          <a:noFill/>
          <a:ln>
            <a:noFill/>
          </a:ln>
        </p:spPr>
        <p:txBody>
          <a:bodyPr anchorCtr="0" anchor="t" bIns="0" lIns="0" spcFirstLastPara="1" rIns="0" wrap="square" tIns="0">
            <a:noAutofit/>
          </a:bodyPr>
          <a:lstStyle/>
          <a:p>
            <a:pPr indent="-336550" lvl="0" marL="457200" marR="0" rtl="0" algn="ctr">
              <a:lnSpc>
                <a:spcPct val="116000"/>
              </a:lnSpc>
              <a:spcBef>
                <a:spcPts val="0"/>
              </a:spcBef>
              <a:spcAft>
                <a:spcPts val="0"/>
              </a:spcAft>
              <a:buClr>
                <a:schemeClr val="lt1"/>
              </a:buClr>
              <a:buSzPts val="1700"/>
              <a:buFont typeface="Calibri"/>
              <a:buChar char="•"/>
            </a:pPr>
            <a:r>
              <a:rPr b="1" i="0" lang="en-US" sz="2600" u="none" cap="none" strike="noStrike">
                <a:solidFill>
                  <a:srgbClr val="C00000"/>
                </a:solidFill>
                <a:latin typeface="Times New Roman"/>
                <a:ea typeface="Times New Roman"/>
                <a:cs typeface="Times New Roman"/>
                <a:sym typeface="Times New Roman"/>
              </a:rPr>
              <a:t>Website bán hàng trực tuyến</a:t>
            </a:r>
            <a:r>
              <a:rPr b="0" i="0" lang="en-US" sz="1400" u="none" cap="none" strike="noStrike">
                <a:solidFill>
                  <a:srgbClr val="000000"/>
                </a:solidFill>
                <a:latin typeface="Arial"/>
                <a:ea typeface="Arial"/>
                <a:cs typeface="Arial"/>
                <a:sym typeface="Arial"/>
              </a:rPr>
              <a:t> </a:t>
            </a:r>
            <a:r>
              <a:rPr b="1" i="0" lang="en-US" sz="2600" u="none" cap="none" strike="noStrike">
                <a:solidFill>
                  <a:srgbClr val="C00000"/>
                </a:solidFill>
                <a:latin typeface="Times New Roman"/>
                <a:ea typeface="Times New Roman"/>
                <a:cs typeface="Times New Roman"/>
                <a:sym typeface="Times New Roman"/>
              </a:rPr>
              <a:t>ABC Wear</a:t>
            </a:r>
            <a:endParaRPr b="0" i="0" sz="2600" u="none" cap="none" strike="noStrike">
              <a:solidFill>
                <a:srgbClr val="000000"/>
              </a:solidFill>
              <a:latin typeface="Times New Roman"/>
              <a:ea typeface="Times New Roman"/>
              <a:cs typeface="Times New Roman"/>
              <a:sym typeface="Times New Roman"/>
            </a:endParaRPr>
          </a:p>
          <a:p>
            <a:pPr indent="-177800" lvl="0" marL="177800" marR="0" rtl="0" algn="l">
              <a:lnSpc>
                <a:spcPct val="100000"/>
              </a:lnSpc>
              <a:spcBef>
                <a:spcPts val="600"/>
              </a:spcBef>
              <a:spcAft>
                <a:spcPts val="0"/>
              </a:spcAft>
              <a:buClr>
                <a:schemeClr val="lt1"/>
              </a:buClr>
              <a:buSzPts val="1700"/>
              <a:buFont typeface="Calibri"/>
              <a:buChar char="•"/>
            </a:pPr>
            <a:r>
              <a:t/>
            </a:r>
            <a:endParaRPr b="0" i="0" sz="1700" u="none" cap="none" strike="noStrike">
              <a:solidFill>
                <a:schemeClr val="lt1"/>
              </a:solidFill>
              <a:latin typeface="Calibri"/>
              <a:ea typeface="Calibri"/>
              <a:cs typeface="Calibri"/>
              <a:sym typeface="Calibri"/>
            </a:endParaRPr>
          </a:p>
        </p:txBody>
      </p:sp>
      <p:sp>
        <p:nvSpPr>
          <p:cNvPr id="29" name="Google Shape;29;p1"/>
          <p:cNvSpPr txBox="1"/>
          <p:nvPr/>
        </p:nvSpPr>
        <p:spPr>
          <a:xfrm>
            <a:off x="543645" y="4298405"/>
            <a:ext cx="10515600" cy="150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Môn học: Quản trị dự án và Quản lý thay đổi</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Giảng viên: Vũ Thị Hương Giang</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Nhóm: PM_26I_02</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chemeClr val="accent6"/>
              </a:buClr>
              <a:buSzPts val="1400"/>
              <a:buFont typeface="Calibri"/>
              <a:buNone/>
            </a:pPr>
            <a:r>
              <a:rPr b="0" i="0" lang="en-US" sz="1500" u="none" cap="none" strike="noStrike">
                <a:solidFill>
                  <a:schemeClr val="dk1"/>
                </a:solidFill>
                <a:latin typeface="Calibri"/>
                <a:ea typeface="Calibri"/>
                <a:cs typeface="Calibri"/>
                <a:sym typeface="Calibri"/>
              </a:rPr>
              <a:t>Thành viên: Trần Bá Đạt, Phạm Tuấn Anh, Vũ Đức Minh, Ninh Đức Toàn, Nguyễn Thị Phương Liên</a:t>
            </a:r>
            <a:endParaRPr b="0" i="0" sz="1500" u="none" cap="none" strike="noStrike">
              <a:solidFill>
                <a:schemeClr val="dk1"/>
              </a:solidFill>
              <a:latin typeface="Calibri"/>
              <a:ea typeface="Calibri"/>
              <a:cs typeface="Calibri"/>
              <a:sym typeface="Calibri"/>
            </a:endParaRPr>
          </a:p>
        </p:txBody>
      </p:sp>
      <p:sp>
        <p:nvSpPr>
          <p:cNvPr id="30" name="Google Shape;30;p1"/>
          <p:cNvSpPr txBox="1"/>
          <p:nvPr/>
        </p:nvSpPr>
        <p:spPr>
          <a:xfrm>
            <a:off x="543645" y="3018145"/>
            <a:ext cx="10515600" cy="137160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Hồ sơ mời thầu theo Mẫu 5A, Thông tư số 79/2025/TT-BTC</a:t>
            </a:r>
            <a:endParaRPr b="0" i="0" sz="17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WBS, kế hoạch theo sprint và phương án nhân sự</a:t>
            </a:r>
            <a:endParaRPr b="0" i="0" sz="17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700"/>
              <a:buFont typeface="Calibri"/>
              <a:buChar char="•"/>
            </a:pPr>
            <a:r>
              <a:rPr b="0" i="0" lang="en-US" sz="1700" u="none" cap="none" strike="noStrike">
                <a:solidFill>
                  <a:schemeClr val="dk1"/>
                </a:solidFill>
                <a:latin typeface="Calibri"/>
                <a:ea typeface="Calibri"/>
                <a:cs typeface="Calibri"/>
                <a:sym typeface="Calibri"/>
              </a:rPr>
              <a:t>Effort, dự tính,  báo giá, kế hoạch kiểm soát và chuyển giao</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2"/>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Mở đầu</a:t>
            </a:r>
            <a:endParaRPr b="0" i="0" sz="1100" u="none" cap="none" strike="noStrike">
              <a:solidFill>
                <a:schemeClr val="dk1"/>
              </a:solidFill>
              <a:latin typeface="Calibri"/>
              <a:ea typeface="Calibri"/>
              <a:cs typeface="Calibri"/>
              <a:sym typeface="Calibri"/>
            </a:endParaRPr>
          </a:p>
        </p:txBody>
      </p:sp>
      <p:sp>
        <p:nvSpPr>
          <p:cNvPr id="37" name="Google Shape;37;p2"/>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Phạm vi và sản phẩm của bài tập</a:t>
            </a:r>
            <a:endParaRPr sz="2800"/>
          </a:p>
        </p:txBody>
      </p:sp>
      <p:sp>
        <p:nvSpPr>
          <p:cNvPr id="38" name="Google Shape;38;p2"/>
          <p:cNvSpPr txBox="1"/>
          <p:nvPr/>
        </p:nvSpPr>
        <p:spPr>
          <a:xfrm>
            <a:off x="548640" y="1645920"/>
            <a:ext cx="47548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Arial"/>
                <a:ea typeface="Arial"/>
                <a:cs typeface="Arial"/>
                <a:sym typeface="Arial"/>
              </a:rPr>
              <a:t>Bối cảnh</a:t>
            </a:r>
            <a:endParaRPr b="0" i="0" sz="1600" u="none" cap="none" strike="noStrike">
              <a:solidFill>
                <a:schemeClr val="dk1"/>
              </a:solidFill>
              <a:latin typeface="Arial"/>
              <a:ea typeface="Arial"/>
              <a:cs typeface="Arial"/>
              <a:sym typeface="Arial"/>
            </a:endParaRPr>
          </a:p>
        </p:txBody>
      </p:sp>
      <p:sp>
        <p:nvSpPr>
          <p:cNvPr id="39" name="Google Shape;39;p2"/>
          <p:cNvSpPr txBox="1"/>
          <p:nvPr/>
        </p:nvSpPr>
        <p:spPr>
          <a:xfrm>
            <a:off x="548640" y="2011680"/>
            <a:ext cx="475488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0" i="0" lang="en-US" sz="1300" u="none" cap="none" strike="noStrike">
                <a:solidFill>
                  <a:schemeClr val="dk1"/>
                </a:solidFill>
                <a:latin typeface="Arial"/>
                <a:ea typeface="Arial"/>
                <a:cs typeface="Arial"/>
                <a:sym typeface="Arial"/>
              </a:rPr>
              <a:t>ABC Wear lựa chọn nhà thầu xây dựng website bán hàng trực tuyến, kết nối với Main System và hệ thống giao vận. Nhóm đóng vai trò bên mời thầu và nhà thầu Inter Solution.</a:t>
            </a:r>
            <a:endParaRPr b="0" i="0" sz="1300" u="none" cap="none" strike="noStrike">
              <a:solidFill>
                <a:schemeClr val="dk1"/>
              </a:solidFill>
              <a:latin typeface="Arial"/>
              <a:ea typeface="Arial"/>
              <a:cs typeface="Arial"/>
              <a:sym typeface="Arial"/>
            </a:endParaRPr>
          </a:p>
        </p:txBody>
      </p:sp>
      <p:sp>
        <p:nvSpPr>
          <p:cNvPr id="40" name="Google Shape;40;p2"/>
          <p:cNvSpPr txBox="1"/>
          <p:nvPr/>
        </p:nvSpPr>
        <p:spPr>
          <a:xfrm>
            <a:off x="548640" y="2926080"/>
            <a:ext cx="47548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Arial"/>
                <a:ea typeface="Arial"/>
                <a:cs typeface="Arial"/>
                <a:sym typeface="Arial"/>
              </a:rPr>
              <a:t>Phạm vi chính</a:t>
            </a:r>
            <a:endParaRPr b="0" i="0" sz="1600" u="none" cap="none" strike="noStrike">
              <a:solidFill>
                <a:schemeClr val="dk1"/>
              </a:solidFill>
              <a:latin typeface="Arial"/>
              <a:ea typeface="Arial"/>
              <a:cs typeface="Arial"/>
              <a:sym typeface="Arial"/>
            </a:endParaRPr>
          </a:p>
        </p:txBody>
      </p:sp>
      <p:sp>
        <p:nvSpPr>
          <p:cNvPr id="41" name="Google Shape;41;p2"/>
          <p:cNvSpPr/>
          <p:nvPr/>
        </p:nvSpPr>
        <p:spPr>
          <a:xfrm>
            <a:off x="548640" y="333756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685800" y="346557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 name="Google Shape;43;p2"/>
          <p:cNvPicPr preferRelativeResize="0"/>
          <p:nvPr/>
        </p:nvPicPr>
        <p:blipFill rotWithShape="1">
          <a:blip r:embed="rId3">
            <a:alphaModFix/>
          </a:blip>
          <a:srcRect b="0" l="0" r="0" t="0"/>
          <a:stretch/>
        </p:blipFill>
        <p:spPr>
          <a:xfrm>
            <a:off x="786384" y="3566160"/>
            <a:ext cx="256032" cy="256032"/>
          </a:xfrm>
          <a:prstGeom prst="rect">
            <a:avLst/>
          </a:prstGeom>
          <a:noFill/>
          <a:ln>
            <a:noFill/>
          </a:ln>
        </p:spPr>
      </p:pic>
      <p:sp>
        <p:nvSpPr>
          <p:cNvPr id="44" name="Google Shape;44;p2"/>
          <p:cNvSpPr txBox="1"/>
          <p:nvPr/>
        </p:nvSpPr>
        <p:spPr>
          <a:xfrm>
            <a:off x="1280160" y="352044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Khách hàng</a:t>
            </a:r>
            <a:endParaRPr b="0" i="0" sz="1500" u="none" cap="none" strike="noStrike">
              <a:solidFill>
                <a:schemeClr val="dk1"/>
              </a:solidFill>
              <a:latin typeface="Calibri"/>
              <a:ea typeface="Calibri"/>
              <a:cs typeface="Calibri"/>
              <a:sym typeface="Calibri"/>
            </a:endParaRPr>
          </a:p>
        </p:txBody>
      </p:sp>
      <p:sp>
        <p:nvSpPr>
          <p:cNvPr id="45" name="Google Shape;45;p2"/>
          <p:cNvSpPr/>
          <p:nvPr/>
        </p:nvSpPr>
        <p:spPr>
          <a:xfrm>
            <a:off x="3017520" y="333756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3154680" y="346557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7" name="Google Shape;47;p2"/>
          <p:cNvPicPr preferRelativeResize="0"/>
          <p:nvPr/>
        </p:nvPicPr>
        <p:blipFill rotWithShape="1">
          <a:blip r:embed="rId4">
            <a:alphaModFix/>
          </a:blip>
          <a:srcRect b="0" l="0" r="0" t="0"/>
          <a:stretch/>
        </p:blipFill>
        <p:spPr>
          <a:xfrm>
            <a:off x="3255264" y="3566160"/>
            <a:ext cx="256032" cy="256032"/>
          </a:xfrm>
          <a:prstGeom prst="rect">
            <a:avLst/>
          </a:prstGeom>
          <a:noFill/>
          <a:ln>
            <a:noFill/>
          </a:ln>
        </p:spPr>
      </p:pic>
      <p:sp>
        <p:nvSpPr>
          <p:cNvPr id="48" name="Google Shape;48;p2"/>
          <p:cNvSpPr txBox="1"/>
          <p:nvPr/>
        </p:nvSpPr>
        <p:spPr>
          <a:xfrm>
            <a:off x="3749040" y="352044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Sản phẩm</a:t>
            </a:r>
            <a:endParaRPr b="0" i="0" sz="1500" u="none" cap="none" strike="noStrike">
              <a:solidFill>
                <a:schemeClr val="dk1"/>
              </a:solidFill>
              <a:latin typeface="Calibri"/>
              <a:ea typeface="Calibri"/>
              <a:cs typeface="Calibri"/>
              <a:sym typeface="Calibri"/>
            </a:endParaRPr>
          </a:p>
        </p:txBody>
      </p:sp>
      <p:sp>
        <p:nvSpPr>
          <p:cNvPr id="49" name="Google Shape;49;p2"/>
          <p:cNvSpPr/>
          <p:nvPr/>
        </p:nvSpPr>
        <p:spPr>
          <a:xfrm>
            <a:off x="548640" y="420624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685800" y="433425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 name="Google Shape;51;p2"/>
          <p:cNvPicPr preferRelativeResize="0"/>
          <p:nvPr/>
        </p:nvPicPr>
        <p:blipFill rotWithShape="1">
          <a:blip r:embed="rId5">
            <a:alphaModFix/>
          </a:blip>
          <a:srcRect b="0" l="0" r="0" t="0"/>
          <a:stretch/>
        </p:blipFill>
        <p:spPr>
          <a:xfrm>
            <a:off x="786384" y="4434840"/>
            <a:ext cx="256032" cy="256032"/>
          </a:xfrm>
          <a:prstGeom prst="rect">
            <a:avLst/>
          </a:prstGeom>
          <a:noFill/>
          <a:ln>
            <a:noFill/>
          </a:ln>
        </p:spPr>
      </p:pic>
      <p:sp>
        <p:nvSpPr>
          <p:cNvPr id="52" name="Google Shape;52;p2"/>
          <p:cNvSpPr txBox="1"/>
          <p:nvPr/>
        </p:nvSpPr>
        <p:spPr>
          <a:xfrm>
            <a:off x="1280160" y="438912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Đơn hàng</a:t>
            </a:r>
            <a:endParaRPr b="0" i="0" sz="1500" u="none" cap="none" strike="noStrike">
              <a:solidFill>
                <a:schemeClr val="dk1"/>
              </a:solidFill>
              <a:latin typeface="Calibri"/>
              <a:ea typeface="Calibri"/>
              <a:cs typeface="Calibri"/>
              <a:sym typeface="Calibri"/>
            </a:endParaRPr>
          </a:p>
        </p:txBody>
      </p:sp>
      <p:sp>
        <p:nvSpPr>
          <p:cNvPr id="53" name="Google Shape;53;p2"/>
          <p:cNvSpPr/>
          <p:nvPr/>
        </p:nvSpPr>
        <p:spPr>
          <a:xfrm>
            <a:off x="3017520" y="4206240"/>
            <a:ext cx="2286000" cy="713232"/>
          </a:xfrm>
          <a:prstGeom prst="roundRect">
            <a:avLst>
              <a:gd fmla="val 1025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3154680" y="4334256"/>
            <a:ext cx="457200" cy="45720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 name="Google Shape;55;p2"/>
          <p:cNvPicPr preferRelativeResize="0"/>
          <p:nvPr/>
        </p:nvPicPr>
        <p:blipFill rotWithShape="1">
          <a:blip r:embed="rId6">
            <a:alphaModFix/>
          </a:blip>
          <a:srcRect b="0" l="0" r="0" t="0"/>
          <a:stretch/>
        </p:blipFill>
        <p:spPr>
          <a:xfrm>
            <a:off x="3255264" y="4434840"/>
            <a:ext cx="256032" cy="256032"/>
          </a:xfrm>
          <a:prstGeom prst="rect">
            <a:avLst/>
          </a:prstGeom>
          <a:noFill/>
          <a:ln>
            <a:noFill/>
          </a:ln>
        </p:spPr>
      </p:pic>
      <p:sp>
        <p:nvSpPr>
          <p:cNvPr id="56" name="Google Shape;56;p2"/>
          <p:cNvSpPr txBox="1"/>
          <p:nvPr/>
        </p:nvSpPr>
        <p:spPr>
          <a:xfrm>
            <a:off x="3749040" y="4389120"/>
            <a:ext cx="1463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Tích hợp</a:t>
            </a:r>
            <a:endParaRPr b="0" i="0" sz="1500" u="none" cap="none" strike="noStrike">
              <a:solidFill>
                <a:schemeClr val="dk1"/>
              </a:solidFill>
              <a:latin typeface="Calibri"/>
              <a:ea typeface="Calibri"/>
              <a:cs typeface="Calibri"/>
              <a:sym typeface="Calibri"/>
            </a:endParaRPr>
          </a:p>
        </p:txBody>
      </p:sp>
      <p:sp>
        <p:nvSpPr>
          <p:cNvPr id="57" name="Google Shape;57;p2"/>
          <p:cNvSpPr txBox="1"/>
          <p:nvPr/>
        </p:nvSpPr>
        <p:spPr>
          <a:xfrm>
            <a:off x="548640" y="5166360"/>
            <a:ext cx="47548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Calibri"/>
                <a:ea typeface="Calibri"/>
                <a:cs typeface="Calibri"/>
                <a:sym typeface="Calibri"/>
              </a:rPr>
              <a:t>Ngoài phạm vi: chức năng quản trị nội bộ mới.</a:t>
            </a:r>
            <a:endParaRPr b="0" i="0" sz="1300" u="none" cap="none" strike="noStrike">
              <a:solidFill>
                <a:schemeClr val="dk1"/>
              </a:solidFill>
              <a:latin typeface="Calibri"/>
              <a:ea typeface="Calibri"/>
              <a:cs typeface="Calibri"/>
              <a:sym typeface="Calibri"/>
            </a:endParaRPr>
          </a:p>
        </p:txBody>
      </p:sp>
      <p:graphicFrame>
        <p:nvGraphicFramePr>
          <p:cNvPr id="58" name="Google Shape;58;p2"/>
          <p:cNvGraphicFramePr/>
          <p:nvPr/>
        </p:nvGraphicFramePr>
        <p:xfrm>
          <a:off x="5669280" y="1645920"/>
          <a:ext cx="3000000" cy="3000000"/>
        </p:xfrm>
        <a:graphic>
          <a:graphicData uri="http://schemas.openxmlformats.org/drawingml/2006/table">
            <a:tbl>
              <a:tblPr>
                <a:noFill/>
                <a:tableStyleId>{333A356F-784D-4884-A680-775E4A61AB1C}</a:tableStyleId>
              </a:tblPr>
              <a:tblGrid>
                <a:gridCol w="1783075"/>
                <a:gridCol w="4187950"/>
              </a:tblGrid>
              <a:tr h="5303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Đầu mục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Sản phẩm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Hồ sơ mời thầu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E-HSMT theo Mẫu 5A: bảng dữ liệu, tiêu chuẩn đánh giá, điều kiện hợp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Phạm vi và WBS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8 nhóm công việc với MD và sản phẩm đầu ra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Tiến độ và nhân sự</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7 sprint, cơ cấu và phân công nhân sự</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Ước lượng và chi phí</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Danh mục ước lượng, đơn giá theo loại công việc, dự toán, đối chiếu chi phí theo người và báo giá</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soát dự 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Kế hoạch chất lượng, thay đổi, cấu hình, rủi ro và báo cáo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5303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Chuyển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Tiêu chí UAT, phương án cut over và điều kiện bàn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bl>
          </a:graphicData>
        </a:graphic>
      </p:graphicFrame>
      <p:sp>
        <p:nvSpPr>
          <p:cNvPr id="59" name="Google Shape;59;p2"/>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548640" y="329184"/>
            <a:ext cx="146669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Bên mời thầu</a:t>
            </a:r>
            <a:endParaRPr b="0" i="0" sz="1100" u="none" cap="none" strike="noStrike">
              <a:solidFill>
                <a:schemeClr val="dk1"/>
              </a:solidFill>
              <a:latin typeface="Calibri"/>
              <a:ea typeface="Calibri"/>
              <a:cs typeface="Calibri"/>
              <a:sym typeface="Calibri"/>
            </a:endParaRPr>
          </a:p>
        </p:txBody>
      </p:sp>
      <p:sp>
        <p:nvSpPr>
          <p:cNvPr id="66" name="Google Shape;66;p3"/>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Hồ sơ mời thầu theo Mẫu 5A</a:t>
            </a:r>
            <a:endParaRPr sz="2800"/>
          </a:p>
        </p:txBody>
      </p:sp>
      <p:cxnSp>
        <p:nvCxnSpPr>
          <p:cNvPr id="67" name="Google Shape;67;p3"/>
          <p:cNvCxnSpPr/>
          <p:nvPr/>
        </p:nvCxnSpPr>
        <p:spPr>
          <a:xfrm>
            <a:off x="1005840" y="1828800"/>
            <a:ext cx="10149840" cy="0"/>
          </a:xfrm>
          <a:prstGeom prst="straightConnector1">
            <a:avLst/>
          </a:prstGeom>
          <a:noFill/>
          <a:ln cap="flat" cmpd="sng" w="25400">
            <a:solidFill>
              <a:schemeClr val="accent6"/>
            </a:solidFill>
            <a:prstDash val="solid"/>
            <a:round/>
            <a:headEnd len="sm" w="sm" type="none"/>
            <a:tailEnd len="sm" w="sm" type="none"/>
          </a:ln>
        </p:spPr>
      </p:cxnSp>
      <p:sp>
        <p:nvSpPr>
          <p:cNvPr id="68" name="Google Shape;68;p3"/>
          <p:cNvSpPr/>
          <p:nvPr/>
        </p:nvSpPr>
        <p:spPr>
          <a:xfrm>
            <a:off x="886968"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txBox="1"/>
          <p:nvPr/>
        </p:nvSpPr>
        <p:spPr>
          <a:xfrm>
            <a:off x="137160"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22/02/2027</a:t>
            </a:r>
            <a:endParaRPr b="0" i="0" sz="1300" u="none" cap="none" strike="noStrike">
              <a:solidFill>
                <a:schemeClr val="dk1"/>
              </a:solidFill>
              <a:latin typeface="Calibri"/>
              <a:ea typeface="Calibri"/>
              <a:cs typeface="Calibri"/>
              <a:sym typeface="Calibri"/>
            </a:endParaRPr>
          </a:p>
        </p:txBody>
      </p:sp>
      <p:sp>
        <p:nvSpPr>
          <p:cNvPr id="70" name="Google Shape;70;p3"/>
          <p:cNvSpPr txBox="1"/>
          <p:nvPr/>
        </p:nvSpPr>
        <p:spPr>
          <a:xfrm>
            <a:off x="137160"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Phát hành E-HSMT</a:t>
            </a:r>
            <a:endParaRPr b="0" i="0" sz="1200" u="none" cap="none" strike="noStrike">
              <a:solidFill>
                <a:schemeClr val="dk1"/>
              </a:solidFill>
              <a:latin typeface="Calibri"/>
              <a:ea typeface="Calibri"/>
              <a:cs typeface="Calibri"/>
              <a:sym typeface="Calibri"/>
            </a:endParaRPr>
          </a:p>
        </p:txBody>
      </p:sp>
      <p:sp>
        <p:nvSpPr>
          <p:cNvPr id="71" name="Google Shape;71;p3"/>
          <p:cNvSpPr/>
          <p:nvPr/>
        </p:nvSpPr>
        <p:spPr>
          <a:xfrm>
            <a:off x="2916936"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txBox="1"/>
          <p:nvPr/>
        </p:nvSpPr>
        <p:spPr>
          <a:xfrm>
            <a:off x="2167128"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01/3</a:t>
            </a:r>
            <a:endParaRPr b="0" i="0" sz="1300" u="none" cap="none" strike="noStrike">
              <a:solidFill>
                <a:schemeClr val="dk1"/>
              </a:solidFill>
              <a:latin typeface="Calibri"/>
              <a:ea typeface="Calibri"/>
              <a:cs typeface="Calibri"/>
              <a:sym typeface="Calibri"/>
            </a:endParaRPr>
          </a:p>
        </p:txBody>
      </p:sp>
      <p:sp>
        <p:nvSpPr>
          <p:cNvPr id="73" name="Google Shape;73;p3"/>
          <p:cNvSpPr txBox="1"/>
          <p:nvPr/>
        </p:nvSpPr>
        <p:spPr>
          <a:xfrm>
            <a:off x="2167128"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Hội nghị tiền đấu thầu</a:t>
            </a:r>
            <a:endParaRPr b="0" i="0" sz="1200" u="none" cap="none" strike="noStrike">
              <a:solidFill>
                <a:schemeClr val="dk1"/>
              </a:solidFill>
              <a:latin typeface="Calibri"/>
              <a:ea typeface="Calibri"/>
              <a:cs typeface="Calibri"/>
              <a:sym typeface="Calibri"/>
            </a:endParaRPr>
          </a:p>
        </p:txBody>
      </p:sp>
      <p:sp>
        <p:nvSpPr>
          <p:cNvPr id="74" name="Google Shape;74;p3"/>
          <p:cNvSpPr/>
          <p:nvPr/>
        </p:nvSpPr>
        <p:spPr>
          <a:xfrm>
            <a:off x="4946904"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txBox="1"/>
          <p:nvPr/>
        </p:nvSpPr>
        <p:spPr>
          <a:xfrm>
            <a:off x="4197096"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03/3</a:t>
            </a:r>
            <a:endParaRPr b="0" i="0" sz="1300" u="none" cap="none" strike="noStrike">
              <a:solidFill>
                <a:schemeClr val="dk1"/>
              </a:solidFill>
              <a:latin typeface="Calibri"/>
              <a:ea typeface="Calibri"/>
              <a:cs typeface="Calibri"/>
              <a:sym typeface="Calibri"/>
            </a:endParaRPr>
          </a:p>
        </p:txBody>
      </p:sp>
      <p:sp>
        <p:nvSpPr>
          <p:cNvPr id="76" name="Google Shape;76;p3"/>
          <p:cNvSpPr txBox="1"/>
          <p:nvPr/>
        </p:nvSpPr>
        <p:spPr>
          <a:xfrm>
            <a:off x="4197096"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Hạn đề nghị làm rõ</a:t>
            </a:r>
            <a:endParaRPr b="0" i="0" sz="1200" u="none" cap="none" strike="noStrike">
              <a:solidFill>
                <a:schemeClr val="dk1"/>
              </a:solidFill>
              <a:latin typeface="Calibri"/>
              <a:ea typeface="Calibri"/>
              <a:cs typeface="Calibri"/>
              <a:sym typeface="Calibri"/>
            </a:endParaRPr>
          </a:p>
        </p:txBody>
      </p:sp>
      <p:sp>
        <p:nvSpPr>
          <p:cNvPr id="77" name="Google Shape;77;p3"/>
          <p:cNvSpPr/>
          <p:nvPr/>
        </p:nvSpPr>
        <p:spPr>
          <a:xfrm>
            <a:off x="6976872"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txBox="1"/>
          <p:nvPr/>
        </p:nvSpPr>
        <p:spPr>
          <a:xfrm>
            <a:off x="6227064"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08/3</a:t>
            </a:r>
            <a:endParaRPr b="0" i="0" sz="1300" u="none" cap="none" strike="noStrike">
              <a:solidFill>
                <a:schemeClr val="dk1"/>
              </a:solidFill>
              <a:latin typeface="Calibri"/>
              <a:ea typeface="Calibri"/>
              <a:cs typeface="Calibri"/>
              <a:sym typeface="Calibri"/>
            </a:endParaRPr>
          </a:p>
        </p:txBody>
      </p:sp>
      <p:sp>
        <p:nvSpPr>
          <p:cNvPr id="79" name="Google Shape;79;p3"/>
          <p:cNvSpPr txBox="1"/>
          <p:nvPr/>
        </p:nvSpPr>
        <p:spPr>
          <a:xfrm>
            <a:off x="6227064"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Đóng thầu, mở thầu</a:t>
            </a:r>
            <a:endParaRPr b="0" i="0" sz="1200" u="none" cap="none" strike="noStrike">
              <a:solidFill>
                <a:schemeClr val="dk1"/>
              </a:solidFill>
              <a:latin typeface="Calibri"/>
              <a:ea typeface="Calibri"/>
              <a:cs typeface="Calibri"/>
              <a:sym typeface="Calibri"/>
            </a:endParaRPr>
          </a:p>
        </p:txBody>
      </p:sp>
      <p:sp>
        <p:nvSpPr>
          <p:cNvPr id="80" name="Google Shape;80;p3"/>
          <p:cNvSpPr/>
          <p:nvPr/>
        </p:nvSpPr>
        <p:spPr>
          <a:xfrm>
            <a:off x="9006840" y="1709928"/>
            <a:ext cx="237744" cy="237744"/>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txBox="1"/>
          <p:nvPr/>
        </p:nvSpPr>
        <p:spPr>
          <a:xfrm>
            <a:off x="8257032"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18/3</a:t>
            </a:r>
            <a:endParaRPr b="0" i="0" sz="1300" u="none" cap="none" strike="noStrike">
              <a:solidFill>
                <a:schemeClr val="dk1"/>
              </a:solidFill>
              <a:latin typeface="Calibri"/>
              <a:ea typeface="Calibri"/>
              <a:cs typeface="Calibri"/>
              <a:sym typeface="Calibri"/>
            </a:endParaRPr>
          </a:p>
        </p:txBody>
      </p:sp>
      <p:sp>
        <p:nvSpPr>
          <p:cNvPr id="82" name="Google Shape;82;p3"/>
          <p:cNvSpPr txBox="1"/>
          <p:nvPr/>
        </p:nvSpPr>
        <p:spPr>
          <a:xfrm>
            <a:off x="8257032"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Hợp đồng có hiệu lực</a:t>
            </a:r>
            <a:endParaRPr b="0" i="0" sz="1200" u="none" cap="none" strike="noStrike">
              <a:solidFill>
                <a:schemeClr val="dk1"/>
              </a:solidFill>
              <a:latin typeface="Calibri"/>
              <a:ea typeface="Calibri"/>
              <a:cs typeface="Calibri"/>
              <a:sym typeface="Calibri"/>
            </a:endParaRPr>
          </a:p>
        </p:txBody>
      </p:sp>
      <p:sp>
        <p:nvSpPr>
          <p:cNvPr id="83" name="Google Shape;83;p3"/>
          <p:cNvSpPr/>
          <p:nvPr/>
        </p:nvSpPr>
        <p:spPr>
          <a:xfrm>
            <a:off x="11036808" y="1709928"/>
            <a:ext cx="237744" cy="237744"/>
          </a:xfrm>
          <a:prstGeom prst="ellipse">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txBox="1"/>
          <p:nvPr/>
        </p:nvSpPr>
        <p:spPr>
          <a:xfrm>
            <a:off x="10287000" y="201168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01/7</a:t>
            </a:r>
            <a:endParaRPr b="0" i="0" sz="1300" u="none" cap="none" strike="noStrike">
              <a:solidFill>
                <a:schemeClr val="dk1"/>
              </a:solidFill>
              <a:latin typeface="Calibri"/>
              <a:ea typeface="Calibri"/>
              <a:cs typeface="Calibri"/>
              <a:sym typeface="Calibri"/>
            </a:endParaRPr>
          </a:p>
        </p:txBody>
      </p:sp>
      <p:sp>
        <p:nvSpPr>
          <p:cNvPr id="85" name="Google Shape;85;p3"/>
          <p:cNvSpPr txBox="1"/>
          <p:nvPr/>
        </p:nvSpPr>
        <p:spPr>
          <a:xfrm>
            <a:off x="10287000" y="2286000"/>
            <a:ext cx="173736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Cut over</a:t>
            </a:r>
            <a:endParaRPr b="0" i="0" sz="1200" u="none" cap="none" strike="noStrike">
              <a:solidFill>
                <a:schemeClr val="dk1"/>
              </a:solidFill>
              <a:latin typeface="Calibri"/>
              <a:ea typeface="Calibri"/>
              <a:cs typeface="Calibri"/>
              <a:sym typeface="Calibri"/>
            </a:endParaRPr>
          </a:p>
        </p:txBody>
      </p:sp>
      <p:sp>
        <p:nvSpPr>
          <p:cNvPr id="86" name="Google Shape;86;p3"/>
          <p:cNvSpPr/>
          <p:nvPr/>
        </p:nvSpPr>
        <p:spPr>
          <a:xfrm>
            <a:off x="548640" y="2834640"/>
            <a:ext cx="3566160" cy="2971800"/>
          </a:xfrm>
          <a:prstGeom prst="roundRect">
            <a:avLst>
              <a:gd fmla="val 246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txBox="1"/>
          <p:nvPr/>
        </p:nvSpPr>
        <p:spPr>
          <a:xfrm>
            <a:off x="731520" y="2971800"/>
            <a:ext cx="3200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Gói thầu</a:t>
            </a:r>
            <a:endParaRPr b="0" i="0" sz="1500" u="none" cap="none" strike="noStrike">
              <a:solidFill>
                <a:schemeClr val="dk1"/>
              </a:solidFill>
              <a:latin typeface="Calibri"/>
              <a:ea typeface="Calibri"/>
              <a:cs typeface="Calibri"/>
              <a:sym typeface="Calibri"/>
            </a:endParaRPr>
          </a:p>
        </p:txBody>
      </p:sp>
      <p:sp>
        <p:nvSpPr>
          <p:cNvPr id="88" name="Google Shape;88;p3"/>
          <p:cNvSpPr txBox="1"/>
          <p:nvPr/>
        </p:nvSpPr>
        <p:spPr>
          <a:xfrm>
            <a:off x="731520" y="3383280"/>
            <a:ext cx="3246120" cy="233172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Dịch vụ phi tư vấn, đấu thầu rộng rãi qua mạng</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Một giai đoạn một túi hồ sơ, hợp đồng trọn gói</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Giá gói thầu 2.000 triệu đồng</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Bảo đảm dự thầu 30 triệu đồng (1,5%), cam kết trong đơn dự thầu</a:t>
            </a:r>
            <a:endParaRPr b="0" i="0" sz="1250" u="none" cap="none" strike="noStrike">
              <a:solidFill>
                <a:schemeClr val="dk1"/>
              </a:solidFill>
              <a:latin typeface="Calibri"/>
              <a:ea typeface="Calibri"/>
              <a:cs typeface="Calibri"/>
              <a:sym typeface="Calibri"/>
            </a:endParaRPr>
          </a:p>
        </p:txBody>
      </p:sp>
      <p:sp>
        <p:nvSpPr>
          <p:cNvPr id="89" name="Google Shape;89;p3"/>
          <p:cNvSpPr/>
          <p:nvPr/>
        </p:nvSpPr>
        <p:spPr>
          <a:xfrm>
            <a:off x="4297680" y="2834640"/>
            <a:ext cx="3566160" cy="2971800"/>
          </a:xfrm>
          <a:prstGeom prst="roundRect">
            <a:avLst>
              <a:gd fmla="val 246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txBox="1"/>
          <p:nvPr/>
        </p:nvSpPr>
        <p:spPr>
          <a:xfrm>
            <a:off x="4480560" y="2971800"/>
            <a:ext cx="3200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Tiêu chuẩn đánh giá</a:t>
            </a:r>
            <a:endParaRPr b="0" i="0" sz="1500" u="none" cap="none" strike="noStrike">
              <a:solidFill>
                <a:schemeClr val="dk1"/>
              </a:solidFill>
              <a:latin typeface="Calibri"/>
              <a:ea typeface="Calibri"/>
              <a:cs typeface="Calibri"/>
              <a:sym typeface="Calibri"/>
            </a:endParaRPr>
          </a:p>
        </p:txBody>
      </p:sp>
      <p:sp>
        <p:nvSpPr>
          <p:cNvPr id="91" name="Google Shape;91;p3"/>
          <p:cNvSpPr txBox="1"/>
          <p:nvPr/>
        </p:nvSpPr>
        <p:spPr>
          <a:xfrm>
            <a:off x="4480560" y="3383280"/>
            <a:ext cx="3246120" cy="233172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Năng lực, kinh nghiệm: doanh thu từ 2 tỷ đồng, hợp đồng tương tự từ 600 triệu đồng</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Nhân sự chủ chốt: 01 quản trị dự án, 01 kiến trúc sư, 03 kỹ sư phát triển, 01 kỹ sư kiểm thử</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Kỹ thuật: chấm điểm, tối thiểu 70 trên 100 điểm</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Tài chính: phương pháp giá thấp nhất</a:t>
            </a:r>
            <a:endParaRPr b="0" i="0" sz="1250" u="none" cap="none" strike="noStrike">
              <a:solidFill>
                <a:schemeClr val="dk1"/>
              </a:solidFill>
              <a:latin typeface="Calibri"/>
              <a:ea typeface="Calibri"/>
              <a:cs typeface="Calibri"/>
              <a:sym typeface="Calibri"/>
            </a:endParaRPr>
          </a:p>
        </p:txBody>
      </p:sp>
      <p:sp>
        <p:nvSpPr>
          <p:cNvPr id="92" name="Google Shape;92;p3"/>
          <p:cNvSpPr/>
          <p:nvPr/>
        </p:nvSpPr>
        <p:spPr>
          <a:xfrm>
            <a:off x="8046720" y="2834640"/>
            <a:ext cx="3566160" cy="2971800"/>
          </a:xfrm>
          <a:prstGeom prst="roundRect">
            <a:avLst>
              <a:gd fmla="val 246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txBox="1"/>
          <p:nvPr/>
        </p:nvSpPr>
        <p:spPr>
          <a:xfrm>
            <a:off x="8229600" y="2971800"/>
            <a:ext cx="32004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Điều kiện hợp đồng</a:t>
            </a:r>
            <a:endParaRPr b="0" i="0" sz="1500" u="none" cap="none" strike="noStrike">
              <a:solidFill>
                <a:schemeClr val="dk1"/>
              </a:solidFill>
              <a:latin typeface="Calibri"/>
              <a:ea typeface="Calibri"/>
              <a:cs typeface="Calibri"/>
              <a:sym typeface="Calibri"/>
            </a:endParaRPr>
          </a:p>
        </p:txBody>
      </p:sp>
      <p:sp>
        <p:nvSpPr>
          <p:cNvPr id="94" name="Google Shape;94;p3"/>
          <p:cNvSpPr txBox="1"/>
          <p:nvPr/>
        </p:nvSpPr>
        <p:spPr>
          <a:xfrm>
            <a:off x="8229600" y="3383280"/>
            <a:ext cx="3246120" cy="233172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Thanh toán ba đợt 30%, 40%, 30% theo baseline SRS, UAT và vận hành</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Không tạm ứng, bảo đảm thực hiện hợp đồng 3%</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Phạt chậm tiến độ 0,1% mỗi ngày, tối đa 8%</a:t>
            </a:r>
            <a:endParaRPr b="0" i="0" sz="12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Bảo hành 12 tháng kể từ nghiệm thu</a:t>
            </a:r>
            <a:endParaRPr b="0" i="0" sz="1250" u="none" cap="none" strike="noStrike">
              <a:solidFill>
                <a:schemeClr val="dk1"/>
              </a:solidFill>
              <a:latin typeface="Calibri"/>
              <a:ea typeface="Calibri"/>
              <a:cs typeface="Calibri"/>
              <a:sym typeface="Calibri"/>
            </a:endParaRPr>
          </a:p>
        </p:txBody>
      </p:sp>
      <p:sp>
        <p:nvSpPr>
          <p:cNvPr id="95" name="Google Shape;95;p3"/>
          <p:cNvSpPr txBox="1"/>
          <p:nvPr/>
        </p:nvSpPr>
        <p:spPr>
          <a:xfrm>
            <a:off x="548640" y="5897880"/>
            <a:ext cx="110642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1" lang="en-US" sz="1200" u="none" cap="none" strike="noStrike">
                <a:solidFill>
                  <a:schemeClr val="accent4"/>
                </a:solidFill>
                <a:latin typeface="Calibri"/>
                <a:ea typeface="Calibri"/>
                <a:cs typeface="Calibri"/>
                <a:sym typeface="Calibri"/>
              </a:rPr>
              <a:t>Đủ 23 mục E-BDL và 23 mục E-ĐKCT theo Mẫu 5A. Điều chỉnh so với RFP: nộp qua Hệ thống thay cho 10 bản in và buổi trình bày, hạn làm rõ ngày 03/3.</a:t>
            </a:r>
            <a:endParaRPr b="0" i="0" sz="1200" u="none" cap="none" strike="noStrike">
              <a:solidFill>
                <a:schemeClr val="dk1"/>
              </a:solidFill>
              <a:latin typeface="Calibri"/>
              <a:ea typeface="Calibri"/>
              <a:cs typeface="Calibri"/>
              <a:sym typeface="Calibri"/>
            </a:endParaRPr>
          </a:p>
        </p:txBody>
      </p:sp>
      <p:sp>
        <p:nvSpPr>
          <p:cNvPr id="96" name="Google Shape;96;p3"/>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1. WBS</a:t>
            </a:r>
            <a:endParaRPr b="0" i="0" sz="1100" u="none" cap="none" strike="noStrike">
              <a:solidFill>
                <a:schemeClr val="dk1"/>
              </a:solidFill>
              <a:latin typeface="Calibri"/>
              <a:ea typeface="Calibri"/>
              <a:cs typeface="Calibri"/>
              <a:sym typeface="Calibri"/>
            </a:endParaRPr>
          </a:p>
        </p:txBody>
      </p:sp>
      <p:sp>
        <p:nvSpPr>
          <p:cNvPr id="103" name="Google Shape;103;p4"/>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Cấu trúc WBS tổng thể</a:t>
            </a:r>
            <a:endParaRPr sz="2800"/>
          </a:p>
        </p:txBody>
      </p:sp>
      <p:graphicFrame>
        <p:nvGraphicFramePr>
          <p:cNvPr id="104" name="Google Shape;104;p4"/>
          <p:cNvGraphicFramePr/>
          <p:nvPr/>
        </p:nvGraphicFramePr>
        <p:xfrm>
          <a:off x="457200" y="1600200"/>
          <a:ext cx="7223760" cy="4526280"/>
        </p:xfrm>
        <a:graphic>
          <a:graphicData uri="http://schemas.openxmlformats.org/drawingml/2006/chart">
            <c:chart r:id="rId3"/>
          </a:graphicData>
        </a:graphic>
      </p:graphicFrame>
      <p:sp>
        <p:nvSpPr>
          <p:cNvPr id="105" name="Google Shape;105;p4"/>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Cambria"/>
                <a:ea typeface="Cambria"/>
                <a:cs typeface="Cambria"/>
                <a:sym typeface="Cambria"/>
              </a:rPr>
              <a:t>657 MD</a:t>
            </a:r>
            <a:endParaRPr b="0" i="0" sz="4400" u="none" cap="none" strike="noStrike">
              <a:solidFill>
                <a:schemeClr val="dk1"/>
              </a:solidFill>
              <a:latin typeface="Calibri"/>
              <a:ea typeface="Calibri"/>
              <a:cs typeface="Calibri"/>
              <a:sym typeface="Calibri"/>
            </a:endParaRPr>
          </a:p>
        </p:txBody>
      </p:sp>
      <p:sp>
        <p:nvSpPr>
          <p:cNvPr id="106" name="Google Shape;106;p4"/>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Tổng nỗ lực dự kiến của 8 nhóm công việc</a:t>
            </a:r>
            <a:endParaRPr b="0" i="0" sz="1200" u="none" cap="none" strike="noStrike">
              <a:solidFill>
                <a:schemeClr val="dk1"/>
              </a:solidFill>
              <a:latin typeface="Calibri"/>
              <a:ea typeface="Calibri"/>
              <a:cs typeface="Calibri"/>
              <a:sym typeface="Calibri"/>
            </a:endParaRPr>
          </a:p>
        </p:txBody>
      </p:sp>
      <p:sp>
        <p:nvSpPr>
          <p:cNvPr id="107" name="Google Shape;107;p4"/>
          <p:cNvSpPr txBox="1"/>
          <p:nvPr/>
        </p:nvSpPr>
        <p:spPr>
          <a:xfrm>
            <a:off x="8001000" y="2788920"/>
            <a:ext cx="1737360" cy="426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410</a:t>
            </a:r>
            <a:endParaRPr b="0" i="0" sz="2800" u="none" cap="none" strike="noStrike">
              <a:solidFill>
                <a:schemeClr val="dk1"/>
              </a:solidFill>
              <a:latin typeface="Calibri"/>
              <a:ea typeface="Calibri"/>
              <a:cs typeface="Calibri"/>
              <a:sym typeface="Calibri"/>
            </a:endParaRPr>
          </a:p>
        </p:txBody>
      </p:sp>
      <p:sp>
        <p:nvSpPr>
          <p:cNvPr id="108" name="Google Shape;108;p4"/>
          <p:cNvSpPr txBox="1"/>
          <p:nvPr/>
        </p:nvSpPr>
        <p:spPr>
          <a:xfrm>
            <a:off x="8001000" y="3261360"/>
            <a:ext cx="173736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MD khách hàng, sản phẩm, đơn hàng, tích hợp</a:t>
            </a:r>
            <a:endParaRPr b="0" i="0" sz="1200" u="none" cap="none" strike="noStrike">
              <a:solidFill>
                <a:schemeClr val="dk1"/>
              </a:solidFill>
              <a:latin typeface="Calibri"/>
              <a:ea typeface="Calibri"/>
              <a:cs typeface="Calibri"/>
              <a:sym typeface="Calibri"/>
            </a:endParaRPr>
          </a:p>
        </p:txBody>
      </p:sp>
      <p:sp>
        <p:nvSpPr>
          <p:cNvPr id="109" name="Google Shape;109;p4"/>
          <p:cNvSpPr txBox="1"/>
          <p:nvPr/>
        </p:nvSpPr>
        <p:spPr>
          <a:xfrm>
            <a:off x="9875520" y="2788920"/>
            <a:ext cx="1737360" cy="426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2800"/>
              <a:buFont typeface="Cambria"/>
              <a:buNone/>
            </a:pPr>
            <a:r>
              <a:rPr b="1" i="0" lang="en-US" sz="2800" u="none" cap="none" strike="noStrike">
                <a:solidFill>
                  <a:schemeClr val="accent4"/>
                </a:solidFill>
                <a:latin typeface="Cambria"/>
                <a:ea typeface="Cambria"/>
                <a:cs typeface="Cambria"/>
                <a:sym typeface="Cambria"/>
              </a:rPr>
              <a:t>247</a:t>
            </a:r>
            <a:endParaRPr b="0" i="0" sz="2800" u="none" cap="none" strike="noStrike">
              <a:solidFill>
                <a:schemeClr val="dk1"/>
              </a:solidFill>
              <a:latin typeface="Calibri"/>
              <a:ea typeface="Calibri"/>
              <a:cs typeface="Calibri"/>
              <a:sym typeface="Calibri"/>
            </a:endParaRPr>
          </a:p>
        </p:txBody>
      </p:sp>
      <p:sp>
        <p:nvSpPr>
          <p:cNvPr id="110" name="Google Shape;110;p4"/>
          <p:cNvSpPr txBox="1"/>
          <p:nvPr/>
        </p:nvSpPr>
        <p:spPr>
          <a:xfrm>
            <a:off x="9875520" y="3261360"/>
            <a:ext cx="173736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MD quản lý, thiết kế chung, kiểm thử, chuyển giao</a:t>
            </a:r>
            <a:endParaRPr b="0" i="0" sz="1200" u="none" cap="none" strike="noStrike">
              <a:solidFill>
                <a:schemeClr val="dk1"/>
              </a:solidFill>
              <a:latin typeface="Calibri"/>
              <a:ea typeface="Calibri"/>
              <a:cs typeface="Calibri"/>
              <a:sym typeface="Calibri"/>
            </a:endParaRPr>
          </a:p>
        </p:txBody>
      </p:sp>
      <p:sp>
        <p:nvSpPr>
          <p:cNvPr id="111" name="Google Shape;111;p4"/>
          <p:cNvSpPr txBox="1"/>
          <p:nvPr/>
        </p:nvSpPr>
        <p:spPr>
          <a:xfrm>
            <a:off x="8001000" y="3931920"/>
            <a:ext cx="3657600" cy="19202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Mỗi hạng mục có mã WBS, khối lượng và sản phẩm đầu ra dự kiến.</a:t>
            </a:r>
            <a:endParaRPr b="0" i="0" sz="13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Tổng các gói con khớp với nhóm cha theo quy tắc 100%.</a:t>
            </a:r>
            <a:endParaRPr b="0" i="0" sz="13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W3 tăng 57 MD so với W2, trong đó 27 MD cho nền tảng, bảo mật, tối ưu, giám sát và sao lưu.</a:t>
            </a:r>
            <a:endParaRPr b="0" i="0" sz="1300" u="none" cap="none" strike="noStrike">
              <a:solidFill>
                <a:schemeClr val="dk1"/>
              </a:solidFill>
              <a:latin typeface="Arial"/>
              <a:ea typeface="Arial"/>
              <a:cs typeface="Arial"/>
              <a:sym typeface="Arial"/>
            </a:endParaRPr>
          </a:p>
        </p:txBody>
      </p:sp>
      <p:sp>
        <p:nvSpPr>
          <p:cNvPr id="112" name="Google Shape;112;p4"/>
          <p:cNvSpPr txBox="1"/>
          <p:nvPr/>
        </p:nvSpPr>
        <p:spPr>
          <a:xfrm>
            <a:off x="8001000" y="5943600"/>
            <a:ext cx="3657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100"/>
              <a:buFont typeface="Calibri"/>
              <a:buNone/>
            </a:pPr>
            <a:r>
              <a:rPr b="0" i="1" lang="en-US" sz="1100" u="none" cap="none" strike="noStrike">
                <a:solidFill>
                  <a:schemeClr val="accent4"/>
                </a:solidFill>
                <a:latin typeface="Calibri"/>
                <a:ea typeface="Calibri"/>
                <a:cs typeface="Calibri"/>
                <a:sym typeface="Calibri"/>
              </a:rPr>
              <a:t>1 MD (người-ngày) bằng 8 giờ làm việc.</a:t>
            </a:r>
            <a:endParaRPr b="0" i="0" sz="1100" u="none" cap="none" strike="noStrike">
              <a:solidFill>
                <a:schemeClr val="dk1"/>
              </a:solidFill>
              <a:latin typeface="Calibri"/>
              <a:ea typeface="Calibri"/>
              <a:cs typeface="Calibri"/>
              <a:sym typeface="Calibri"/>
            </a:endParaRPr>
          </a:p>
        </p:txBody>
      </p:sp>
      <p:sp>
        <p:nvSpPr>
          <p:cNvPr id="113" name="Google Shape;113;p4"/>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 WBS</a:t>
            </a:r>
            <a:endParaRPr b="0" i="0" sz="1100" u="none" cap="none" strike="noStrike">
              <a:solidFill>
                <a:schemeClr val="dk1"/>
              </a:solidFill>
              <a:latin typeface="Arial"/>
              <a:ea typeface="Arial"/>
              <a:cs typeface="Arial"/>
              <a:sym typeface="Arial"/>
            </a:endParaRPr>
          </a:p>
        </p:txBody>
      </p:sp>
      <p:sp>
        <p:nvSpPr>
          <p:cNvPr id="120" name="Google Shape;120;p5"/>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Phân hệ quản lý khách hàng</a:t>
            </a:r>
            <a:endParaRPr sz="2800">
              <a:latin typeface="Arial"/>
              <a:ea typeface="Arial"/>
              <a:cs typeface="Arial"/>
              <a:sym typeface="Arial"/>
            </a:endParaRPr>
          </a:p>
        </p:txBody>
      </p:sp>
      <p:graphicFrame>
        <p:nvGraphicFramePr>
          <p:cNvPr id="121" name="Google Shape;121;p5"/>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API đăng ký, xác thực thư điện tử, đăng nhập</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Quản lý hồ sơ thành viên và danh sách địa chỉ giao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Khôi phục mật khẩu và quản lý phiên làm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Xây dựng giao diện người dùng của phân hệ</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8</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Đồng ý điều khoản, chính sách bảo mật khi đăng ký và giới hạn số lần đăng nhập sai</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Danh mục địa chỉ hành chính hiện hành cho địa chỉ giao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3.3.7</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3.3 - Lập trình và 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44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122" name="Google Shape;122;p5"/>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Arial"/>
                <a:ea typeface="Arial"/>
                <a:cs typeface="Arial"/>
                <a:sym typeface="Arial"/>
              </a:rPr>
              <a:t>91 MD</a:t>
            </a:r>
            <a:endParaRPr b="0" i="0" sz="4400" u="none" cap="none" strike="noStrike">
              <a:solidFill>
                <a:schemeClr val="dk1"/>
              </a:solidFill>
              <a:latin typeface="Arial"/>
              <a:ea typeface="Arial"/>
              <a:cs typeface="Arial"/>
              <a:sym typeface="Arial"/>
            </a:endParaRPr>
          </a:p>
        </p:txBody>
      </p:sp>
      <p:sp>
        <p:nvSpPr>
          <p:cNvPr id="123" name="Google Shape;123;p5"/>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Tổng WBS 3 - Quản lý khách hàng</a:t>
            </a:r>
            <a:endParaRPr b="0" i="0" sz="1200" u="none" cap="none" strike="noStrike">
              <a:solidFill>
                <a:schemeClr val="dk1"/>
              </a:solidFill>
              <a:latin typeface="Arial"/>
              <a:ea typeface="Arial"/>
              <a:cs typeface="Arial"/>
              <a:sym typeface="Arial"/>
            </a:endParaRPr>
          </a:p>
        </p:txBody>
      </p:sp>
      <p:sp>
        <p:nvSpPr>
          <p:cNvPr id="124" name="Google Shape;124;p5"/>
          <p:cNvSpPr/>
          <p:nvPr/>
        </p:nvSpPr>
        <p:spPr>
          <a:xfrm>
            <a:off x="8001000" y="2788920"/>
            <a:ext cx="482321" cy="384048"/>
          </a:xfrm>
          <a:prstGeom prst="rect">
            <a:avLst/>
          </a:prstGeom>
          <a:solidFill>
            <a:schemeClr val="accent4"/>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12</a:t>
            </a:r>
            <a:endParaRPr b="0" i="0" sz="1100" u="none" cap="none" strike="noStrike">
              <a:solidFill>
                <a:schemeClr val="dk1"/>
              </a:solidFill>
              <a:latin typeface="Arial"/>
              <a:ea typeface="Arial"/>
              <a:cs typeface="Arial"/>
              <a:sym typeface="Arial"/>
            </a:endParaRPr>
          </a:p>
        </p:txBody>
      </p:sp>
      <p:sp>
        <p:nvSpPr>
          <p:cNvPr id="125" name="Google Shape;125;p5"/>
          <p:cNvSpPr/>
          <p:nvPr/>
        </p:nvSpPr>
        <p:spPr>
          <a:xfrm>
            <a:off x="8483321" y="2788920"/>
            <a:ext cx="723481" cy="384048"/>
          </a:xfrm>
          <a:prstGeom prst="rect">
            <a:avLst/>
          </a:prstGeom>
          <a:solidFill>
            <a:schemeClr val="accent2"/>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18</a:t>
            </a:r>
            <a:endParaRPr b="0" i="0" sz="1100" u="none" cap="none" strike="noStrike">
              <a:solidFill>
                <a:schemeClr val="dk1"/>
              </a:solidFill>
              <a:latin typeface="Arial"/>
              <a:ea typeface="Arial"/>
              <a:cs typeface="Arial"/>
              <a:sym typeface="Arial"/>
            </a:endParaRPr>
          </a:p>
        </p:txBody>
      </p:sp>
      <p:sp>
        <p:nvSpPr>
          <p:cNvPr id="126" name="Google Shape;126;p5"/>
          <p:cNvSpPr/>
          <p:nvPr/>
        </p:nvSpPr>
        <p:spPr>
          <a:xfrm>
            <a:off x="9206802" y="2788920"/>
            <a:ext cx="1768510" cy="384048"/>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44</a:t>
            </a:r>
            <a:endParaRPr b="0" i="0" sz="1100" u="none" cap="none" strike="noStrike">
              <a:solidFill>
                <a:schemeClr val="dk1"/>
              </a:solidFill>
              <a:latin typeface="Arial"/>
              <a:ea typeface="Arial"/>
              <a:cs typeface="Arial"/>
              <a:sym typeface="Arial"/>
            </a:endParaRPr>
          </a:p>
        </p:txBody>
      </p:sp>
      <p:sp>
        <p:nvSpPr>
          <p:cNvPr id="127" name="Google Shape;127;p5"/>
          <p:cNvSpPr/>
          <p:nvPr/>
        </p:nvSpPr>
        <p:spPr>
          <a:xfrm>
            <a:off x="10975312" y="2788920"/>
            <a:ext cx="482321" cy="384048"/>
          </a:xfrm>
          <a:prstGeom prst="rect">
            <a:avLst/>
          </a:prstGeom>
          <a:solidFill>
            <a:schemeClr val="accent3"/>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12</a:t>
            </a:r>
            <a:endParaRPr b="0" i="0" sz="1100" u="none" cap="none" strike="noStrike">
              <a:solidFill>
                <a:schemeClr val="dk1"/>
              </a:solidFill>
              <a:latin typeface="Arial"/>
              <a:ea typeface="Arial"/>
              <a:cs typeface="Arial"/>
              <a:sym typeface="Arial"/>
            </a:endParaRPr>
          </a:p>
        </p:txBody>
      </p:sp>
      <p:sp>
        <p:nvSpPr>
          <p:cNvPr id="128" name="Google Shape;128;p5"/>
          <p:cNvSpPr/>
          <p:nvPr/>
        </p:nvSpPr>
        <p:spPr>
          <a:xfrm>
            <a:off x="11457633" y="2788920"/>
            <a:ext cx="200967" cy="384048"/>
          </a:xfrm>
          <a:prstGeom prst="rect">
            <a:avLst/>
          </a:prstGeom>
          <a:solidFill>
            <a:schemeClr val="accent6"/>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Arial"/>
              <a:ea typeface="Arial"/>
              <a:cs typeface="Arial"/>
              <a:sym typeface="Arial"/>
            </a:endParaRPr>
          </a:p>
        </p:txBody>
      </p:sp>
      <p:sp>
        <p:nvSpPr>
          <p:cNvPr id="129" name="Google Shape;129;p5"/>
          <p:cNvSpPr/>
          <p:nvPr/>
        </p:nvSpPr>
        <p:spPr>
          <a:xfrm>
            <a:off x="8001000" y="3392424"/>
            <a:ext cx="146304" cy="146304"/>
          </a:xfrm>
          <a:prstGeom prst="rect">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8257032" y="333756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Phân tích yêu cầu: 12 MD</a:t>
            </a:r>
            <a:endParaRPr b="0" i="0" sz="1200" u="none" cap="none" strike="noStrike">
              <a:solidFill>
                <a:schemeClr val="dk1"/>
              </a:solidFill>
              <a:latin typeface="Arial"/>
              <a:ea typeface="Arial"/>
              <a:cs typeface="Arial"/>
              <a:sym typeface="Arial"/>
            </a:endParaRPr>
          </a:p>
        </p:txBody>
      </p:sp>
      <p:sp>
        <p:nvSpPr>
          <p:cNvPr id="131" name="Google Shape;131;p5"/>
          <p:cNvSpPr/>
          <p:nvPr/>
        </p:nvSpPr>
        <p:spPr>
          <a:xfrm>
            <a:off x="8001000" y="3666744"/>
            <a:ext cx="146304" cy="146304"/>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5"/>
          <p:cNvSpPr txBox="1"/>
          <p:nvPr/>
        </p:nvSpPr>
        <p:spPr>
          <a:xfrm>
            <a:off x="8257032" y="361188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Thiết kế: 18 MD</a:t>
            </a:r>
            <a:endParaRPr b="0" i="0" sz="1200" u="none" cap="none" strike="noStrike">
              <a:solidFill>
                <a:schemeClr val="dk1"/>
              </a:solidFill>
              <a:latin typeface="Arial"/>
              <a:ea typeface="Arial"/>
              <a:cs typeface="Arial"/>
              <a:sym typeface="Arial"/>
            </a:endParaRPr>
          </a:p>
        </p:txBody>
      </p:sp>
      <p:sp>
        <p:nvSpPr>
          <p:cNvPr id="133" name="Google Shape;133;p5"/>
          <p:cNvSpPr/>
          <p:nvPr/>
        </p:nvSpPr>
        <p:spPr>
          <a:xfrm>
            <a:off x="8001000" y="3941064"/>
            <a:ext cx="146304" cy="14630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5"/>
          <p:cNvSpPr txBox="1"/>
          <p:nvPr/>
        </p:nvSpPr>
        <p:spPr>
          <a:xfrm>
            <a:off x="8257032" y="388620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Lập trình và kiểm thử đơn vị: 44 MD</a:t>
            </a:r>
            <a:endParaRPr b="0" i="0" sz="1200" u="none" cap="none" strike="noStrike">
              <a:solidFill>
                <a:schemeClr val="dk1"/>
              </a:solidFill>
              <a:latin typeface="Arial"/>
              <a:ea typeface="Arial"/>
              <a:cs typeface="Arial"/>
              <a:sym typeface="Arial"/>
            </a:endParaRPr>
          </a:p>
        </p:txBody>
      </p:sp>
      <p:sp>
        <p:nvSpPr>
          <p:cNvPr id="135" name="Google Shape;135;p5"/>
          <p:cNvSpPr/>
          <p:nvPr/>
        </p:nvSpPr>
        <p:spPr>
          <a:xfrm>
            <a:off x="8001000" y="4215384"/>
            <a:ext cx="146304" cy="146304"/>
          </a:xfrm>
          <a:prstGeom prst="rect">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5"/>
          <p:cNvSpPr txBox="1"/>
          <p:nvPr/>
        </p:nvSpPr>
        <p:spPr>
          <a:xfrm>
            <a:off x="8257032" y="416052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Kiểm thử phân hệ: 12 MD</a:t>
            </a:r>
            <a:endParaRPr b="0" i="0" sz="1200" u="none" cap="none" strike="noStrike">
              <a:solidFill>
                <a:schemeClr val="dk1"/>
              </a:solidFill>
              <a:latin typeface="Arial"/>
              <a:ea typeface="Arial"/>
              <a:cs typeface="Arial"/>
              <a:sym typeface="Arial"/>
            </a:endParaRPr>
          </a:p>
        </p:txBody>
      </p:sp>
      <p:sp>
        <p:nvSpPr>
          <p:cNvPr id="137" name="Google Shape;137;p5"/>
          <p:cNvSpPr/>
          <p:nvPr/>
        </p:nvSpPr>
        <p:spPr>
          <a:xfrm>
            <a:off x="8001000" y="4489704"/>
            <a:ext cx="146304" cy="146304"/>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
          <p:cNvSpPr txBox="1"/>
          <p:nvPr/>
        </p:nvSpPr>
        <p:spPr>
          <a:xfrm>
            <a:off x="8257032" y="443484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Tài liệu và nghiệm thu nội bộ: 5 MD</a:t>
            </a:r>
            <a:endParaRPr b="0" i="0" sz="1200" u="none" cap="none" strike="noStrike">
              <a:solidFill>
                <a:schemeClr val="dk1"/>
              </a:solidFill>
              <a:latin typeface="Arial"/>
              <a:ea typeface="Arial"/>
              <a:cs typeface="Arial"/>
              <a:sym typeface="Arial"/>
            </a:endParaRPr>
          </a:p>
        </p:txBody>
      </p:sp>
      <p:sp>
        <p:nvSpPr>
          <p:cNvPr id="139" name="Google Shape;139;p5"/>
          <p:cNvSpPr txBox="1"/>
          <p:nvPr/>
        </p:nvSpPr>
        <p:spPr>
          <a:xfrm>
            <a:off x="8001000" y="4937760"/>
            <a:ext cx="36576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Arial"/>
                <a:ea typeface="Arial"/>
                <a:cs typeface="Arial"/>
                <a:sym typeface="Arial"/>
              </a:rPr>
              <a:t>W3 bổ sung các gói 3.3.5 và 3.3.6.</a:t>
            </a:r>
            <a:endParaRPr b="0" i="0" sz="1300" u="none" cap="none" strike="noStrike">
              <a:solidFill>
                <a:schemeClr val="dk1"/>
              </a:solidFill>
              <a:latin typeface="Arial"/>
              <a:ea typeface="Arial"/>
              <a:cs typeface="Arial"/>
              <a:sym typeface="Arial"/>
            </a:endParaRPr>
          </a:p>
        </p:txBody>
      </p:sp>
      <p:sp>
        <p:nvSpPr>
          <p:cNvPr id="140" name="Google Shape;140;p5"/>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 WBS</a:t>
            </a:r>
            <a:endParaRPr b="0" i="0" sz="1100" u="none" cap="none" strike="noStrike">
              <a:solidFill>
                <a:schemeClr val="dk1"/>
              </a:solidFill>
              <a:latin typeface="Arial"/>
              <a:ea typeface="Arial"/>
              <a:cs typeface="Arial"/>
              <a:sym typeface="Arial"/>
            </a:endParaRPr>
          </a:p>
        </p:txBody>
      </p:sp>
      <p:sp>
        <p:nvSpPr>
          <p:cNvPr id="147" name="Google Shape;147;p6"/>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Phân hệ quản lý sản phẩm</a:t>
            </a:r>
            <a:endParaRPr sz="2800">
              <a:latin typeface="Arial"/>
              <a:ea typeface="Arial"/>
              <a:cs typeface="Arial"/>
              <a:sym typeface="Arial"/>
            </a:endParaRPr>
          </a:p>
        </p:txBody>
      </p:sp>
      <p:graphicFrame>
        <p:nvGraphicFramePr>
          <p:cNvPr id="148" name="Google Shape;148;p6"/>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Xử lý danh mục và thuộc tính sản phẩm từ dữ liệu Main System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Hiển thị hình ảnh, giá bán và khuyến mại theo quy tắc ABC Wear xác nhận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9</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Chức năng tìm kiếm và bộ lọc sản phẩm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Xây dựng giao diện danh sách và chi tiết sản phẩm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4.3.5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4.3 - Lập trình và 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43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149" name="Google Shape;149;p6"/>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Arial"/>
                <a:ea typeface="Arial"/>
                <a:cs typeface="Arial"/>
                <a:sym typeface="Arial"/>
              </a:rPr>
              <a:t>95 MD</a:t>
            </a:r>
            <a:endParaRPr b="0" i="0" sz="4400" u="none" cap="none" strike="noStrike">
              <a:solidFill>
                <a:schemeClr val="dk1"/>
              </a:solidFill>
              <a:latin typeface="Arial"/>
              <a:ea typeface="Arial"/>
              <a:cs typeface="Arial"/>
              <a:sym typeface="Arial"/>
            </a:endParaRPr>
          </a:p>
        </p:txBody>
      </p:sp>
      <p:sp>
        <p:nvSpPr>
          <p:cNvPr id="150" name="Google Shape;150;p6"/>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Tổng WBS 4 - Quản lý sản phẩm</a:t>
            </a:r>
            <a:endParaRPr b="0" i="0" sz="1200" u="none" cap="none" strike="noStrike">
              <a:solidFill>
                <a:schemeClr val="dk1"/>
              </a:solidFill>
              <a:latin typeface="Arial"/>
              <a:ea typeface="Arial"/>
              <a:cs typeface="Arial"/>
              <a:sym typeface="Arial"/>
            </a:endParaRPr>
          </a:p>
        </p:txBody>
      </p:sp>
      <p:sp>
        <p:nvSpPr>
          <p:cNvPr id="151" name="Google Shape;151;p6"/>
          <p:cNvSpPr/>
          <p:nvPr/>
        </p:nvSpPr>
        <p:spPr>
          <a:xfrm>
            <a:off x="8001000" y="2788920"/>
            <a:ext cx="500514" cy="384048"/>
          </a:xfrm>
          <a:prstGeom prst="rect">
            <a:avLst/>
          </a:prstGeom>
          <a:solidFill>
            <a:schemeClr val="accent4"/>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13</a:t>
            </a:r>
            <a:endParaRPr b="0" i="0" sz="1100" u="none" cap="none" strike="noStrike">
              <a:solidFill>
                <a:schemeClr val="dk1"/>
              </a:solidFill>
              <a:latin typeface="Arial"/>
              <a:ea typeface="Arial"/>
              <a:cs typeface="Arial"/>
              <a:sym typeface="Arial"/>
            </a:endParaRPr>
          </a:p>
        </p:txBody>
      </p:sp>
      <p:sp>
        <p:nvSpPr>
          <p:cNvPr id="152" name="Google Shape;152;p6"/>
          <p:cNvSpPr/>
          <p:nvPr/>
        </p:nvSpPr>
        <p:spPr>
          <a:xfrm>
            <a:off x="8501514" y="2788920"/>
            <a:ext cx="770021" cy="384048"/>
          </a:xfrm>
          <a:prstGeom prst="rect">
            <a:avLst/>
          </a:prstGeom>
          <a:solidFill>
            <a:schemeClr val="accent2"/>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20</a:t>
            </a:r>
            <a:endParaRPr b="0" i="0" sz="1100" u="none" cap="none" strike="noStrike">
              <a:solidFill>
                <a:schemeClr val="dk1"/>
              </a:solidFill>
              <a:latin typeface="Arial"/>
              <a:ea typeface="Arial"/>
              <a:cs typeface="Arial"/>
              <a:sym typeface="Arial"/>
            </a:endParaRPr>
          </a:p>
        </p:txBody>
      </p:sp>
      <p:sp>
        <p:nvSpPr>
          <p:cNvPr id="153" name="Google Shape;153;p6"/>
          <p:cNvSpPr/>
          <p:nvPr/>
        </p:nvSpPr>
        <p:spPr>
          <a:xfrm>
            <a:off x="9271535" y="2788920"/>
            <a:ext cx="1655545" cy="384048"/>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43</a:t>
            </a:r>
            <a:endParaRPr b="0" i="0" sz="1100" u="none" cap="none" strike="noStrike">
              <a:solidFill>
                <a:schemeClr val="dk1"/>
              </a:solidFill>
              <a:latin typeface="Arial"/>
              <a:ea typeface="Arial"/>
              <a:cs typeface="Arial"/>
              <a:sym typeface="Arial"/>
            </a:endParaRPr>
          </a:p>
        </p:txBody>
      </p:sp>
      <p:sp>
        <p:nvSpPr>
          <p:cNvPr id="154" name="Google Shape;154;p6"/>
          <p:cNvSpPr/>
          <p:nvPr/>
        </p:nvSpPr>
        <p:spPr>
          <a:xfrm>
            <a:off x="10927080" y="2788920"/>
            <a:ext cx="500514" cy="384048"/>
          </a:xfrm>
          <a:prstGeom prst="rect">
            <a:avLst/>
          </a:prstGeom>
          <a:solidFill>
            <a:schemeClr val="accent3"/>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13</a:t>
            </a:r>
            <a:endParaRPr b="0" i="0" sz="1100" u="none" cap="none" strike="noStrike">
              <a:solidFill>
                <a:schemeClr val="dk1"/>
              </a:solidFill>
              <a:latin typeface="Arial"/>
              <a:ea typeface="Arial"/>
              <a:cs typeface="Arial"/>
              <a:sym typeface="Arial"/>
            </a:endParaRPr>
          </a:p>
        </p:txBody>
      </p:sp>
      <p:sp>
        <p:nvSpPr>
          <p:cNvPr id="155" name="Google Shape;155;p6"/>
          <p:cNvSpPr/>
          <p:nvPr/>
        </p:nvSpPr>
        <p:spPr>
          <a:xfrm>
            <a:off x="11427594" y="2788920"/>
            <a:ext cx="231006" cy="384048"/>
          </a:xfrm>
          <a:prstGeom prst="rect">
            <a:avLst/>
          </a:prstGeom>
          <a:solidFill>
            <a:schemeClr val="accent6"/>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Arial"/>
              <a:ea typeface="Arial"/>
              <a:cs typeface="Arial"/>
              <a:sym typeface="Arial"/>
            </a:endParaRPr>
          </a:p>
        </p:txBody>
      </p:sp>
      <p:sp>
        <p:nvSpPr>
          <p:cNvPr id="156" name="Google Shape;156;p6"/>
          <p:cNvSpPr/>
          <p:nvPr/>
        </p:nvSpPr>
        <p:spPr>
          <a:xfrm>
            <a:off x="8001000" y="3392424"/>
            <a:ext cx="146304" cy="146304"/>
          </a:xfrm>
          <a:prstGeom prst="rect">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6"/>
          <p:cNvSpPr txBox="1"/>
          <p:nvPr/>
        </p:nvSpPr>
        <p:spPr>
          <a:xfrm>
            <a:off x="8257032" y="333756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Phân tích yêu cầu: 13 MD</a:t>
            </a:r>
            <a:endParaRPr b="0" i="0" sz="1200" u="none" cap="none" strike="noStrike">
              <a:solidFill>
                <a:schemeClr val="dk1"/>
              </a:solidFill>
              <a:latin typeface="Arial"/>
              <a:ea typeface="Arial"/>
              <a:cs typeface="Arial"/>
              <a:sym typeface="Arial"/>
            </a:endParaRPr>
          </a:p>
        </p:txBody>
      </p:sp>
      <p:sp>
        <p:nvSpPr>
          <p:cNvPr id="158" name="Google Shape;158;p6"/>
          <p:cNvSpPr/>
          <p:nvPr/>
        </p:nvSpPr>
        <p:spPr>
          <a:xfrm>
            <a:off x="8001000" y="3666744"/>
            <a:ext cx="146304" cy="146304"/>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6"/>
          <p:cNvSpPr txBox="1"/>
          <p:nvPr/>
        </p:nvSpPr>
        <p:spPr>
          <a:xfrm>
            <a:off x="8257032" y="361188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Thiết kế: 20 MD</a:t>
            </a:r>
            <a:endParaRPr b="0" i="0" sz="1200" u="none" cap="none" strike="noStrike">
              <a:solidFill>
                <a:schemeClr val="dk1"/>
              </a:solidFill>
              <a:latin typeface="Arial"/>
              <a:ea typeface="Arial"/>
              <a:cs typeface="Arial"/>
              <a:sym typeface="Arial"/>
            </a:endParaRPr>
          </a:p>
        </p:txBody>
      </p:sp>
      <p:sp>
        <p:nvSpPr>
          <p:cNvPr id="160" name="Google Shape;160;p6"/>
          <p:cNvSpPr/>
          <p:nvPr/>
        </p:nvSpPr>
        <p:spPr>
          <a:xfrm>
            <a:off x="8001000" y="3941064"/>
            <a:ext cx="146304" cy="14630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6"/>
          <p:cNvSpPr txBox="1"/>
          <p:nvPr/>
        </p:nvSpPr>
        <p:spPr>
          <a:xfrm>
            <a:off x="8257032" y="388620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Lập trình và kiểm thử đơn vị: 43 MD</a:t>
            </a:r>
            <a:endParaRPr b="0" i="0" sz="1200" u="none" cap="none" strike="noStrike">
              <a:solidFill>
                <a:schemeClr val="dk1"/>
              </a:solidFill>
              <a:latin typeface="Arial"/>
              <a:ea typeface="Arial"/>
              <a:cs typeface="Arial"/>
              <a:sym typeface="Arial"/>
            </a:endParaRPr>
          </a:p>
        </p:txBody>
      </p:sp>
      <p:sp>
        <p:nvSpPr>
          <p:cNvPr id="162" name="Google Shape;162;p6"/>
          <p:cNvSpPr/>
          <p:nvPr/>
        </p:nvSpPr>
        <p:spPr>
          <a:xfrm>
            <a:off x="8001000" y="4215384"/>
            <a:ext cx="146304" cy="146304"/>
          </a:xfrm>
          <a:prstGeom prst="rect">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6"/>
          <p:cNvSpPr txBox="1"/>
          <p:nvPr/>
        </p:nvSpPr>
        <p:spPr>
          <a:xfrm>
            <a:off x="8257032" y="416052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Kiểm thử phân hệ: 13 MD</a:t>
            </a:r>
            <a:endParaRPr b="0" i="0" sz="1200" u="none" cap="none" strike="noStrike">
              <a:solidFill>
                <a:schemeClr val="dk1"/>
              </a:solidFill>
              <a:latin typeface="Arial"/>
              <a:ea typeface="Arial"/>
              <a:cs typeface="Arial"/>
              <a:sym typeface="Arial"/>
            </a:endParaRPr>
          </a:p>
        </p:txBody>
      </p:sp>
      <p:sp>
        <p:nvSpPr>
          <p:cNvPr id="164" name="Google Shape;164;p6"/>
          <p:cNvSpPr/>
          <p:nvPr/>
        </p:nvSpPr>
        <p:spPr>
          <a:xfrm>
            <a:off x="8001000" y="4489704"/>
            <a:ext cx="146304" cy="146304"/>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6"/>
          <p:cNvSpPr txBox="1"/>
          <p:nvPr/>
        </p:nvSpPr>
        <p:spPr>
          <a:xfrm>
            <a:off x="8257032" y="443484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Tài liệu và nghiệm thu nội bộ: 6 MD</a:t>
            </a:r>
            <a:endParaRPr b="0" i="0" sz="1200" u="none" cap="none" strike="noStrike">
              <a:solidFill>
                <a:schemeClr val="dk1"/>
              </a:solidFill>
              <a:latin typeface="Arial"/>
              <a:ea typeface="Arial"/>
              <a:cs typeface="Arial"/>
              <a:sym typeface="Arial"/>
            </a:endParaRPr>
          </a:p>
        </p:txBody>
      </p:sp>
      <p:sp>
        <p:nvSpPr>
          <p:cNvPr id="166" name="Google Shape;166;p6"/>
          <p:cNvSpPr txBox="1"/>
          <p:nvPr/>
        </p:nvSpPr>
        <p:spPr>
          <a:xfrm>
            <a:off x="548640" y="4343400"/>
            <a:ext cx="7040880" cy="109728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Dữ liệu sản phẩm lấy từ Main System theo quy tắc của ABC Wear.</a:t>
            </a:r>
            <a:endParaRPr b="0" i="0" sz="14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Chức năng quản trị nội bộ mới nằm ngoài phạm vi.</a:t>
            </a:r>
            <a:endParaRPr b="0" i="0" sz="1400" u="none" cap="none" strike="noStrike">
              <a:solidFill>
                <a:schemeClr val="dk1"/>
              </a:solidFill>
              <a:latin typeface="Arial"/>
              <a:ea typeface="Arial"/>
              <a:cs typeface="Arial"/>
              <a:sym typeface="Arial"/>
            </a:endParaRPr>
          </a:p>
        </p:txBody>
      </p:sp>
      <p:sp>
        <p:nvSpPr>
          <p:cNvPr id="167" name="Google Shape;167;p6"/>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 WBS</a:t>
            </a:r>
            <a:endParaRPr b="0" i="0" sz="1100" u="none" cap="none" strike="noStrike">
              <a:solidFill>
                <a:schemeClr val="dk1"/>
              </a:solidFill>
              <a:latin typeface="Arial"/>
              <a:ea typeface="Arial"/>
              <a:cs typeface="Arial"/>
              <a:sym typeface="Arial"/>
            </a:endParaRPr>
          </a:p>
        </p:txBody>
      </p:sp>
      <p:sp>
        <p:nvSpPr>
          <p:cNvPr id="174" name="Google Shape;174;p7"/>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Phân hệ quản lý đơn hàng</a:t>
            </a:r>
            <a:endParaRPr sz="2800">
              <a:latin typeface="Arial"/>
              <a:ea typeface="Arial"/>
              <a:cs typeface="Arial"/>
              <a:sym typeface="Arial"/>
            </a:endParaRPr>
          </a:p>
        </p:txBody>
      </p:sp>
      <p:graphicFrame>
        <p:nvGraphicFramePr>
          <p:cNvPr id="175" name="Google Shape;175;p7"/>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Chức năng giỏ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Quy trình đặt hàng, sinh mã đơn và thư xác nhận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Xử lý thanh toán theo giao diện ABC Wear phê duyệt và đối soát giao dịch thanh toán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Theo dõi trạng thái, yêu cầu hủy đơn và đổi trả theo chính sách thống nhất</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9</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Xây dựng giao diện giỏ hàng, thanh toán và theo dõi đơn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9</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Tính tổng tiền đơn hàng, gồm tạm tính, khuyến mại áp dụng và phí vận chuyển theo quy tắc ABC Wear xác nhận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5.3.7</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Kiểm tra và giữ tồn khi đặt hàng theo quy tắc đồng bộ với Main System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5.3.8</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5.3 - Lập trình và kiểm thử đơn vị</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69</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176" name="Google Shape;176;p7"/>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Arial"/>
                <a:ea typeface="Arial"/>
                <a:cs typeface="Arial"/>
                <a:sym typeface="Arial"/>
              </a:rPr>
              <a:t>129 MD</a:t>
            </a:r>
            <a:endParaRPr b="0" i="0" sz="4400" u="none" cap="none" strike="noStrike">
              <a:solidFill>
                <a:schemeClr val="dk1"/>
              </a:solidFill>
              <a:latin typeface="Arial"/>
              <a:ea typeface="Arial"/>
              <a:cs typeface="Arial"/>
              <a:sym typeface="Arial"/>
            </a:endParaRPr>
          </a:p>
        </p:txBody>
      </p:sp>
      <p:sp>
        <p:nvSpPr>
          <p:cNvPr id="177" name="Google Shape;177;p7"/>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Tổng WBS 5 - Quản lý đơn hàng</a:t>
            </a:r>
            <a:endParaRPr b="0" i="0" sz="1200" u="none" cap="none" strike="noStrike">
              <a:solidFill>
                <a:schemeClr val="dk1"/>
              </a:solidFill>
              <a:latin typeface="Arial"/>
              <a:ea typeface="Arial"/>
              <a:cs typeface="Arial"/>
              <a:sym typeface="Arial"/>
            </a:endParaRPr>
          </a:p>
        </p:txBody>
      </p:sp>
      <p:sp>
        <p:nvSpPr>
          <p:cNvPr id="178" name="Google Shape;178;p7"/>
          <p:cNvSpPr/>
          <p:nvPr/>
        </p:nvSpPr>
        <p:spPr>
          <a:xfrm>
            <a:off x="8001000" y="2788920"/>
            <a:ext cx="453656" cy="384048"/>
          </a:xfrm>
          <a:prstGeom prst="rect">
            <a:avLst/>
          </a:prstGeom>
          <a:solidFill>
            <a:schemeClr val="accent4"/>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16</a:t>
            </a:r>
            <a:endParaRPr b="0" i="0" sz="1100" u="none" cap="none" strike="noStrike">
              <a:solidFill>
                <a:schemeClr val="dk1"/>
              </a:solidFill>
              <a:latin typeface="Arial"/>
              <a:ea typeface="Arial"/>
              <a:cs typeface="Arial"/>
              <a:sym typeface="Arial"/>
            </a:endParaRPr>
          </a:p>
        </p:txBody>
      </p:sp>
      <p:sp>
        <p:nvSpPr>
          <p:cNvPr id="179" name="Google Shape;179;p7"/>
          <p:cNvSpPr/>
          <p:nvPr/>
        </p:nvSpPr>
        <p:spPr>
          <a:xfrm>
            <a:off x="8454656" y="2788920"/>
            <a:ext cx="623777" cy="384048"/>
          </a:xfrm>
          <a:prstGeom prst="rect">
            <a:avLst/>
          </a:prstGeom>
          <a:solidFill>
            <a:schemeClr val="accent2"/>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22</a:t>
            </a:r>
            <a:endParaRPr b="0" i="0" sz="1100" u="none" cap="none" strike="noStrike">
              <a:solidFill>
                <a:schemeClr val="dk1"/>
              </a:solidFill>
              <a:latin typeface="Arial"/>
              <a:ea typeface="Arial"/>
              <a:cs typeface="Arial"/>
              <a:sym typeface="Arial"/>
            </a:endParaRPr>
          </a:p>
        </p:txBody>
      </p:sp>
      <p:sp>
        <p:nvSpPr>
          <p:cNvPr id="180" name="Google Shape;180;p7"/>
          <p:cNvSpPr/>
          <p:nvPr/>
        </p:nvSpPr>
        <p:spPr>
          <a:xfrm>
            <a:off x="9078433" y="2788920"/>
            <a:ext cx="1956391" cy="384048"/>
          </a:xfrm>
          <a:prstGeom prst="rect">
            <a:avLst/>
          </a:prstGeom>
          <a:solidFill>
            <a:schemeClr val="accent1"/>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69</a:t>
            </a:r>
            <a:endParaRPr b="0" i="0" sz="1100" u="none" cap="none" strike="noStrike">
              <a:solidFill>
                <a:schemeClr val="dk1"/>
              </a:solidFill>
              <a:latin typeface="Arial"/>
              <a:ea typeface="Arial"/>
              <a:cs typeface="Arial"/>
              <a:sym typeface="Arial"/>
            </a:endParaRPr>
          </a:p>
        </p:txBody>
      </p:sp>
      <p:sp>
        <p:nvSpPr>
          <p:cNvPr id="181" name="Google Shape;181;p7"/>
          <p:cNvSpPr/>
          <p:nvPr/>
        </p:nvSpPr>
        <p:spPr>
          <a:xfrm>
            <a:off x="11034823" y="2788920"/>
            <a:ext cx="425302" cy="384048"/>
          </a:xfrm>
          <a:prstGeom prst="rect">
            <a:avLst/>
          </a:prstGeom>
          <a:solidFill>
            <a:schemeClr val="accent3"/>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US" sz="1100" u="none" cap="none" strike="noStrike">
                <a:solidFill>
                  <a:schemeClr val="dk1"/>
                </a:solidFill>
                <a:latin typeface="Arial"/>
                <a:ea typeface="Arial"/>
                <a:cs typeface="Arial"/>
                <a:sym typeface="Arial"/>
              </a:rPr>
              <a:t>15</a:t>
            </a:r>
            <a:endParaRPr b="0" i="0" sz="1100" u="none" cap="none" strike="noStrike">
              <a:solidFill>
                <a:schemeClr val="dk1"/>
              </a:solidFill>
              <a:latin typeface="Arial"/>
              <a:ea typeface="Arial"/>
              <a:cs typeface="Arial"/>
              <a:sym typeface="Arial"/>
            </a:endParaRPr>
          </a:p>
        </p:txBody>
      </p:sp>
      <p:sp>
        <p:nvSpPr>
          <p:cNvPr id="182" name="Google Shape;182;p7"/>
          <p:cNvSpPr/>
          <p:nvPr/>
        </p:nvSpPr>
        <p:spPr>
          <a:xfrm>
            <a:off x="11460126" y="2788920"/>
            <a:ext cx="198474" cy="384048"/>
          </a:xfrm>
          <a:prstGeom prst="rect">
            <a:avLst/>
          </a:prstGeom>
          <a:solidFill>
            <a:schemeClr val="accent6"/>
          </a:solid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Arial"/>
              <a:ea typeface="Arial"/>
              <a:cs typeface="Arial"/>
              <a:sym typeface="Arial"/>
            </a:endParaRPr>
          </a:p>
        </p:txBody>
      </p:sp>
      <p:sp>
        <p:nvSpPr>
          <p:cNvPr id="183" name="Google Shape;183;p7"/>
          <p:cNvSpPr/>
          <p:nvPr/>
        </p:nvSpPr>
        <p:spPr>
          <a:xfrm>
            <a:off x="8001000" y="3392424"/>
            <a:ext cx="146304" cy="146304"/>
          </a:xfrm>
          <a:prstGeom prst="rect">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7"/>
          <p:cNvSpPr txBox="1"/>
          <p:nvPr/>
        </p:nvSpPr>
        <p:spPr>
          <a:xfrm>
            <a:off x="8257032" y="333756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Phân tích yêu cầu: 16 MD</a:t>
            </a:r>
            <a:endParaRPr b="0" i="0" sz="1200" u="none" cap="none" strike="noStrike">
              <a:solidFill>
                <a:schemeClr val="dk1"/>
              </a:solidFill>
              <a:latin typeface="Arial"/>
              <a:ea typeface="Arial"/>
              <a:cs typeface="Arial"/>
              <a:sym typeface="Arial"/>
            </a:endParaRPr>
          </a:p>
        </p:txBody>
      </p:sp>
      <p:sp>
        <p:nvSpPr>
          <p:cNvPr id="185" name="Google Shape;185;p7"/>
          <p:cNvSpPr/>
          <p:nvPr/>
        </p:nvSpPr>
        <p:spPr>
          <a:xfrm>
            <a:off x="8001000" y="3666744"/>
            <a:ext cx="146304" cy="146304"/>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7"/>
          <p:cNvSpPr txBox="1"/>
          <p:nvPr/>
        </p:nvSpPr>
        <p:spPr>
          <a:xfrm>
            <a:off x="8257032" y="361188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Thiết kế: 22 MD</a:t>
            </a:r>
            <a:endParaRPr b="0" i="0" sz="1200" u="none" cap="none" strike="noStrike">
              <a:solidFill>
                <a:schemeClr val="dk1"/>
              </a:solidFill>
              <a:latin typeface="Arial"/>
              <a:ea typeface="Arial"/>
              <a:cs typeface="Arial"/>
              <a:sym typeface="Arial"/>
            </a:endParaRPr>
          </a:p>
        </p:txBody>
      </p:sp>
      <p:sp>
        <p:nvSpPr>
          <p:cNvPr id="187" name="Google Shape;187;p7"/>
          <p:cNvSpPr/>
          <p:nvPr/>
        </p:nvSpPr>
        <p:spPr>
          <a:xfrm>
            <a:off x="8001000" y="3941064"/>
            <a:ext cx="146304" cy="146304"/>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7"/>
          <p:cNvSpPr txBox="1"/>
          <p:nvPr/>
        </p:nvSpPr>
        <p:spPr>
          <a:xfrm>
            <a:off x="8257032" y="388620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Lập trình và kiểm thử đơn vị: 69 MD</a:t>
            </a:r>
            <a:endParaRPr b="0" i="0" sz="1200" u="none" cap="none" strike="noStrike">
              <a:solidFill>
                <a:schemeClr val="dk1"/>
              </a:solidFill>
              <a:latin typeface="Arial"/>
              <a:ea typeface="Arial"/>
              <a:cs typeface="Arial"/>
              <a:sym typeface="Arial"/>
            </a:endParaRPr>
          </a:p>
        </p:txBody>
      </p:sp>
      <p:sp>
        <p:nvSpPr>
          <p:cNvPr id="189" name="Google Shape;189;p7"/>
          <p:cNvSpPr/>
          <p:nvPr/>
        </p:nvSpPr>
        <p:spPr>
          <a:xfrm>
            <a:off x="8001000" y="4215384"/>
            <a:ext cx="146304" cy="146304"/>
          </a:xfrm>
          <a:prstGeom prst="rect">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7"/>
          <p:cNvSpPr txBox="1"/>
          <p:nvPr/>
        </p:nvSpPr>
        <p:spPr>
          <a:xfrm>
            <a:off x="8257032" y="416052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Kiểm thử phân hệ: 15 MD</a:t>
            </a:r>
            <a:endParaRPr b="0" i="0" sz="1200" u="none" cap="none" strike="noStrike">
              <a:solidFill>
                <a:schemeClr val="dk1"/>
              </a:solidFill>
              <a:latin typeface="Arial"/>
              <a:ea typeface="Arial"/>
              <a:cs typeface="Arial"/>
              <a:sym typeface="Arial"/>
            </a:endParaRPr>
          </a:p>
        </p:txBody>
      </p:sp>
      <p:sp>
        <p:nvSpPr>
          <p:cNvPr id="191" name="Google Shape;191;p7"/>
          <p:cNvSpPr/>
          <p:nvPr/>
        </p:nvSpPr>
        <p:spPr>
          <a:xfrm>
            <a:off x="8001000" y="4489704"/>
            <a:ext cx="146304" cy="146304"/>
          </a:xfrm>
          <a:prstGeom prst="rect">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7"/>
          <p:cNvSpPr txBox="1"/>
          <p:nvPr/>
        </p:nvSpPr>
        <p:spPr>
          <a:xfrm>
            <a:off x="8257032" y="4434840"/>
            <a:ext cx="3401568"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Arial"/>
                <a:ea typeface="Arial"/>
                <a:cs typeface="Arial"/>
                <a:sym typeface="Arial"/>
              </a:rPr>
              <a:t>Tài liệu và nghiệm thu nội bộ: 7 MD</a:t>
            </a:r>
            <a:endParaRPr b="0" i="0" sz="1200" u="none" cap="none" strike="noStrike">
              <a:solidFill>
                <a:schemeClr val="dk1"/>
              </a:solidFill>
              <a:latin typeface="Arial"/>
              <a:ea typeface="Arial"/>
              <a:cs typeface="Arial"/>
              <a:sym typeface="Arial"/>
            </a:endParaRPr>
          </a:p>
        </p:txBody>
      </p:sp>
      <p:sp>
        <p:nvSpPr>
          <p:cNvPr id="193" name="Google Shape;193;p7"/>
          <p:cNvSpPr txBox="1"/>
          <p:nvPr/>
        </p:nvSpPr>
        <p:spPr>
          <a:xfrm>
            <a:off x="8001000" y="4937760"/>
            <a:ext cx="36576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Arial"/>
                <a:ea typeface="Arial"/>
                <a:cs typeface="Arial"/>
                <a:sym typeface="Arial"/>
              </a:rPr>
              <a:t>Chính sách thanh toán, phí giao hàng, hủy và đổi trả cần ABC Wear xác nhận khi triển khai.</a:t>
            </a:r>
            <a:endParaRPr b="0" i="0" sz="1300" u="none" cap="none" strike="noStrike">
              <a:solidFill>
                <a:schemeClr val="dk1"/>
              </a:solidFill>
              <a:latin typeface="Arial"/>
              <a:ea typeface="Arial"/>
              <a:cs typeface="Arial"/>
              <a:sym typeface="Arial"/>
            </a:endParaRPr>
          </a:p>
        </p:txBody>
      </p:sp>
      <p:sp>
        <p:nvSpPr>
          <p:cNvPr id="194" name="Google Shape;194;p7"/>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p:nvPr/>
        </p:nvSpPr>
        <p:spPr>
          <a:xfrm>
            <a:off x="548640" y="329184"/>
            <a:ext cx="961949"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1. WBS</a:t>
            </a:r>
            <a:endParaRPr b="0" i="0" sz="1100" u="none" cap="none" strike="noStrike">
              <a:solidFill>
                <a:schemeClr val="dk1"/>
              </a:solidFill>
              <a:latin typeface="Calibri"/>
              <a:ea typeface="Calibri"/>
              <a:cs typeface="Calibri"/>
              <a:sym typeface="Calibri"/>
            </a:endParaRPr>
          </a:p>
        </p:txBody>
      </p:sp>
      <p:sp>
        <p:nvSpPr>
          <p:cNvPr id="201" name="Google Shape;201;p8"/>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Tích hợp hệ thống</a:t>
            </a:r>
            <a:endParaRPr sz="2800"/>
          </a:p>
        </p:txBody>
      </p:sp>
      <p:graphicFrame>
        <p:nvGraphicFramePr>
          <p:cNvPr id="202" name="Google Shape;202;p8"/>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822950"/>
                <a:gridCol w="5394950"/>
                <a:gridCol w="822950"/>
              </a:tblGrid>
              <a:tr h="301750">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Mã</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Tên công việc</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200"/>
                        <a:buFont typeface="Calibri"/>
                        <a:buNone/>
                      </a:pPr>
                      <a:r>
                        <a:rPr b="1" lang="en-US" sz="1200" u="none" cap="none" strike="noStrike">
                          <a:solidFill>
                            <a:schemeClr val="lt1"/>
                          </a:solidFill>
                        </a:rPr>
                        <a:t>MD</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6.3.1</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Đồng bộ danh mục sản phẩm, giá và tồn kho từ Main System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Chuyển đơn hàng đã xác nhận sang Main System</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10</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Kết nối khâu Transportation Operation và nhận trạng thái giao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8</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6.3.4</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Tích hợp cổng thanh toán trực tuyến theo nhà cung cấp ABC Wear xác nhận</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8</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Kiểm thử đơn vị các kết nối</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2</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6.3.6</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Tích hợp dịch vụ gửi email, thông báo xác nhận đăng ký và xác nhận đơn hàng</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lang="en-US" sz="1200" u="none" cap="none" strike="noStrike">
                          <a:solidFill>
                            <a:schemeClr val="dk1"/>
                          </a:solidFill>
                        </a:rPr>
                        <a:t>5</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Tổng gói 6.3 - Xây dựng các kết nối</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200"/>
                        <a:buFont typeface="Calibri"/>
                        <a:buNone/>
                      </a:pPr>
                      <a:r>
                        <a:rPr b="1" lang="en-US" sz="1200" u="none" cap="none" strike="noStrike">
                          <a:solidFill>
                            <a:schemeClr val="dk1"/>
                          </a:solidFill>
                        </a:rPr>
                        <a:t>43</a:t>
                      </a:r>
                      <a:endParaRPr sz="12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03" name="Google Shape;203;p8"/>
          <p:cNvSpPr txBox="1"/>
          <p:nvPr/>
        </p:nvSpPr>
        <p:spPr>
          <a:xfrm>
            <a:off x="8001000" y="1645920"/>
            <a:ext cx="3657600" cy="670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4400"/>
              <a:buFont typeface="Cambria"/>
              <a:buNone/>
            </a:pPr>
            <a:r>
              <a:rPr b="1" i="0" lang="en-US" sz="4400" u="none" cap="none" strike="noStrike">
                <a:solidFill>
                  <a:schemeClr val="accent1"/>
                </a:solidFill>
                <a:latin typeface="Cambria"/>
                <a:ea typeface="Cambria"/>
                <a:cs typeface="Cambria"/>
                <a:sym typeface="Cambria"/>
              </a:rPr>
              <a:t>95 MD</a:t>
            </a:r>
            <a:endParaRPr b="0" i="0" sz="4400" u="none" cap="none" strike="noStrike">
              <a:solidFill>
                <a:schemeClr val="dk1"/>
              </a:solidFill>
              <a:latin typeface="Calibri"/>
              <a:ea typeface="Calibri"/>
              <a:cs typeface="Calibri"/>
              <a:sym typeface="Calibri"/>
            </a:endParaRPr>
          </a:p>
        </p:txBody>
      </p:sp>
      <p:sp>
        <p:nvSpPr>
          <p:cNvPr id="204" name="Google Shape;204;p8"/>
          <p:cNvSpPr txBox="1"/>
          <p:nvPr/>
        </p:nvSpPr>
        <p:spPr>
          <a:xfrm>
            <a:off x="8001000" y="2362200"/>
            <a:ext cx="3657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Calibri"/>
                <a:ea typeface="Calibri"/>
                <a:cs typeface="Calibri"/>
                <a:sym typeface="Calibri"/>
              </a:rPr>
              <a:t>Tổng WBS 6 - Tích hợp hệ thống</a:t>
            </a:r>
            <a:endParaRPr b="0" i="0" sz="1200" u="none" cap="none" strike="noStrike">
              <a:solidFill>
                <a:schemeClr val="dk1"/>
              </a:solidFill>
              <a:latin typeface="Calibri"/>
              <a:ea typeface="Calibri"/>
              <a:cs typeface="Calibri"/>
              <a:sym typeface="Calibri"/>
            </a:endParaRPr>
          </a:p>
        </p:txBody>
      </p:sp>
      <p:sp>
        <p:nvSpPr>
          <p:cNvPr id="205" name="Google Shape;205;p8"/>
          <p:cNvSpPr txBox="1"/>
          <p:nvPr/>
        </p:nvSpPr>
        <p:spPr>
          <a:xfrm>
            <a:off x="548640" y="4709160"/>
            <a:ext cx="7040880" cy="150876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Ngoài 43 MD xây dựng kết nối: đặc tả 16 MD, thiết kế 14 MD, kiểm thử tích hợp 16 MD, tài liệu 6 MD.</a:t>
            </a:r>
            <a:endParaRPr b="0" i="0" sz="13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Nghiệp vụ thanh toán thuộc WBS 5, kết nối cổng thanh toán thuộc WBS 6.</a:t>
            </a:r>
            <a:endParaRPr b="0" i="0" sz="1350" u="none" cap="none" strike="noStrike">
              <a:solidFill>
                <a:schemeClr val="dk1"/>
              </a:solidFill>
              <a:latin typeface="Calibri"/>
              <a:ea typeface="Calibri"/>
              <a:cs typeface="Calibri"/>
              <a:sym typeface="Calibri"/>
            </a:endParaRPr>
          </a:p>
        </p:txBody>
      </p:sp>
      <p:cxnSp>
        <p:nvCxnSpPr>
          <p:cNvPr id="206" name="Google Shape;206;p8"/>
          <p:cNvCxnSpPr/>
          <p:nvPr/>
        </p:nvCxnSpPr>
        <p:spPr>
          <a:xfrm>
            <a:off x="8778240" y="3145536"/>
            <a:ext cx="1005840" cy="841248"/>
          </a:xfrm>
          <a:prstGeom prst="straightConnector1">
            <a:avLst/>
          </a:prstGeom>
          <a:noFill/>
          <a:ln cap="flat" cmpd="sng" w="19050">
            <a:solidFill>
              <a:schemeClr val="accent4"/>
            </a:solidFill>
            <a:prstDash val="solid"/>
            <a:round/>
            <a:headEnd len="sm" w="sm" type="none"/>
            <a:tailEnd len="sm" w="sm" type="none"/>
          </a:ln>
        </p:spPr>
      </p:cxnSp>
      <p:cxnSp>
        <p:nvCxnSpPr>
          <p:cNvPr id="207" name="Google Shape;207;p8"/>
          <p:cNvCxnSpPr/>
          <p:nvPr/>
        </p:nvCxnSpPr>
        <p:spPr>
          <a:xfrm flipH="1" rot="10800000">
            <a:off x="9784080" y="3145536"/>
            <a:ext cx="1097280" cy="841248"/>
          </a:xfrm>
          <a:prstGeom prst="straightConnector1">
            <a:avLst/>
          </a:prstGeom>
          <a:noFill/>
          <a:ln cap="flat" cmpd="sng" w="19050">
            <a:solidFill>
              <a:schemeClr val="accent4"/>
            </a:solidFill>
            <a:prstDash val="solid"/>
            <a:round/>
            <a:headEnd len="sm" w="sm" type="none"/>
            <a:tailEnd len="sm" w="sm" type="none"/>
          </a:ln>
        </p:spPr>
      </p:cxnSp>
      <p:cxnSp>
        <p:nvCxnSpPr>
          <p:cNvPr id="208" name="Google Shape;208;p8"/>
          <p:cNvCxnSpPr/>
          <p:nvPr/>
        </p:nvCxnSpPr>
        <p:spPr>
          <a:xfrm flipH="1" rot="10800000">
            <a:off x="8778240" y="3986784"/>
            <a:ext cx="1005840" cy="1353312"/>
          </a:xfrm>
          <a:prstGeom prst="straightConnector1">
            <a:avLst/>
          </a:prstGeom>
          <a:noFill/>
          <a:ln cap="flat" cmpd="sng" w="19050">
            <a:solidFill>
              <a:schemeClr val="accent4"/>
            </a:solidFill>
            <a:prstDash val="solid"/>
            <a:round/>
            <a:headEnd len="sm" w="sm" type="none"/>
            <a:tailEnd len="sm" w="sm" type="none"/>
          </a:ln>
        </p:spPr>
      </p:cxnSp>
      <p:cxnSp>
        <p:nvCxnSpPr>
          <p:cNvPr id="209" name="Google Shape;209;p8"/>
          <p:cNvCxnSpPr/>
          <p:nvPr/>
        </p:nvCxnSpPr>
        <p:spPr>
          <a:xfrm>
            <a:off x="9784080" y="3986784"/>
            <a:ext cx="1097280" cy="1353312"/>
          </a:xfrm>
          <a:prstGeom prst="straightConnector1">
            <a:avLst/>
          </a:prstGeom>
          <a:noFill/>
          <a:ln cap="flat" cmpd="sng" w="19050">
            <a:solidFill>
              <a:schemeClr val="accent4"/>
            </a:solidFill>
            <a:prstDash val="solid"/>
            <a:round/>
            <a:headEnd len="sm" w="sm" type="none"/>
            <a:tailEnd len="sm" w="sm" type="none"/>
          </a:ln>
        </p:spPr>
      </p:cxnSp>
      <p:sp>
        <p:nvSpPr>
          <p:cNvPr id="210" name="Google Shape;210;p8"/>
          <p:cNvSpPr/>
          <p:nvPr/>
        </p:nvSpPr>
        <p:spPr>
          <a:xfrm>
            <a:off x="8001000" y="288036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Main System</a:t>
            </a:r>
            <a:endParaRPr b="0" i="0" sz="1200" u="none" cap="none" strike="noStrike">
              <a:solidFill>
                <a:schemeClr val="dk1"/>
              </a:solidFill>
              <a:latin typeface="Calibri"/>
              <a:ea typeface="Calibri"/>
              <a:cs typeface="Calibri"/>
              <a:sym typeface="Calibri"/>
            </a:endParaRPr>
          </a:p>
        </p:txBody>
      </p:sp>
      <p:sp>
        <p:nvSpPr>
          <p:cNvPr id="211" name="Google Shape;211;p8"/>
          <p:cNvSpPr/>
          <p:nvPr/>
        </p:nvSpPr>
        <p:spPr>
          <a:xfrm>
            <a:off x="10104120" y="288036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Giao vận</a:t>
            </a:r>
            <a:endParaRPr b="0" i="0" sz="1200" u="none" cap="none" strike="noStrike">
              <a:solidFill>
                <a:schemeClr val="dk1"/>
              </a:solidFill>
              <a:latin typeface="Calibri"/>
              <a:ea typeface="Calibri"/>
              <a:cs typeface="Calibri"/>
              <a:sym typeface="Calibri"/>
            </a:endParaRPr>
          </a:p>
        </p:txBody>
      </p:sp>
      <p:sp>
        <p:nvSpPr>
          <p:cNvPr id="212" name="Google Shape;212;p8"/>
          <p:cNvSpPr/>
          <p:nvPr/>
        </p:nvSpPr>
        <p:spPr>
          <a:xfrm>
            <a:off x="8001000" y="507492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Cổng thanh toán</a:t>
            </a:r>
            <a:endParaRPr b="0" i="0" sz="1200" u="none" cap="none" strike="noStrike">
              <a:solidFill>
                <a:schemeClr val="dk1"/>
              </a:solidFill>
              <a:latin typeface="Calibri"/>
              <a:ea typeface="Calibri"/>
              <a:cs typeface="Calibri"/>
              <a:sym typeface="Calibri"/>
            </a:endParaRPr>
          </a:p>
        </p:txBody>
      </p:sp>
      <p:sp>
        <p:nvSpPr>
          <p:cNvPr id="213" name="Google Shape;213;p8"/>
          <p:cNvSpPr/>
          <p:nvPr/>
        </p:nvSpPr>
        <p:spPr>
          <a:xfrm>
            <a:off x="10104120" y="5074920"/>
            <a:ext cx="1554480" cy="530352"/>
          </a:xfrm>
          <a:prstGeom prst="roundRect">
            <a:avLst>
              <a:gd fmla="val 13793" name="adj"/>
            </a:avLst>
          </a:prstGeom>
          <a:solidFill>
            <a:schemeClr val="lt2"/>
          </a:solidFill>
          <a:ln cap="flat" cmpd="sng" w="12700">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Email</a:t>
            </a:r>
            <a:endParaRPr b="0" i="0" sz="1200" u="none" cap="none" strike="noStrike">
              <a:solidFill>
                <a:schemeClr val="dk1"/>
              </a:solidFill>
              <a:latin typeface="Calibri"/>
              <a:ea typeface="Calibri"/>
              <a:cs typeface="Calibri"/>
              <a:sym typeface="Calibri"/>
            </a:endParaRPr>
          </a:p>
        </p:txBody>
      </p:sp>
      <p:sp>
        <p:nvSpPr>
          <p:cNvPr id="214" name="Google Shape;214;p8"/>
          <p:cNvSpPr/>
          <p:nvPr/>
        </p:nvSpPr>
        <p:spPr>
          <a:xfrm>
            <a:off x="9052560" y="3703320"/>
            <a:ext cx="1463040" cy="566928"/>
          </a:xfrm>
          <a:prstGeom prst="roundRect">
            <a:avLst>
              <a:gd fmla="val 12903"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Website ABC Wear</a:t>
            </a:r>
            <a:endParaRPr b="0" i="0" sz="1200" u="none" cap="none" strike="noStrike">
              <a:solidFill>
                <a:schemeClr val="dk1"/>
              </a:solidFill>
              <a:latin typeface="Calibri"/>
              <a:ea typeface="Calibri"/>
              <a:cs typeface="Calibri"/>
              <a:sym typeface="Calibri"/>
            </a:endParaRPr>
          </a:p>
        </p:txBody>
      </p:sp>
      <p:sp>
        <p:nvSpPr>
          <p:cNvPr id="215" name="Google Shape;215;p8"/>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9"/>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2. Tiến độ</a:t>
            </a:r>
            <a:endParaRPr b="0" i="0" sz="1100" u="none" cap="none" strike="noStrike">
              <a:solidFill>
                <a:schemeClr val="dk1"/>
              </a:solidFill>
              <a:latin typeface="Calibri"/>
              <a:ea typeface="Calibri"/>
              <a:cs typeface="Calibri"/>
              <a:sym typeface="Calibri"/>
            </a:endParaRPr>
          </a:p>
        </p:txBody>
      </p:sp>
      <p:sp>
        <p:nvSpPr>
          <p:cNvPr id="222" name="Google Shape;222;p9"/>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Kế hoạch theo sprint</a:t>
            </a:r>
            <a:endParaRPr sz="2800"/>
          </a:p>
        </p:txBody>
      </p:sp>
      <p:sp>
        <p:nvSpPr>
          <p:cNvPr id="223" name="Google Shape;223;p9"/>
          <p:cNvSpPr txBox="1"/>
          <p:nvPr/>
        </p:nvSpPr>
        <p:spPr>
          <a:xfrm>
            <a:off x="548640" y="1600200"/>
            <a:ext cx="79552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0" lang="en-US" sz="1300" u="none" cap="none" strike="noStrike">
                <a:solidFill>
                  <a:schemeClr val="accent4"/>
                </a:solidFill>
                <a:latin typeface="Calibri"/>
                <a:ea typeface="Calibri"/>
                <a:cs typeface="Calibri"/>
                <a:sym typeface="Calibri"/>
              </a:rPr>
              <a:t>18/3-01/7/2027, 73 ngày làm việc. S3 gồm 3 tuần, các sprint khác 2 tuần.</a:t>
            </a:r>
            <a:endParaRPr b="0" i="0" sz="1300" u="none" cap="none" strike="noStrike">
              <a:solidFill>
                <a:schemeClr val="dk1"/>
              </a:solidFill>
              <a:latin typeface="Calibri"/>
              <a:ea typeface="Calibri"/>
              <a:cs typeface="Calibri"/>
              <a:sym typeface="Calibri"/>
            </a:endParaRPr>
          </a:p>
        </p:txBody>
      </p:sp>
      <p:graphicFrame>
        <p:nvGraphicFramePr>
          <p:cNvPr id="224" name="Google Shape;224;p9"/>
          <p:cNvGraphicFramePr/>
          <p:nvPr/>
        </p:nvGraphicFramePr>
        <p:xfrm>
          <a:off x="548640" y="2011680"/>
          <a:ext cx="3000000" cy="3000000"/>
        </p:xfrm>
        <a:graphic>
          <a:graphicData uri="http://schemas.openxmlformats.org/drawingml/2006/table">
            <a:tbl>
              <a:tblPr>
                <a:noFill/>
                <a:tableStyleId>{333A356F-784D-4884-A680-775E4A61AB1C}</a:tableStyleId>
              </a:tblPr>
              <a:tblGrid>
                <a:gridCol w="731525"/>
                <a:gridCol w="1325875"/>
                <a:gridCol w="685800"/>
                <a:gridCol w="5212075"/>
              </a:tblGrid>
              <a:tr h="3840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Sprint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Thời gian 2027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Sản phẩm cuối sprint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18/3-31/3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Khung ứng dụng, quy trình build, CSDL phiên bản đầu và prototype menu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01/4-14/4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SRS phiên bản đầu, kiến trúc và dữ liệu mẫu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15/4-06/5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117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Baseline SRS, giao diện ưu tiên và API giả lập</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07/5-20/5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110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Phiên bản đầu các chức năng khách hàng, sản phẩm và tạo đơn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21/5-03/6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110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Chức năng đặt hàng, email xác nhận và đồng bộ dữ liệu thử</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04/6-17/6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110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Hoàn tất phân hệ, tích hợp và môi trường UAT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18/6-01/7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110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UAT, chuyển giao và cut over</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7 sprint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657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25" name="Google Shape;225;p9"/>
          <p:cNvSpPr txBox="1"/>
          <p:nvPr/>
        </p:nvSpPr>
        <p:spPr>
          <a:xfrm>
            <a:off x="548640" y="5623560"/>
            <a:ext cx="79552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Calibri"/>
                <a:ea typeface="Calibri"/>
                <a:cs typeface="Calibri"/>
                <a:sym typeface="Calibri"/>
              </a:rPr>
              <a:t>Khối lượng của tám nhóm WBS được phân bổ vào từng sprint.</a:t>
            </a:r>
            <a:endParaRPr b="0" i="0" sz="1300" u="none" cap="none" strike="noStrike">
              <a:solidFill>
                <a:schemeClr val="dk1"/>
              </a:solidFill>
              <a:latin typeface="Calibri"/>
              <a:ea typeface="Calibri"/>
              <a:cs typeface="Calibri"/>
              <a:sym typeface="Calibri"/>
            </a:endParaRPr>
          </a:p>
        </p:txBody>
      </p:sp>
      <p:sp>
        <p:nvSpPr>
          <p:cNvPr id="226" name="Google Shape;226;p9"/>
          <p:cNvSpPr txBox="1"/>
          <p:nvPr/>
        </p:nvSpPr>
        <p:spPr>
          <a:xfrm>
            <a:off x="8915400" y="1600200"/>
            <a:ext cx="2743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Mốc chính</a:t>
            </a:r>
            <a:endParaRPr b="0" i="0" sz="1600" u="none" cap="none" strike="noStrike">
              <a:solidFill>
                <a:schemeClr val="dk1"/>
              </a:solidFill>
              <a:latin typeface="Calibri"/>
              <a:ea typeface="Calibri"/>
              <a:cs typeface="Calibri"/>
              <a:sym typeface="Calibri"/>
            </a:endParaRPr>
          </a:p>
        </p:txBody>
      </p:sp>
      <p:cxnSp>
        <p:nvCxnSpPr>
          <p:cNvPr id="227" name="Google Shape;227;p9"/>
          <p:cNvCxnSpPr/>
          <p:nvPr/>
        </p:nvCxnSpPr>
        <p:spPr>
          <a:xfrm>
            <a:off x="9043416" y="2240280"/>
            <a:ext cx="0" cy="3291840"/>
          </a:xfrm>
          <a:prstGeom prst="straightConnector1">
            <a:avLst/>
          </a:prstGeom>
          <a:noFill/>
          <a:ln cap="flat" cmpd="sng" w="25400">
            <a:solidFill>
              <a:schemeClr val="accent6"/>
            </a:solidFill>
            <a:prstDash val="solid"/>
            <a:round/>
            <a:headEnd len="sm" w="sm" type="none"/>
            <a:tailEnd len="sm" w="sm" type="none"/>
          </a:ln>
        </p:spPr>
      </p:cxnSp>
      <p:sp>
        <p:nvSpPr>
          <p:cNvPr id="228" name="Google Shape;228;p9"/>
          <p:cNvSpPr/>
          <p:nvPr/>
        </p:nvSpPr>
        <p:spPr>
          <a:xfrm>
            <a:off x="8915400" y="2103120"/>
            <a:ext cx="256032" cy="256032"/>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9"/>
          <p:cNvSpPr txBox="1"/>
          <p:nvPr/>
        </p:nvSpPr>
        <p:spPr>
          <a:xfrm>
            <a:off x="9326880" y="205740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06/5</a:t>
            </a:r>
            <a:endParaRPr b="0" i="0" sz="1600" u="none" cap="none" strike="noStrike">
              <a:solidFill>
                <a:schemeClr val="dk1"/>
              </a:solidFill>
              <a:latin typeface="Calibri"/>
              <a:ea typeface="Calibri"/>
              <a:cs typeface="Calibri"/>
              <a:sym typeface="Calibri"/>
            </a:endParaRPr>
          </a:p>
        </p:txBody>
      </p:sp>
      <p:sp>
        <p:nvSpPr>
          <p:cNvPr id="230" name="Google Shape;230;p9"/>
          <p:cNvSpPr txBox="1"/>
          <p:nvPr/>
        </p:nvSpPr>
        <p:spPr>
          <a:xfrm>
            <a:off x="9326880" y="237744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Ký baseline SRS</a:t>
            </a:r>
            <a:endParaRPr b="0" i="0" sz="1250" u="none" cap="none" strike="noStrike">
              <a:solidFill>
                <a:schemeClr val="dk1"/>
              </a:solidFill>
              <a:latin typeface="Calibri"/>
              <a:ea typeface="Calibri"/>
              <a:cs typeface="Calibri"/>
              <a:sym typeface="Calibri"/>
            </a:endParaRPr>
          </a:p>
        </p:txBody>
      </p:sp>
      <p:sp>
        <p:nvSpPr>
          <p:cNvPr id="231" name="Google Shape;231;p9"/>
          <p:cNvSpPr/>
          <p:nvPr/>
        </p:nvSpPr>
        <p:spPr>
          <a:xfrm>
            <a:off x="8915400" y="3200400"/>
            <a:ext cx="256032" cy="256032"/>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9"/>
          <p:cNvSpPr txBox="1"/>
          <p:nvPr/>
        </p:nvSpPr>
        <p:spPr>
          <a:xfrm>
            <a:off x="9326880" y="315468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17/6</a:t>
            </a:r>
            <a:endParaRPr b="0" i="0" sz="1600" u="none" cap="none" strike="noStrike">
              <a:solidFill>
                <a:schemeClr val="dk1"/>
              </a:solidFill>
              <a:latin typeface="Calibri"/>
              <a:ea typeface="Calibri"/>
              <a:cs typeface="Calibri"/>
              <a:sym typeface="Calibri"/>
            </a:endParaRPr>
          </a:p>
        </p:txBody>
      </p:sp>
      <p:sp>
        <p:nvSpPr>
          <p:cNvPr id="233" name="Google Shape;233;p9"/>
          <p:cNvSpPr txBox="1"/>
          <p:nvPr/>
        </p:nvSpPr>
        <p:spPr>
          <a:xfrm>
            <a:off x="9326880" y="347472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Hoàn tất tích hợp và môi trường UAT</a:t>
            </a:r>
            <a:endParaRPr b="0" i="0" sz="1250" u="none" cap="none" strike="noStrike">
              <a:solidFill>
                <a:schemeClr val="dk1"/>
              </a:solidFill>
              <a:latin typeface="Calibri"/>
              <a:ea typeface="Calibri"/>
              <a:cs typeface="Calibri"/>
              <a:sym typeface="Calibri"/>
            </a:endParaRPr>
          </a:p>
        </p:txBody>
      </p:sp>
      <p:sp>
        <p:nvSpPr>
          <p:cNvPr id="234" name="Google Shape;234;p9"/>
          <p:cNvSpPr/>
          <p:nvPr/>
        </p:nvSpPr>
        <p:spPr>
          <a:xfrm>
            <a:off x="8915400" y="4297680"/>
            <a:ext cx="256032" cy="256032"/>
          </a:xfrm>
          <a:prstGeom prst="ellipse">
            <a:avLst/>
          </a:prstGeom>
          <a:solidFill>
            <a:schemeClr val="dk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9"/>
          <p:cNvSpPr txBox="1"/>
          <p:nvPr/>
        </p:nvSpPr>
        <p:spPr>
          <a:xfrm>
            <a:off x="9326880" y="425196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29/6</a:t>
            </a:r>
            <a:endParaRPr b="0" i="0" sz="1600" u="none" cap="none" strike="noStrike">
              <a:solidFill>
                <a:schemeClr val="dk1"/>
              </a:solidFill>
              <a:latin typeface="Calibri"/>
              <a:ea typeface="Calibri"/>
              <a:cs typeface="Calibri"/>
              <a:sym typeface="Calibri"/>
            </a:endParaRPr>
          </a:p>
        </p:txBody>
      </p:sp>
      <p:sp>
        <p:nvSpPr>
          <p:cNvPr id="236" name="Google Shape;236;p9"/>
          <p:cNvSpPr txBox="1"/>
          <p:nvPr/>
        </p:nvSpPr>
        <p:spPr>
          <a:xfrm>
            <a:off x="9326880" y="457200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Hoàn thành UAT</a:t>
            </a:r>
            <a:endParaRPr b="0" i="0" sz="1250" u="none" cap="none" strike="noStrike">
              <a:solidFill>
                <a:schemeClr val="dk1"/>
              </a:solidFill>
              <a:latin typeface="Calibri"/>
              <a:ea typeface="Calibri"/>
              <a:cs typeface="Calibri"/>
              <a:sym typeface="Calibri"/>
            </a:endParaRPr>
          </a:p>
        </p:txBody>
      </p:sp>
      <p:sp>
        <p:nvSpPr>
          <p:cNvPr id="237" name="Google Shape;237;p9"/>
          <p:cNvSpPr/>
          <p:nvPr/>
        </p:nvSpPr>
        <p:spPr>
          <a:xfrm>
            <a:off x="8915400" y="5394960"/>
            <a:ext cx="256032" cy="256032"/>
          </a:xfrm>
          <a:prstGeom prst="ellipse">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9"/>
          <p:cNvSpPr txBox="1"/>
          <p:nvPr/>
        </p:nvSpPr>
        <p:spPr>
          <a:xfrm>
            <a:off x="9326880" y="5349240"/>
            <a:ext cx="22860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01/7</a:t>
            </a:r>
            <a:endParaRPr b="0" i="0" sz="1600" u="none" cap="none" strike="noStrike">
              <a:solidFill>
                <a:schemeClr val="dk1"/>
              </a:solidFill>
              <a:latin typeface="Calibri"/>
              <a:ea typeface="Calibri"/>
              <a:cs typeface="Calibri"/>
              <a:sym typeface="Calibri"/>
            </a:endParaRPr>
          </a:p>
        </p:txBody>
      </p:sp>
      <p:sp>
        <p:nvSpPr>
          <p:cNvPr id="239" name="Google Shape;239;p9"/>
          <p:cNvSpPr txBox="1"/>
          <p:nvPr/>
        </p:nvSpPr>
        <p:spPr>
          <a:xfrm>
            <a:off x="9326880" y="5669280"/>
            <a:ext cx="23317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Calibri"/>
                <a:ea typeface="Calibri"/>
                <a:cs typeface="Calibri"/>
                <a:sym typeface="Calibri"/>
              </a:rPr>
              <a:t>Cut over</a:t>
            </a:r>
            <a:endParaRPr b="0" i="0" sz="1250" u="none" cap="none" strike="noStrike">
              <a:solidFill>
                <a:schemeClr val="dk1"/>
              </a:solidFill>
              <a:latin typeface="Calibri"/>
              <a:ea typeface="Calibri"/>
              <a:cs typeface="Calibri"/>
              <a:sym typeface="Calibri"/>
            </a:endParaRPr>
          </a:p>
        </p:txBody>
      </p:sp>
      <p:sp>
        <p:nvSpPr>
          <p:cNvPr id="240" name="Google Shape;240;p9"/>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0"/>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3. Nhân sự</a:t>
            </a:r>
            <a:endParaRPr b="0" i="0" sz="1100" u="none" cap="none" strike="noStrike">
              <a:solidFill>
                <a:schemeClr val="dk1"/>
              </a:solidFill>
              <a:latin typeface="Arial"/>
              <a:ea typeface="Arial"/>
              <a:cs typeface="Arial"/>
              <a:sym typeface="Arial"/>
            </a:endParaRPr>
          </a:p>
        </p:txBody>
      </p:sp>
      <p:sp>
        <p:nvSpPr>
          <p:cNvPr id="247" name="Google Shape;247;p10"/>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Cơ cấu nhóm dự án</a:t>
            </a:r>
            <a:endParaRPr sz="2800">
              <a:latin typeface="Arial"/>
              <a:ea typeface="Arial"/>
              <a:cs typeface="Arial"/>
              <a:sym typeface="Arial"/>
            </a:endParaRPr>
          </a:p>
        </p:txBody>
      </p:sp>
      <p:graphicFrame>
        <p:nvGraphicFramePr>
          <p:cNvPr id="248" name="Google Shape;248;p10"/>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2148850"/>
                <a:gridCol w="2011675"/>
                <a:gridCol w="3154675"/>
                <a:gridCol w="822950"/>
              </a:tblGrid>
              <a:tr h="43890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Thành viên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Vai trò trong dự 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Phạm vi phụ trách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Trần Bá 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PM kiêm kiến trúc sư</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Quản lý, kiến trúc và nghiệm thu tích hợp</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Phạm Tuấn Anh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Selling DB, khách hàng, bảo mật và tối ưu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Vũ Đức Minh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Frontend kiêm UX/UI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Giao diện, prototype và đào tạo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Ninh Đức 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kiêm 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Sản phẩm, kết nối, môi trường và cut over</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Nguyễn Thị Phương Liên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 kiêm kiểm thử</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Yêu cầu, quy trình, kiểm thử và UAT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3890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 nhóm chính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5 người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355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49" name="Google Shape;249;p10"/>
          <p:cNvSpPr txBox="1"/>
          <p:nvPr/>
        </p:nvSpPr>
        <p:spPr>
          <a:xfrm>
            <a:off x="548640" y="4983480"/>
            <a:ext cx="8138160" cy="12344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Mỗi thành viên có vai trò chính, kiêm nhiệm và mã WBS phụ trách.</a:t>
            </a:r>
            <a:endParaRPr b="0" i="0" sz="14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MD được phân công theo người và sprint.</a:t>
            </a:r>
            <a:endParaRPr b="0" i="0" sz="1400" u="none" cap="none" strike="noStrike">
              <a:solidFill>
                <a:schemeClr val="dk1"/>
              </a:solidFill>
              <a:latin typeface="Arial"/>
              <a:ea typeface="Arial"/>
              <a:cs typeface="Arial"/>
              <a:sym typeface="Arial"/>
            </a:endParaRPr>
          </a:p>
          <a:p>
            <a:pPr indent="-177800" lvl="0" marL="177800" marR="0" rtl="0" algn="l">
              <a:lnSpc>
                <a:spcPct val="100000"/>
              </a:lnSpc>
              <a:spcBef>
                <a:spcPts val="60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Vai trò kiêm nhiệm dùng chung quỹ thời gian của một người.</a:t>
            </a:r>
            <a:endParaRPr b="0" i="0" sz="1400" u="none" cap="none" strike="noStrike">
              <a:solidFill>
                <a:schemeClr val="dk1"/>
              </a:solidFill>
              <a:latin typeface="Arial"/>
              <a:ea typeface="Arial"/>
              <a:cs typeface="Arial"/>
              <a:sym typeface="Arial"/>
            </a:endParaRPr>
          </a:p>
        </p:txBody>
      </p:sp>
      <p:sp>
        <p:nvSpPr>
          <p:cNvPr id="250" name="Google Shape;250;p10"/>
          <p:cNvSpPr/>
          <p:nvPr/>
        </p:nvSpPr>
        <p:spPr>
          <a:xfrm>
            <a:off x="9098280" y="1645920"/>
            <a:ext cx="256032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0"/>
          <p:cNvSpPr txBox="1"/>
          <p:nvPr/>
        </p:nvSpPr>
        <p:spPr>
          <a:xfrm>
            <a:off x="9281160" y="1783080"/>
            <a:ext cx="2240280" cy="518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3400"/>
              <a:buFont typeface="Cambria"/>
              <a:buNone/>
            </a:pPr>
            <a:r>
              <a:rPr b="1" i="0" lang="en-US" sz="3400" u="none" cap="none" strike="noStrike">
                <a:solidFill>
                  <a:schemeClr val="dk2"/>
                </a:solidFill>
                <a:latin typeface="Arial"/>
                <a:ea typeface="Arial"/>
                <a:cs typeface="Arial"/>
                <a:sym typeface="Arial"/>
              </a:rPr>
              <a:t>365</a:t>
            </a:r>
            <a:endParaRPr b="0" i="0" sz="3400" u="none" cap="none" strike="noStrike">
              <a:solidFill>
                <a:schemeClr val="dk1"/>
              </a:solidFill>
              <a:latin typeface="Arial"/>
              <a:ea typeface="Arial"/>
              <a:cs typeface="Arial"/>
              <a:sym typeface="Arial"/>
            </a:endParaRPr>
          </a:p>
        </p:txBody>
      </p:sp>
      <p:sp>
        <p:nvSpPr>
          <p:cNvPr id="252" name="Google Shape;252;p10"/>
          <p:cNvSpPr txBox="1"/>
          <p:nvPr/>
        </p:nvSpPr>
        <p:spPr>
          <a:xfrm>
            <a:off x="9281160" y="2346960"/>
            <a:ext cx="22402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MD quỹ tối đa của 5 người</a:t>
            </a:r>
            <a:endParaRPr b="0" i="0" sz="1200" u="none" cap="none" strike="noStrike">
              <a:solidFill>
                <a:schemeClr val="dk1"/>
              </a:solidFill>
              <a:latin typeface="Arial"/>
              <a:ea typeface="Arial"/>
              <a:cs typeface="Arial"/>
              <a:sym typeface="Arial"/>
            </a:endParaRPr>
          </a:p>
        </p:txBody>
      </p:sp>
      <p:sp>
        <p:nvSpPr>
          <p:cNvPr id="253" name="Google Shape;253;p10"/>
          <p:cNvSpPr/>
          <p:nvPr/>
        </p:nvSpPr>
        <p:spPr>
          <a:xfrm>
            <a:off x="9098280" y="3108960"/>
            <a:ext cx="256032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0"/>
          <p:cNvSpPr txBox="1"/>
          <p:nvPr/>
        </p:nvSpPr>
        <p:spPr>
          <a:xfrm>
            <a:off x="9281160" y="3246120"/>
            <a:ext cx="2240280" cy="518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2"/>
              </a:buClr>
              <a:buSzPts val="3400"/>
              <a:buFont typeface="Cambria"/>
              <a:buNone/>
            </a:pPr>
            <a:r>
              <a:rPr b="1" i="0" lang="en-US" sz="3400" u="none" cap="none" strike="noStrike">
                <a:solidFill>
                  <a:schemeClr val="accent2"/>
                </a:solidFill>
                <a:latin typeface="Arial"/>
                <a:ea typeface="Arial"/>
                <a:cs typeface="Arial"/>
                <a:sym typeface="Arial"/>
              </a:rPr>
              <a:t>355</a:t>
            </a:r>
            <a:endParaRPr b="0" i="0" sz="3400" u="none" cap="none" strike="noStrike">
              <a:solidFill>
                <a:schemeClr val="dk1"/>
              </a:solidFill>
              <a:latin typeface="Arial"/>
              <a:ea typeface="Arial"/>
              <a:cs typeface="Arial"/>
              <a:sym typeface="Arial"/>
            </a:endParaRPr>
          </a:p>
        </p:txBody>
      </p:sp>
      <p:sp>
        <p:nvSpPr>
          <p:cNvPr id="255" name="Google Shape;255;p10"/>
          <p:cNvSpPr txBox="1"/>
          <p:nvPr/>
        </p:nvSpPr>
        <p:spPr>
          <a:xfrm>
            <a:off x="9281160" y="3810000"/>
            <a:ext cx="22402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MD giao cho nhóm chính</a:t>
            </a:r>
            <a:endParaRPr b="0" i="0" sz="1200" u="none" cap="none" strike="noStrike">
              <a:solidFill>
                <a:schemeClr val="dk1"/>
              </a:solidFill>
              <a:latin typeface="Arial"/>
              <a:ea typeface="Arial"/>
              <a:cs typeface="Arial"/>
              <a:sym typeface="Arial"/>
            </a:endParaRPr>
          </a:p>
        </p:txBody>
      </p:sp>
      <p:sp>
        <p:nvSpPr>
          <p:cNvPr id="256" name="Google Shape;256;p10"/>
          <p:cNvSpPr/>
          <p:nvPr/>
        </p:nvSpPr>
        <p:spPr>
          <a:xfrm>
            <a:off x="9098280" y="4572000"/>
            <a:ext cx="256032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0"/>
          <p:cNvSpPr txBox="1"/>
          <p:nvPr/>
        </p:nvSpPr>
        <p:spPr>
          <a:xfrm>
            <a:off x="9281160" y="4709160"/>
            <a:ext cx="2240280" cy="518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3400"/>
              <a:buFont typeface="Cambria"/>
              <a:buNone/>
            </a:pPr>
            <a:r>
              <a:rPr b="1" i="0" lang="en-US" sz="3400" u="none" cap="none" strike="noStrike">
                <a:solidFill>
                  <a:schemeClr val="accent1"/>
                </a:solidFill>
                <a:latin typeface="Arial"/>
                <a:ea typeface="Arial"/>
                <a:cs typeface="Arial"/>
                <a:sym typeface="Arial"/>
              </a:rPr>
              <a:t>657</a:t>
            </a:r>
            <a:endParaRPr b="0" i="0" sz="3400" u="none" cap="none" strike="noStrike">
              <a:solidFill>
                <a:schemeClr val="dk1"/>
              </a:solidFill>
              <a:latin typeface="Arial"/>
              <a:ea typeface="Arial"/>
              <a:cs typeface="Arial"/>
              <a:sym typeface="Arial"/>
            </a:endParaRPr>
          </a:p>
        </p:txBody>
      </p:sp>
      <p:sp>
        <p:nvSpPr>
          <p:cNvPr id="258" name="Google Shape;258;p10"/>
          <p:cNvSpPr txBox="1"/>
          <p:nvPr/>
        </p:nvSpPr>
        <p:spPr>
          <a:xfrm>
            <a:off x="9281160" y="5273040"/>
            <a:ext cx="22402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0" lang="en-US" sz="1200" u="none" cap="none" strike="noStrike">
                <a:solidFill>
                  <a:schemeClr val="accent4"/>
                </a:solidFill>
                <a:latin typeface="Arial"/>
                <a:ea typeface="Arial"/>
                <a:cs typeface="Arial"/>
                <a:sym typeface="Arial"/>
              </a:rPr>
              <a:t>MD cần thực hiện</a:t>
            </a:r>
            <a:endParaRPr b="0" i="0" sz="1200" u="none" cap="none" strike="noStrike">
              <a:solidFill>
                <a:schemeClr val="dk1"/>
              </a:solidFill>
              <a:latin typeface="Arial"/>
              <a:ea typeface="Arial"/>
              <a:cs typeface="Arial"/>
              <a:sym typeface="Arial"/>
            </a:endParaRPr>
          </a:p>
        </p:txBody>
      </p:sp>
      <p:sp>
        <p:nvSpPr>
          <p:cNvPr id="259" name="Google Shape;259;p10"/>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3. Nhân sự</a:t>
            </a:r>
            <a:endParaRPr b="0" i="0" sz="1100" u="none" cap="none" strike="noStrike">
              <a:solidFill>
                <a:schemeClr val="dk1"/>
              </a:solidFill>
              <a:latin typeface="Calibri"/>
              <a:ea typeface="Calibri"/>
              <a:cs typeface="Calibri"/>
              <a:sym typeface="Calibri"/>
            </a:endParaRPr>
          </a:p>
        </p:txBody>
      </p:sp>
      <p:sp>
        <p:nvSpPr>
          <p:cNvPr id="266" name="Google Shape;266;p11"/>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Nhân sự bổ sung và cân đối năng lực</a:t>
            </a:r>
            <a:endParaRPr sz="2800"/>
          </a:p>
        </p:txBody>
      </p:sp>
      <p:graphicFrame>
        <p:nvGraphicFramePr>
          <p:cNvPr id="267" name="Google Shape;267;p11"/>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594350"/>
                <a:gridCol w="3611875"/>
                <a:gridCol w="1005850"/>
                <a:gridCol w="822950"/>
              </a:tblGrid>
              <a:tr h="3840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Mã</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Vai trò dự kiến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Tham gia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 giao</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Kiến trúc sư kiêm BA, hỗ trợ backend và bảo mật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S1-S7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Frontend, backend và sửa lỗi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API và hiệu năng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Backend kiêm 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S4-S7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Q1</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kỹ thuật, tự động và dữ liệu giả lập</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S3-S7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chức năng, hiệu năng và an 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S4-S7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8405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 vị trí nhân sự nội bộ công ty</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302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68" name="Google Shape;268;p11"/>
          <p:cNvSpPr txBox="1"/>
          <p:nvPr/>
        </p:nvSpPr>
        <p:spPr>
          <a:xfrm>
            <a:off x="548640" y="4937760"/>
            <a:ext cx="6035040" cy="132588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Quỹ huy động 677 MD, khối lượng giao 657 MD.</a:t>
            </a:r>
            <a:endParaRPr b="0" i="0" sz="13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Dư 20 MD ở S1, các sprint S2-S7 dùng hết quỹ.</a:t>
            </a:r>
            <a:endParaRPr b="0" i="0" sz="135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50"/>
              <a:buFont typeface="Calibri"/>
              <a:buChar char="•"/>
            </a:pPr>
            <a:r>
              <a:rPr b="0" i="0" lang="en-US" sz="1350" u="none" cap="none" strike="noStrike">
                <a:solidFill>
                  <a:schemeClr val="dk1"/>
                </a:solidFill>
                <a:latin typeface="Calibri"/>
                <a:ea typeface="Calibri"/>
                <a:cs typeface="Calibri"/>
                <a:sym typeface="Calibri"/>
              </a:rPr>
              <a:t>MD giao mỗi người không vượt số ngày của sprint.</a:t>
            </a:r>
            <a:endParaRPr b="0" i="0" sz="1350" u="none" cap="none" strike="noStrike">
              <a:solidFill>
                <a:schemeClr val="dk1"/>
              </a:solidFill>
              <a:latin typeface="Calibri"/>
              <a:ea typeface="Calibri"/>
              <a:cs typeface="Calibri"/>
              <a:sym typeface="Calibri"/>
            </a:endParaRPr>
          </a:p>
        </p:txBody>
      </p:sp>
      <p:graphicFrame>
        <p:nvGraphicFramePr>
          <p:cNvPr id="269" name="Google Shape;269;p11"/>
          <p:cNvGraphicFramePr/>
          <p:nvPr/>
        </p:nvGraphicFramePr>
        <p:xfrm>
          <a:off x="6903720" y="1600200"/>
          <a:ext cx="4754880" cy="3840480"/>
        </p:xfrm>
        <a:graphic>
          <a:graphicData uri="http://schemas.openxmlformats.org/drawingml/2006/chart">
            <c:chart r:id="rId3"/>
          </a:graphicData>
        </a:graphic>
      </p:graphicFrame>
      <p:sp>
        <p:nvSpPr>
          <p:cNvPr id="270" name="Google Shape;270;p11"/>
          <p:cNvSpPr txBox="1"/>
          <p:nvPr/>
        </p:nvSpPr>
        <p:spPr>
          <a:xfrm>
            <a:off x="6903720" y="5577840"/>
            <a:ext cx="475488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1" lang="en-US" sz="1300" u="none" cap="none" strike="noStrike">
                <a:solidFill>
                  <a:schemeClr val="accent4"/>
                </a:solidFill>
                <a:latin typeface="Calibri"/>
                <a:ea typeface="Calibri"/>
                <a:cs typeface="Calibri"/>
                <a:sym typeface="Calibri"/>
              </a:rPr>
              <a:t>Quy mô: 6 người ở S1-S2, 9 người ở S3, 11 người ở S4-S7.</a:t>
            </a:r>
            <a:endParaRPr b="0" i="0" sz="1300" u="none" cap="none" strike="noStrike">
              <a:solidFill>
                <a:schemeClr val="dk1"/>
              </a:solidFill>
              <a:latin typeface="Calibri"/>
              <a:ea typeface="Calibri"/>
              <a:cs typeface="Calibri"/>
              <a:sym typeface="Calibri"/>
            </a:endParaRPr>
          </a:p>
        </p:txBody>
      </p:sp>
      <p:sp>
        <p:nvSpPr>
          <p:cNvPr id="271" name="Google Shape;271;p11"/>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2"/>
          <p:cNvSpPr/>
          <p:nvPr/>
        </p:nvSpPr>
        <p:spPr>
          <a:xfrm>
            <a:off x="548640" y="329184"/>
            <a:ext cx="146669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4. Ước lượng</a:t>
            </a:r>
            <a:endParaRPr b="0" i="0" sz="1100" u="none" cap="none" strike="noStrike">
              <a:solidFill>
                <a:schemeClr val="dk1"/>
              </a:solidFill>
              <a:latin typeface="Arial"/>
              <a:ea typeface="Arial"/>
              <a:cs typeface="Arial"/>
              <a:sym typeface="Arial"/>
            </a:endParaRPr>
          </a:p>
        </p:txBody>
      </p:sp>
      <p:sp>
        <p:nvSpPr>
          <p:cNvPr id="278" name="Google Shape;278;p12"/>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Ước lượng nỗ lực theo loại công việc</a:t>
            </a:r>
            <a:endParaRPr sz="2800">
              <a:latin typeface="Arial"/>
              <a:ea typeface="Arial"/>
              <a:cs typeface="Arial"/>
              <a:sym typeface="Arial"/>
            </a:endParaRPr>
          </a:p>
        </p:txBody>
      </p:sp>
      <p:sp>
        <p:nvSpPr>
          <p:cNvPr id="279" name="Google Shape;279;p12"/>
          <p:cNvSpPr/>
          <p:nvPr/>
        </p:nvSpPr>
        <p:spPr>
          <a:xfrm>
            <a:off x="548640" y="1572768"/>
            <a:ext cx="3566160" cy="502920"/>
          </a:xfrm>
          <a:prstGeom prst="roundRect">
            <a:avLst>
              <a:gd fmla="val 14545" name="adj"/>
            </a:avLst>
          </a:prstGeom>
          <a:solidFill>
            <a:schemeClr val="lt2"/>
          </a:solidFill>
          <a:ln cap="flat" cmpd="sng" w="9525">
            <a:solidFill>
              <a:schemeClr val="lt2"/>
            </a:solidFill>
            <a:prstDash val="solid"/>
            <a:round/>
            <a:headEnd len="sm" w="sm" type="none"/>
            <a:tailEnd len="sm" w="sm" type="none"/>
          </a:ln>
        </p:spPr>
        <p:txBody>
          <a:bodyPr anchorCtr="0" anchor="ctr" bIns="625" lIns="625" spcFirstLastPara="1" rIns="625" wrap="square" tIns="625">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Arial"/>
                <a:ea typeface="Arial"/>
                <a:cs typeface="Arial"/>
                <a:sym typeface="Arial"/>
              </a:rPr>
              <a:t>106 chức năng và 25 đầu việc phi chức năng</a:t>
            </a:r>
            <a:endParaRPr b="0" i="0" sz="1300" u="none" cap="none" strike="noStrike">
              <a:solidFill>
                <a:schemeClr val="dk1"/>
              </a:solidFill>
              <a:latin typeface="Arial"/>
              <a:ea typeface="Arial"/>
              <a:cs typeface="Arial"/>
              <a:sym typeface="Arial"/>
            </a:endParaRPr>
          </a:p>
        </p:txBody>
      </p:sp>
      <p:sp>
        <p:nvSpPr>
          <p:cNvPr id="280" name="Google Shape;280;p12"/>
          <p:cNvSpPr/>
          <p:nvPr/>
        </p:nvSpPr>
        <p:spPr>
          <a:xfrm>
            <a:off x="4297680" y="1572768"/>
            <a:ext cx="3566160" cy="502920"/>
          </a:xfrm>
          <a:prstGeom prst="roundRect">
            <a:avLst>
              <a:gd fmla="val 14545" name="adj"/>
            </a:avLst>
          </a:prstGeom>
          <a:solidFill>
            <a:schemeClr val="lt2"/>
          </a:solidFill>
          <a:ln cap="flat" cmpd="sng" w="9525">
            <a:solidFill>
              <a:schemeClr val="lt2"/>
            </a:solidFill>
            <a:prstDash val="solid"/>
            <a:round/>
            <a:headEnd len="sm" w="sm" type="none"/>
            <a:tailEnd len="sm" w="sm" type="none"/>
          </a:ln>
        </p:spPr>
        <p:txBody>
          <a:bodyPr anchorCtr="0" anchor="ctr" bIns="625" lIns="625" spcFirstLastPara="1" rIns="625" wrap="square" tIns="625">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Arial"/>
                <a:ea typeface="Arial"/>
                <a:cs typeface="Arial"/>
                <a:sym typeface="Arial"/>
              </a:rPr>
              <a:t>Tổng sau hiệu chỉnh 657 MD (550,27 và 106,73)</a:t>
            </a:r>
            <a:endParaRPr b="0" i="0" sz="1300" u="none" cap="none" strike="noStrike">
              <a:solidFill>
                <a:schemeClr val="dk1"/>
              </a:solidFill>
              <a:latin typeface="Arial"/>
              <a:ea typeface="Arial"/>
              <a:cs typeface="Arial"/>
              <a:sym typeface="Arial"/>
            </a:endParaRPr>
          </a:p>
        </p:txBody>
      </p:sp>
      <p:sp>
        <p:nvSpPr>
          <p:cNvPr id="281" name="Google Shape;281;p12"/>
          <p:cNvSpPr/>
          <p:nvPr/>
        </p:nvSpPr>
        <p:spPr>
          <a:xfrm>
            <a:off x="8046720" y="1572768"/>
            <a:ext cx="3566160" cy="502920"/>
          </a:xfrm>
          <a:prstGeom prst="roundRect">
            <a:avLst>
              <a:gd fmla="val 14545" name="adj"/>
            </a:avLst>
          </a:prstGeom>
          <a:solidFill>
            <a:schemeClr val="lt2"/>
          </a:solidFill>
          <a:ln cap="flat" cmpd="sng" w="9525">
            <a:solidFill>
              <a:schemeClr val="lt2"/>
            </a:solidFill>
            <a:prstDash val="solid"/>
            <a:round/>
            <a:headEnd len="sm" w="sm" type="none"/>
            <a:tailEnd len="sm" w="sm" type="none"/>
          </a:ln>
        </p:spPr>
        <p:txBody>
          <a:bodyPr anchorCtr="0" anchor="ctr" bIns="625" lIns="625" spcFirstLastPara="1" rIns="625" wrap="square" tIns="625">
            <a:noAutofit/>
          </a:bodyPr>
          <a:lstStyle/>
          <a:p>
            <a:pPr indent="0" lvl="0" marL="0" marR="0" rtl="0" algn="ctr">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Arial"/>
                <a:ea typeface="Arial"/>
                <a:cs typeface="Arial"/>
                <a:sym typeface="Arial"/>
              </a:rPr>
              <a:t>5.256 giờ, tương đương 32,85 MM</a:t>
            </a:r>
            <a:endParaRPr b="0" i="0" sz="1300" u="none" cap="none" strike="noStrike">
              <a:solidFill>
                <a:schemeClr val="dk1"/>
              </a:solidFill>
              <a:latin typeface="Arial"/>
              <a:ea typeface="Arial"/>
              <a:cs typeface="Arial"/>
              <a:sym typeface="Arial"/>
            </a:endParaRPr>
          </a:p>
        </p:txBody>
      </p:sp>
      <p:graphicFrame>
        <p:nvGraphicFramePr>
          <p:cNvPr id="282" name="Google Shape;282;p12"/>
          <p:cNvGraphicFramePr/>
          <p:nvPr/>
        </p:nvGraphicFramePr>
        <p:xfrm>
          <a:off x="548640" y="2212848"/>
          <a:ext cx="3000000" cy="3000000"/>
        </p:xfrm>
        <a:graphic>
          <a:graphicData uri="http://schemas.openxmlformats.org/drawingml/2006/table">
            <a:tbl>
              <a:tblPr>
                <a:noFill/>
                <a:tableStyleId>{333A356F-784D-4884-A680-775E4A61AB1C}</a:tableStyleId>
              </a:tblPr>
              <a:tblGrid>
                <a:gridCol w="1554475"/>
                <a:gridCol w="1097275"/>
                <a:gridCol w="2651750"/>
                <a:gridCol w="1737350"/>
                <a:gridCol w="4023350"/>
              </a:tblGrid>
              <a:tr h="3017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Loại công việc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Đơn giá trọn gói, triệu đồng/MM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Chi phí, triệu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Người đảm nhiệm chính</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165,00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129,94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279,36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Liên, K</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Tester/QA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173,09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346,19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Liên, Q1, Q2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Dev</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285,78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42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600,14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Tuấn Anh, Minh, Toàn, D1, D2, D3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8,19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21,29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Toàn, D3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657,00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1.411,98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11 người</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graphicFrame>
        <p:nvGraphicFramePr>
          <p:cNvPr id="283" name="Google Shape;283;p12"/>
          <p:cNvGraphicFramePr/>
          <p:nvPr/>
        </p:nvGraphicFramePr>
        <p:xfrm>
          <a:off x="548640" y="4498848"/>
          <a:ext cx="3000000" cy="3000000"/>
        </p:xfrm>
        <a:graphic>
          <a:graphicData uri="http://schemas.openxmlformats.org/drawingml/2006/table">
            <a:tbl>
              <a:tblPr>
                <a:noFill/>
                <a:tableStyleId>{333A356F-784D-4884-A680-775E4A61AB1C}</a:tableStyleId>
              </a:tblPr>
              <a:tblGrid>
                <a:gridCol w="3200400"/>
                <a:gridCol w="1463050"/>
                <a:gridCol w="4663450"/>
                <a:gridCol w="1737350"/>
              </a:tblGrid>
              <a:tr h="30175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Nhóm công việc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Nhu cầu, 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Người có chức danh tương ứng, 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Chênh lệch, MD</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Quản lý dự án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 60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Phân tích và kiểm thử (BA + QA)</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303,03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Liên 73, K 63, Q1 53, Q2 40: 229</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-74,03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0175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Phát triển (Dev + DevOps)</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293,97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6 người phát triển: 355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+61,03</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bl>
          </a:graphicData>
        </a:graphic>
      </p:graphicFrame>
      <p:sp>
        <p:nvSpPr>
          <p:cNvPr id="284" name="Google Shape;284;p12"/>
          <p:cNvSpPr txBox="1"/>
          <p:nvPr/>
        </p:nvSpPr>
        <p:spPr>
          <a:xfrm>
            <a:off x="548640" y="5852160"/>
            <a:ext cx="11064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Calibri"/>
              <a:buNone/>
            </a:pPr>
            <a:r>
              <a:rPr b="0" i="0" lang="en-US" sz="1250" u="none" cap="none" strike="noStrike">
                <a:solidFill>
                  <a:schemeClr val="dk1"/>
                </a:solidFill>
                <a:latin typeface="Arial"/>
                <a:ea typeface="Arial"/>
                <a:cs typeface="Arial"/>
                <a:sym typeface="Arial"/>
              </a:rPr>
              <a:t>Phần thiếu 74,03 MD do Đạt (13 MD) và nhóm phát triển (61,03 MD) đảm nhận. Dòng dự toán là loại công việc, không phải chức danh. Chi phí mỗi dòng bằng MD chia 20, nhân đơn giá MM.</a:t>
            </a:r>
            <a:endParaRPr b="0" i="0" sz="1250" u="none" cap="none" strike="noStrike">
              <a:solidFill>
                <a:schemeClr val="dk1"/>
              </a:solidFill>
              <a:latin typeface="Arial"/>
              <a:ea typeface="Arial"/>
              <a:cs typeface="Arial"/>
              <a:sym typeface="Arial"/>
            </a:endParaRPr>
          </a:p>
        </p:txBody>
      </p:sp>
      <p:sp>
        <p:nvSpPr>
          <p:cNvPr id="285" name="Google Shape;285;p12"/>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p:nvPr/>
        </p:nvSpPr>
        <p:spPr>
          <a:xfrm>
            <a:off x="548640" y="329184"/>
            <a:ext cx="1298448"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5. Chi phí</a:t>
            </a:r>
            <a:endParaRPr b="0" i="0" sz="1100" u="none" cap="none" strike="noStrike">
              <a:solidFill>
                <a:schemeClr val="dk1"/>
              </a:solidFill>
              <a:latin typeface="Calibri"/>
              <a:ea typeface="Calibri"/>
              <a:cs typeface="Calibri"/>
              <a:sym typeface="Calibri"/>
            </a:endParaRPr>
          </a:p>
        </p:txBody>
      </p:sp>
      <p:sp>
        <p:nvSpPr>
          <p:cNvPr id="292" name="Google Shape;292;p13"/>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Dự toán chi phí và giá chào</a:t>
            </a:r>
            <a:endParaRPr sz="2800"/>
          </a:p>
        </p:txBody>
      </p:sp>
      <p:graphicFrame>
        <p:nvGraphicFramePr>
          <p:cNvPr id="293" name="Google Shape;293;p13"/>
          <p:cNvGraphicFramePr/>
          <p:nvPr/>
        </p:nvGraphicFramePr>
        <p:xfrm>
          <a:off x="548640" y="1645920"/>
          <a:ext cx="3000000" cy="3000000"/>
        </p:xfrm>
        <a:graphic>
          <a:graphicData uri="http://schemas.openxmlformats.org/drawingml/2006/table">
            <a:tbl>
              <a:tblPr>
                <a:noFill/>
                <a:tableStyleId>{333A356F-784D-4884-A680-775E4A61AB1C}</a:tableStyleId>
              </a:tblPr>
              <a:tblGrid>
                <a:gridCol w="4206250"/>
                <a:gridCol w="1280150"/>
              </a:tblGrid>
              <a:tr h="329175">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Khoản mục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Triệu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A - Nhân công theo loại công việc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1.411,98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B - Môi trường, công cụ, bảo hành 12 tháng và dự phòng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150,00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Chi phí đã biết (A + B)</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1.561,98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 - Chi phí chung và lợi nhuận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188,02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29175">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Giá chào trọn gói (A + B + C)</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1.750,00</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94" name="Google Shape;294;p13"/>
          <p:cNvSpPr txBox="1"/>
          <p:nvPr/>
        </p:nvSpPr>
        <p:spPr>
          <a:xfrm>
            <a:off x="548640" y="3794760"/>
            <a:ext cx="548640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Đối chiếu dòng A với chi phí lương theo người</a:t>
            </a:r>
            <a:endParaRPr b="0" i="0" sz="1300" u="none" cap="none" strike="noStrike">
              <a:solidFill>
                <a:schemeClr val="dk1"/>
              </a:solidFill>
              <a:latin typeface="Calibri"/>
              <a:ea typeface="Calibri"/>
              <a:cs typeface="Calibri"/>
              <a:sym typeface="Calibri"/>
            </a:endParaRPr>
          </a:p>
        </p:txBody>
      </p:sp>
      <p:graphicFrame>
        <p:nvGraphicFramePr>
          <p:cNvPr id="295" name="Google Shape;295;p13"/>
          <p:cNvGraphicFramePr/>
          <p:nvPr/>
        </p:nvGraphicFramePr>
        <p:xfrm>
          <a:off x="548640" y="4114800"/>
          <a:ext cx="3000000" cy="3000000"/>
        </p:xfrm>
        <a:graphic>
          <a:graphicData uri="http://schemas.openxmlformats.org/drawingml/2006/table">
            <a:tbl>
              <a:tblPr>
                <a:noFill/>
                <a:tableStyleId>{333A356F-784D-4884-A680-775E4A61AB1C}</a:tableStyleId>
              </a:tblPr>
              <a:tblGrid>
                <a:gridCol w="2194550"/>
                <a:gridCol w="1188725"/>
                <a:gridCol w="2103125"/>
              </a:tblGrid>
              <a:tr h="310900">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Nhóm nhân sự</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MD huy động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r">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Triệu đồng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310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5 thành viên nhóm</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365</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680,26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10900">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6 vị trí bổ sung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312</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lang="en-US" sz="1300" u="none" cap="none" strike="noStrike">
                          <a:solidFill>
                            <a:schemeClr val="dk1"/>
                          </a:solidFill>
                        </a:rPr>
                        <a:t>563,78</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310900">
                <a:tc>
                  <a:txBody>
                    <a:bodyPr/>
                    <a:lstStyle/>
                    <a:p>
                      <a:pPr indent="0" lvl="0" marL="0" marR="0" rtl="0" algn="l">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Tổng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677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chemeClr val="dk1"/>
                        </a:buClr>
                        <a:buSzPts val="1300"/>
                        <a:buFont typeface="Calibri"/>
                        <a:buNone/>
                      </a:pPr>
                      <a:r>
                        <a:rPr b="1" lang="en-US" sz="1300" u="none" cap="none" strike="noStrike">
                          <a:solidFill>
                            <a:schemeClr val="dk1"/>
                          </a:solidFill>
                        </a:rPr>
                        <a:t>1.244,04</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2"/>
                    </a:solidFill>
                  </a:tcPr>
                </a:tc>
              </a:tr>
            </a:tbl>
          </a:graphicData>
        </a:graphic>
      </p:graphicFrame>
      <p:sp>
        <p:nvSpPr>
          <p:cNvPr id="296" name="Google Shape;296;p13"/>
          <p:cNvSpPr txBox="1"/>
          <p:nvPr/>
        </p:nvSpPr>
        <p:spPr>
          <a:xfrm>
            <a:off x="548640" y="5532120"/>
            <a:ext cx="54864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150"/>
              <a:buFont typeface="Calibri"/>
              <a:buNone/>
            </a:pPr>
            <a:r>
              <a:rPr b="0" i="1" lang="en-US" sz="1150" u="none" cap="none" strike="noStrike">
                <a:solidFill>
                  <a:schemeClr val="accent4"/>
                </a:solidFill>
                <a:latin typeface="Calibri"/>
                <a:ea typeface="Calibri"/>
                <a:cs typeface="Calibri"/>
                <a:sym typeface="Calibri"/>
              </a:rPr>
              <a:t>Lương tham chiếu: trung vị ITviec 2025-2026 theo vị trí, hệ số bảo hiểm 1,235, 22 ngày mỗi tháng. Không phải lương thực tế của từng người.</a:t>
            </a:r>
            <a:endParaRPr b="0" i="0" sz="1150" u="none" cap="none" strike="noStrike">
              <a:solidFill>
                <a:schemeClr val="dk1"/>
              </a:solidFill>
              <a:latin typeface="Calibri"/>
              <a:ea typeface="Calibri"/>
              <a:cs typeface="Calibri"/>
              <a:sym typeface="Calibri"/>
            </a:endParaRPr>
          </a:p>
        </p:txBody>
      </p:sp>
      <p:graphicFrame>
        <p:nvGraphicFramePr>
          <p:cNvPr id="297" name="Google Shape;297;p13"/>
          <p:cNvGraphicFramePr/>
          <p:nvPr/>
        </p:nvGraphicFramePr>
        <p:xfrm>
          <a:off x="6309360" y="1600200"/>
          <a:ext cx="5349240" cy="2834640"/>
        </p:xfrm>
        <a:graphic>
          <a:graphicData uri="http://schemas.openxmlformats.org/drawingml/2006/chart">
            <c:chart r:id="rId3"/>
          </a:graphicData>
        </a:graphic>
      </p:graphicFrame>
      <p:sp>
        <p:nvSpPr>
          <p:cNvPr id="298" name="Google Shape;298;p13"/>
          <p:cNvSpPr txBox="1"/>
          <p:nvPr/>
        </p:nvSpPr>
        <p:spPr>
          <a:xfrm>
            <a:off x="6355080" y="4572000"/>
            <a:ext cx="5303520" cy="1691640"/>
          </a:xfrm>
          <a:prstGeom prst="rect">
            <a:avLst/>
          </a:prstGeom>
          <a:noFill/>
          <a:ln>
            <a:noFill/>
          </a:ln>
        </p:spPr>
        <p:txBody>
          <a:bodyPr anchorCtr="0" anchor="t" bIns="0" lIns="0" spcFirstLastPara="1" rIns="0" wrap="square" tIns="0">
            <a:noAutofit/>
          </a:bodyPr>
          <a:lstStyle/>
          <a:p>
            <a:pPr indent="-177800" lvl="0" marL="177800" marR="0" rtl="0" algn="l">
              <a:lnSpc>
                <a:spcPct val="10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Dòng A cao hơn chi phí lương 167,94 triệu đồng (11,9%), đủ chi trả khi năng suất từ 88,1%.</a:t>
            </a:r>
            <a:endParaRPr b="0" i="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Giá chào thấp hơn giá gói thầu 250 triệu đồng (12,5%).</a:t>
            </a:r>
            <a:endParaRPr b="0" i="0" sz="13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Dịch vụ phần mềm không chịu thuế GTGT, khoản C là 188,02 triệu đồng (10,74%).</a:t>
            </a:r>
            <a:endParaRPr b="0" i="0" sz="1300" u="none" cap="none" strike="noStrike">
              <a:solidFill>
                <a:schemeClr val="dk1"/>
              </a:solidFill>
              <a:latin typeface="Calibri"/>
              <a:ea typeface="Calibri"/>
              <a:cs typeface="Calibri"/>
              <a:sym typeface="Calibri"/>
            </a:endParaRPr>
          </a:p>
        </p:txBody>
      </p:sp>
      <p:sp>
        <p:nvSpPr>
          <p:cNvPr id="299" name="Google Shape;299;p13"/>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5"/>
          <p:cNvSpPr/>
          <p:nvPr/>
        </p:nvSpPr>
        <p:spPr>
          <a:xfrm>
            <a:off x="548640" y="329184"/>
            <a:ext cx="2560320"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7. Rủi ro và truyền thông</a:t>
            </a:r>
            <a:endParaRPr b="0" i="0" sz="1100" u="none" cap="none" strike="noStrike">
              <a:solidFill>
                <a:schemeClr val="dk1"/>
              </a:solidFill>
              <a:latin typeface="Calibri"/>
              <a:ea typeface="Calibri"/>
              <a:cs typeface="Calibri"/>
              <a:sym typeface="Calibri"/>
            </a:endParaRPr>
          </a:p>
        </p:txBody>
      </p:sp>
      <p:sp>
        <p:nvSpPr>
          <p:cNvPr id="306" name="Google Shape;306;p15"/>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Quản lý rủi ro, truyền thông và báo cáo</a:t>
            </a:r>
            <a:endParaRPr sz="2800">
              <a:latin typeface="Arial"/>
              <a:ea typeface="Arial"/>
              <a:cs typeface="Arial"/>
              <a:sym typeface="Arial"/>
            </a:endParaRPr>
          </a:p>
        </p:txBody>
      </p:sp>
      <p:sp>
        <p:nvSpPr>
          <p:cNvPr id="307" name="Google Shape;307;p15"/>
          <p:cNvSpPr txBox="1"/>
          <p:nvPr/>
        </p:nvSpPr>
        <p:spPr>
          <a:xfrm>
            <a:off x="548640" y="1600200"/>
            <a:ext cx="110642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300"/>
              <a:buFont typeface="Calibri"/>
              <a:buNone/>
            </a:pPr>
            <a:r>
              <a:rPr b="0" i="0" lang="en-US" sz="1300" u="none" cap="none" strike="noStrike">
                <a:solidFill>
                  <a:schemeClr val="accent4"/>
                </a:solidFill>
                <a:latin typeface="Calibri"/>
                <a:ea typeface="Calibri"/>
                <a:cs typeface="Calibri"/>
                <a:sym typeface="Calibri"/>
              </a:rPr>
              <a:t>4 trong 8 rủi ro của danh mục, mỗi rủi ro có tín hiệu, biện pháp và người chủ trì.</a:t>
            </a:r>
            <a:endParaRPr b="0" i="0" sz="1300" u="none" cap="none" strike="noStrike">
              <a:solidFill>
                <a:schemeClr val="dk1"/>
              </a:solidFill>
              <a:latin typeface="Calibri"/>
              <a:ea typeface="Calibri"/>
              <a:cs typeface="Calibri"/>
              <a:sym typeface="Calibri"/>
            </a:endParaRPr>
          </a:p>
        </p:txBody>
      </p:sp>
      <p:graphicFrame>
        <p:nvGraphicFramePr>
          <p:cNvPr id="308" name="Google Shape;308;p15"/>
          <p:cNvGraphicFramePr/>
          <p:nvPr/>
        </p:nvGraphicFramePr>
        <p:xfrm>
          <a:off x="548640" y="2011680"/>
          <a:ext cx="3000000" cy="3000000"/>
        </p:xfrm>
        <a:graphic>
          <a:graphicData uri="http://schemas.openxmlformats.org/drawingml/2006/table">
            <a:tbl>
              <a:tblPr>
                <a:noFill/>
                <a:tableStyleId>{333A356F-784D-4884-A680-775E4A61AB1C}</a:tableStyleId>
              </a:tblPr>
              <a:tblGrid>
                <a:gridCol w="3657600"/>
                <a:gridCol w="6035050"/>
                <a:gridCol w="1371600"/>
              </a:tblGrid>
              <a:tr h="420625">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Rủi ro tiêu biểu</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Biện pháp dự kiến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300"/>
                        <a:buFont typeface="Calibri"/>
                        <a:buNone/>
                      </a:pPr>
                      <a:r>
                        <a:rPr b="1" lang="en-US" sz="1300" u="none" cap="none" strike="noStrike">
                          <a:solidFill>
                            <a:schemeClr val="lt1"/>
                          </a:solidFill>
                        </a:rPr>
                        <a:t>Chủ trì</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dk2"/>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Chậm bàn giao API của Main System và đơn vị giao vận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Xác nhận đặc tả giao diện (IF Spec) sớm, dùng API giả lập, họp đối tác hằng tuần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Toàn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Sai lệch dữ liệu sản phẩm, tồn kho, đơn hàng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Mã đối chiếu, nhật ký gửi lại và đối soát định kỳ</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Thiếu nhân sự bổ sung</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Xác nhận trước 01/4, dự phòng nguồn trong công ty</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Đạt</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r h="420625">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UAT và bàn giao tập trung ở S7</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Kiểm thử tăng dần từ S5, môi trường UAT sẵn sàng 17/6</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300"/>
                        <a:buFont typeface="Calibri"/>
                        <a:buNone/>
                      </a:pPr>
                      <a:r>
                        <a:rPr lang="en-US" sz="1300" u="none" cap="none" strike="noStrike">
                          <a:solidFill>
                            <a:schemeClr val="dk1"/>
                          </a:solidFill>
                        </a:rPr>
                        <a:t>Liên</a:t>
                      </a:r>
                      <a:endParaRPr sz="1300" u="none" cap="none" strike="noStrike"/>
                    </a:p>
                  </a:txBody>
                  <a:tcPr marT="36575" marB="36575" marR="73150" marL="73150" anchor="ctr">
                    <a:lnL cap="flat" cmpd="sng" w="9525">
                      <a:solidFill>
                        <a:srgbClr val="C9D2D5"/>
                      </a:solidFill>
                      <a:prstDash val="solid"/>
                      <a:round/>
                      <a:headEnd len="sm" w="sm" type="none"/>
                      <a:tailEnd len="sm" w="sm" type="none"/>
                    </a:lnL>
                    <a:lnR cap="flat" cmpd="sng" w="9525">
                      <a:solidFill>
                        <a:srgbClr val="C9D2D5"/>
                      </a:solidFill>
                      <a:prstDash val="solid"/>
                      <a:round/>
                      <a:headEnd len="sm" w="sm" type="none"/>
                      <a:tailEnd len="sm" w="sm" type="none"/>
                    </a:lnR>
                    <a:lnT cap="flat" cmpd="sng" w="9525">
                      <a:solidFill>
                        <a:srgbClr val="C9D2D5"/>
                      </a:solidFill>
                      <a:prstDash val="solid"/>
                      <a:round/>
                      <a:headEnd len="sm" w="sm" type="none"/>
                      <a:tailEnd len="sm" w="sm" type="none"/>
                    </a:lnT>
                    <a:lnB cap="flat" cmpd="sng" w="9525">
                      <a:solidFill>
                        <a:srgbClr val="C9D2D5"/>
                      </a:solidFill>
                      <a:prstDash val="solid"/>
                      <a:round/>
                      <a:headEnd len="sm" w="sm" type="none"/>
                      <a:tailEnd len="sm" w="sm" type="none"/>
                    </a:lnB>
                    <a:solidFill>
                      <a:schemeClr val="lt1"/>
                    </a:solidFill>
                  </a:tcPr>
                </a:tc>
              </a:tr>
            </a:tbl>
          </a:graphicData>
        </a:graphic>
      </p:graphicFrame>
      <p:sp>
        <p:nvSpPr>
          <p:cNvPr id="309" name="Google Shape;309;p15"/>
          <p:cNvSpPr/>
          <p:nvPr/>
        </p:nvSpPr>
        <p:spPr>
          <a:xfrm>
            <a:off x="548640" y="4434840"/>
            <a:ext cx="5440680" cy="141732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5"/>
          <p:cNvSpPr/>
          <p:nvPr/>
        </p:nvSpPr>
        <p:spPr>
          <a:xfrm>
            <a:off x="731520" y="461772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1" name="Google Shape;311;p15"/>
          <p:cNvPicPr preferRelativeResize="0"/>
          <p:nvPr/>
        </p:nvPicPr>
        <p:blipFill rotWithShape="1">
          <a:blip r:embed="rId3">
            <a:alphaModFix/>
          </a:blip>
          <a:srcRect b="0" l="0" r="0" t="0"/>
          <a:stretch/>
        </p:blipFill>
        <p:spPr>
          <a:xfrm>
            <a:off x="842162" y="4728362"/>
            <a:ext cx="281635" cy="281635"/>
          </a:xfrm>
          <a:prstGeom prst="rect">
            <a:avLst/>
          </a:prstGeom>
          <a:noFill/>
          <a:ln>
            <a:noFill/>
          </a:ln>
        </p:spPr>
      </p:pic>
      <p:sp>
        <p:nvSpPr>
          <p:cNvPr id="312" name="Google Shape;312;p15"/>
          <p:cNvSpPr txBox="1"/>
          <p:nvPr/>
        </p:nvSpPr>
        <p:spPr>
          <a:xfrm>
            <a:off x="1417320" y="4572000"/>
            <a:ext cx="438912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Báo cáo tuần</a:t>
            </a:r>
            <a:endParaRPr b="0" i="0" sz="1500" u="none" cap="none" strike="noStrike">
              <a:solidFill>
                <a:schemeClr val="dk1"/>
              </a:solidFill>
              <a:latin typeface="Calibri"/>
              <a:ea typeface="Calibri"/>
              <a:cs typeface="Calibri"/>
              <a:sym typeface="Calibri"/>
            </a:endParaRPr>
          </a:p>
        </p:txBody>
      </p:sp>
      <p:sp>
        <p:nvSpPr>
          <p:cNvPr id="313" name="Google Shape;313;p15"/>
          <p:cNvSpPr txBox="1"/>
          <p:nvPr/>
        </p:nvSpPr>
        <p:spPr>
          <a:xfrm>
            <a:off x="1417320" y="4919472"/>
            <a:ext cx="43891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Gửi trước 17 giờ thứ Sáu, gồm tiến độ, MD, chi phí, lỗi, rủi ro và quyết định cần phê duyệt.</a:t>
            </a:r>
            <a:endParaRPr b="0" i="0" sz="1300" u="none" cap="none" strike="noStrike">
              <a:solidFill>
                <a:schemeClr val="dk1"/>
              </a:solidFill>
              <a:latin typeface="Calibri"/>
              <a:ea typeface="Calibri"/>
              <a:cs typeface="Calibri"/>
              <a:sym typeface="Calibri"/>
            </a:endParaRPr>
          </a:p>
        </p:txBody>
      </p:sp>
      <p:sp>
        <p:nvSpPr>
          <p:cNvPr id="314" name="Google Shape;314;p15"/>
          <p:cNvSpPr/>
          <p:nvPr/>
        </p:nvSpPr>
        <p:spPr>
          <a:xfrm>
            <a:off x="6172200" y="4434840"/>
            <a:ext cx="5440680" cy="141732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5"/>
          <p:cNvSpPr/>
          <p:nvPr/>
        </p:nvSpPr>
        <p:spPr>
          <a:xfrm>
            <a:off x="6355080" y="461772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6" name="Google Shape;316;p15"/>
          <p:cNvPicPr preferRelativeResize="0"/>
          <p:nvPr/>
        </p:nvPicPr>
        <p:blipFill rotWithShape="1">
          <a:blip r:embed="rId4">
            <a:alphaModFix/>
          </a:blip>
          <a:srcRect b="0" l="0" r="0" t="0"/>
          <a:stretch/>
        </p:blipFill>
        <p:spPr>
          <a:xfrm>
            <a:off x="6465722" y="4728362"/>
            <a:ext cx="281635" cy="281635"/>
          </a:xfrm>
          <a:prstGeom prst="rect">
            <a:avLst/>
          </a:prstGeom>
          <a:noFill/>
          <a:ln>
            <a:noFill/>
          </a:ln>
        </p:spPr>
      </p:pic>
      <p:sp>
        <p:nvSpPr>
          <p:cNvPr id="317" name="Google Shape;317;p15"/>
          <p:cNvSpPr txBox="1"/>
          <p:nvPr/>
        </p:nvSpPr>
        <p:spPr>
          <a:xfrm>
            <a:off x="7040880" y="4572000"/>
            <a:ext cx="438912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Nhịp phối hợp</a:t>
            </a:r>
            <a:endParaRPr b="0" i="0" sz="1500" u="none" cap="none" strike="noStrike">
              <a:solidFill>
                <a:schemeClr val="dk1"/>
              </a:solidFill>
              <a:latin typeface="Calibri"/>
              <a:ea typeface="Calibri"/>
              <a:cs typeface="Calibri"/>
              <a:sym typeface="Calibri"/>
            </a:endParaRPr>
          </a:p>
        </p:txBody>
      </p:sp>
      <p:sp>
        <p:nvSpPr>
          <p:cNvPr id="318" name="Google Shape;318;p15"/>
          <p:cNvSpPr txBox="1"/>
          <p:nvPr/>
        </p:nvSpPr>
        <p:spPr>
          <a:xfrm>
            <a:off x="7040880" y="4919472"/>
            <a:ext cx="438912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Họp hằng ngày 15 phút. Mỗi sprint có planning, review, retrospective và biên bản quyết định.</a:t>
            </a:r>
            <a:endParaRPr b="0" i="0" sz="1300" u="none" cap="none" strike="noStrike">
              <a:solidFill>
                <a:schemeClr val="dk1"/>
              </a:solidFill>
              <a:latin typeface="Calibri"/>
              <a:ea typeface="Calibri"/>
              <a:cs typeface="Calibri"/>
              <a:sym typeface="Calibri"/>
            </a:endParaRPr>
          </a:p>
        </p:txBody>
      </p:sp>
      <p:sp>
        <p:nvSpPr>
          <p:cNvPr id="319" name="Google Shape;319;p15"/>
          <p:cNvSpPr txBox="1"/>
          <p:nvPr/>
        </p:nvSpPr>
        <p:spPr>
          <a:xfrm>
            <a:off x="548640" y="5943600"/>
            <a:ext cx="110642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150"/>
              <a:buFont typeface="Calibri"/>
              <a:buNone/>
            </a:pPr>
            <a:r>
              <a:rPr b="0" i="1" lang="en-US" sz="1150" u="none" cap="none" strike="noStrike">
                <a:solidFill>
                  <a:schemeClr val="accent4"/>
                </a:solidFill>
                <a:latin typeface="Calibri"/>
                <a:ea typeface="Calibri"/>
                <a:cs typeface="Calibri"/>
                <a:sym typeface="Calibri"/>
              </a:rPr>
              <a:t>Người chủ trì là đề xuất trong kế hoạch.</a:t>
            </a:r>
            <a:endParaRPr b="0" i="0" sz="1150" u="none" cap="none" strike="noStrike">
              <a:solidFill>
                <a:schemeClr val="dk1"/>
              </a:solidFill>
              <a:latin typeface="Calibri"/>
              <a:ea typeface="Calibri"/>
              <a:cs typeface="Calibri"/>
              <a:sym typeface="Calibri"/>
            </a:endParaRPr>
          </a:p>
        </p:txBody>
      </p:sp>
      <p:sp>
        <p:nvSpPr>
          <p:cNvPr id="320" name="Google Shape;320;p15"/>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6"/>
          <p:cNvSpPr/>
          <p:nvPr/>
        </p:nvSpPr>
        <p:spPr>
          <a:xfrm>
            <a:off x="548640" y="329184"/>
            <a:ext cx="1634947"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Arial"/>
                <a:ea typeface="Arial"/>
                <a:cs typeface="Arial"/>
                <a:sym typeface="Arial"/>
              </a:rPr>
              <a:t>8. Chuyển giao</a:t>
            </a:r>
            <a:endParaRPr b="0" i="0" sz="1100" u="none" cap="none" strike="noStrike">
              <a:solidFill>
                <a:schemeClr val="dk1"/>
              </a:solidFill>
              <a:latin typeface="Arial"/>
              <a:ea typeface="Arial"/>
              <a:cs typeface="Arial"/>
              <a:sym typeface="Arial"/>
            </a:endParaRPr>
          </a:p>
        </p:txBody>
      </p:sp>
      <p:sp>
        <p:nvSpPr>
          <p:cNvPr id="327" name="Google Shape;327;p16"/>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lang="en-US" sz="2800">
                <a:solidFill>
                  <a:schemeClr val="dk2"/>
                </a:solidFill>
                <a:latin typeface="Arial"/>
                <a:ea typeface="Arial"/>
                <a:cs typeface="Arial"/>
                <a:sym typeface="Arial"/>
              </a:rPr>
              <a:t>Chuyển đổi và điều kiện hoàn thành</a:t>
            </a:r>
            <a:endParaRPr sz="2800">
              <a:latin typeface="Arial"/>
              <a:ea typeface="Arial"/>
              <a:cs typeface="Arial"/>
              <a:sym typeface="Arial"/>
            </a:endParaRPr>
          </a:p>
        </p:txBody>
      </p:sp>
      <p:sp>
        <p:nvSpPr>
          <p:cNvPr id="328" name="Google Shape;328;p16"/>
          <p:cNvSpPr/>
          <p:nvPr/>
        </p:nvSpPr>
        <p:spPr>
          <a:xfrm>
            <a:off x="54864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6"/>
          <p:cNvSpPr/>
          <p:nvPr/>
        </p:nvSpPr>
        <p:spPr>
          <a:xfrm>
            <a:off x="71323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330" name="Google Shape;330;p16"/>
          <p:cNvSpPr txBox="1"/>
          <p:nvPr/>
        </p:nvSpPr>
        <p:spPr>
          <a:xfrm>
            <a:off x="71323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UAT</a:t>
            </a:r>
            <a:endParaRPr b="0" i="0" sz="1500" u="none" cap="none" strike="noStrike">
              <a:solidFill>
                <a:schemeClr val="dk1"/>
              </a:solidFill>
              <a:latin typeface="Arial"/>
              <a:ea typeface="Arial"/>
              <a:cs typeface="Arial"/>
              <a:sym typeface="Arial"/>
            </a:endParaRPr>
          </a:p>
        </p:txBody>
      </p:sp>
      <p:sp>
        <p:nvSpPr>
          <p:cNvPr id="331" name="Google Shape;331;p16"/>
          <p:cNvSpPr txBox="1"/>
          <p:nvPr/>
        </p:nvSpPr>
        <p:spPr>
          <a:xfrm>
            <a:off x="71323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29/6/2027</a:t>
            </a:r>
            <a:endParaRPr b="0" i="0" sz="1250" u="none" cap="none" strike="noStrike">
              <a:solidFill>
                <a:schemeClr val="dk1"/>
              </a:solidFill>
              <a:latin typeface="Arial"/>
              <a:ea typeface="Arial"/>
              <a:cs typeface="Arial"/>
              <a:sym typeface="Arial"/>
            </a:endParaRPr>
          </a:p>
        </p:txBody>
      </p:sp>
      <p:sp>
        <p:nvSpPr>
          <p:cNvPr id="332" name="Google Shape;332;p16"/>
          <p:cNvSpPr txBox="1"/>
          <p:nvPr/>
        </p:nvSpPr>
        <p:spPr>
          <a:xfrm>
            <a:off x="71323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Xác nhận luồng nghiệp vụ, khắc phục dứt điểm lỗi gây gián đoạn đặt hàng.</a:t>
            </a:r>
            <a:endParaRPr b="0" i="0" sz="1300" u="none" cap="none" strike="noStrike">
              <a:solidFill>
                <a:schemeClr val="dk1"/>
              </a:solidFill>
              <a:latin typeface="Arial"/>
              <a:ea typeface="Arial"/>
              <a:cs typeface="Arial"/>
              <a:sym typeface="Arial"/>
            </a:endParaRPr>
          </a:p>
        </p:txBody>
      </p:sp>
      <p:sp>
        <p:nvSpPr>
          <p:cNvPr id="333" name="Google Shape;333;p16"/>
          <p:cNvSpPr/>
          <p:nvPr/>
        </p:nvSpPr>
        <p:spPr>
          <a:xfrm>
            <a:off x="278892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6"/>
          <p:cNvSpPr/>
          <p:nvPr/>
        </p:nvSpPr>
        <p:spPr>
          <a:xfrm>
            <a:off x="295351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335" name="Google Shape;335;p16"/>
          <p:cNvSpPr txBox="1"/>
          <p:nvPr/>
        </p:nvSpPr>
        <p:spPr>
          <a:xfrm>
            <a:off x="2953498" y="2286000"/>
            <a:ext cx="21783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Chuẩn bị chuyển đổi</a:t>
            </a:r>
            <a:endParaRPr b="0" i="0" sz="1500" u="none" cap="none" strike="noStrike">
              <a:solidFill>
                <a:schemeClr val="dk1"/>
              </a:solidFill>
              <a:latin typeface="Arial"/>
              <a:ea typeface="Arial"/>
              <a:cs typeface="Arial"/>
              <a:sym typeface="Arial"/>
            </a:endParaRPr>
          </a:p>
        </p:txBody>
      </p:sp>
      <p:sp>
        <p:nvSpPr>
          <p:cNvPr id="336" name="Google Shape;336;p16"/>
          <p:cNvSpPr txBox="1"/>
          <p:nvPr/>
        </p:nvSpPr>
        <p:spPr>
          <a:xfrm>
            <a:off x="295351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Đến 30/6/2027</a:t>
            </a:r>
            <a:endParaRPr b="0" i="0" sz="1250" u="none" cap="none" strike="noStrike">
              <a:solidFill>
                <a:schemeClr val="dk1"/>
              </a:solidFill>
              <a:latin typeface="Arial"/>
              <a:ea typeface="Arial"/>
              <a:cs typeface="Arial"/>
              <a:sym typeface="Arial"/>
            </a:endParaRPr>
          </a:p>
        </p:txBody>
      </p:sp>
      <p:sp>
        <p:nvSpPr>
          <p:cNvPr id="337" name="Google Shape;337;p16"/>
          <p:cNvSpPr txBox="1"/>
          <p:nvPr/>
        </p:nvSpPr>
        <p:spPr>
          <a:xfrm>
            <a:off x="295351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Vận hành thử, diễn tập, xác nhận dữ liệu, sao lưu, rollback và quyết định go/no-go.</a:t>
            </a:r>
            <a:endParaRPr b="0" i="0" sz="1300" u="none" cap="none" strike="noStrike">
              <a:solidFill>
                <a:schemeClr val="dk1"/>
              </a:solidFill>
              <a:latin typeface="Arial"/>
              <a:ea typeface="Arial"/>
              <a:cs typeface="Arial"/>
              <a:sym typeface="Arial"/>
            </a:endParaRPr>
          </a:p>
        </p:txBody>
      </p:sp>
      <p:sp>
        <p:nvSpPr>
          <p:cNvPr id="338" name="Google Shape;338;p16"/>
          <p:cNvSpPr/>
          <p:nvPr/>
        </p:nvSpPr>
        <p:spPr>
          <a:xfrm>
            <a:off x="502920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16"/>
          <p:cNvSpPr/>
          <p:nvPr/>
        </p:nvSpPr>
        <p:spPr>
          <a:xfrm>
            <a:off x="5193792" y="1783080"/>
            <a:ext cx="411480" cy="411480"/>
          </a:xfrm>
          <a:prstGeom prst="ellipse">
            <a:avLst/>
          </a:prstGeom>
          <a:solidFill>
            <a:schemeClr val="accen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340" name="Google Shape;340;p16"/>
          <p:cNvSpPr txBox="1"/>
          <p:nvPr/>
        </p:nvSpPr>
        <p:spPr>
          <a:xfrm>
            <a:off x="519379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Cut over</a:t>
            </a:r>
            <a:endParaRPr b="0" i="0" sz="1500" u="none" cap="none" strike="noStrike">
              <a:solidFill>
                <a:schemeClr val="dk1"/>
              </a:solidFill>
              <a:latin typeface="Arial"/>
              <a:ea typeface="Arial"/>
              <a:cs typeface="Arial"/>
              <a:sym typeface="Arial"/>
            </a:endParaRPr>
          </a:p>
        </p:txBody>
      </p:sp>
      <p:sp>
        <p:nvSpPr>
          <p:cNvPr id="341" name="Google Shape;341;p16"/>
          <p:cNvSpPr txBox="1"/>
          <p:nvPr/>
        </p:nvSpPr>
        <p:spPr>
          <a:xfrm>
            <a:off x="519379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01/7/2027</a:t>
            </a:r>
            <a:endParaRPr b="0" i="0" sz="1250" u="none" cap="none" strike="noStrike">
              <a:solidFill>
                <a:schemeClr val="dk1"/>
              </a:solidFill>
              <a:latin typeface="Arial"/>
              <a:ea typeface="Arial"/>
              <a:cs typeface="Arial"/>
              <a:sym typeface="Arial"/>
            </a:endParaRPr>
          </a:p>
        </p:txBody>
      </p:sp>
      <p:sp>
        <p:nvSpPr>
          <p:cNvPr id="342" name="Google Shape;342;p16"/>
          <p:cNvSpPr txBox="1"/>
          <p:nvPr/>
        </p:nvSpPr>
        <p:spPr>
          <a:xfrm>
            <a:off x="519379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Kiểm tra truy cập, tìm kiếm, đăng nhập, đặt đơn, chuyển đơn, trạng thái giao hàng và cảnh báo.</a:t>
            </a:r>
            <a:endParaRPr b="0" i="0" sz="1300" u="none" cap="none" strike="noStrike">
              <a:solidFill>
                <a:schemeClr val="dk1"/>
              </a:solidFill>
              <a:latin typeface="Arial"/>
              <a:ea typeface="Arial"/>
              <a:cs typeface="Arial"/>
              <a:sym typeface="Arial"/>
            </a:endParaRPr>
          </a:p>
        </p:txBody>
      </p:sp>
      <p:sp>
        <p:nvSpPr>
          <p:cNvPr id="343" name="Google Shape;343;p16"/>
          <p:cNvSpPr/>
          <p:nvPr/>
        </p:nvSpPr>
        <p:spPr>
          <a:xfrm>
            <a:off x="726948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6"/>
          <p:cNvSpPr/>
          <p:nvPr/>
        </p:nvSpPr>
        <p:spPr>
          <a:xfrm>
            <a:off x="743407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4</a:t>
            </a:r>
            <a:endParaRPr b="0" i="0" sz="1400" u="none" cap="none" strike="noStrike">
              <a:solidFill>
                <a:schemeClr val="dk1"/>
              </a:solidFill>
              <a:latin typeface="Arial"/>
              <a:ea typeface="Arial"/>
              <a:cs typeface="Arial"/>
              <a:sym typeface="Arial"/>
            </a:endParaRPr>
          </a:p>
        </p:txBody>
      </p:sp>
      <p:sp>
        <p:nvSpPr>
          <p:cNvPr id="345" name="Google Shape;345;p16"/>
          <p:cNvSpPr txBox="1"/>
          <p:nvPr/>
        </p:nvSpPr>
        <p:spPr>
          <a:xfrm>
            <a:off x="743407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Bàn giao</a:t>
            </a:r>
            <a:endParaRPr b="0" i="0" sz="1500" u="none" cap="none" strike="noStrike">
              <a:solidFill>
                <a:schemeClr val="dk1"/>
              </a:solidFill>
              <a:latin typeface="Arial"/>
              <a:ea typeface="Arial"/>
              <a:cs typeface="Arial"/>
              <a:sym typeface="Arial"/>
            </a:endParaRPr>
          </a:p>
        </p:txBody>
      </p:sp>
      <p:sp>
        <p:nvSpPr>
          <p:cNvPr id="346" name="Google Shape;346;p16"/>
          <p:cNvSpPr txBox="1"/>
          <p:nvPr/>
        </p:nvSpPr>
        <p:spPr>
          <a:xfrm>
            <a:off x="743407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Sau cut over</a:t>
            </a:r>
            <a:endParaRPr b="0" i="0" sz="1250" u="none" cap="none" strike="noStrike">
              <a:solidFill>
                <a:schemeClr val="dk1"/>
              </a:solidFill>
              <a:latin typeface="Arial"/>
              <a:ea typeface="Arial"/>
              <a:cs typeface="Arial"/>
              <a:sym typeface="Arial"/>
            </a:endParaRPr>
          </a:p>
        </p:txBody>
      </p:sp>
      <p:sp>
        <p:nvSpPr>
          <p:cNvPr id="347" name="Google Shape;347;p16"/>
          <p:cNvSpPr txBox="1"/>
          <p:nvPr/>
        </p:nvSpPr>
        <p:spPr>
          <a:xfrm>
            <a:off x="743407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Mã nguồn, cấu hình, tài liệu, đào tạo và biên bản. ABC Wear xác nhận vận hành.</a:t>
            </a:r>
            <a:endParaRPr b="0" i="0" sz="1300" u="none" cap="none" strike="noStrike">
              <a:solidFill>
                <a:schemeClr val="dk1"/>
              </a:solidFill>
              <a:latin typeface="Arial"/>
              <a:ea typeface="Arial"/>
              <a:cs typeface="Arial"/>
              <a:sym typeface="Arial"/>
            </a:endParaRPr>
          </a:p>
        </p:txBody>
      </p:sp>
      <p:sp>
        <p:nvSpPr>
          <p:cNvPr id="348" name="Google Shape;348;p16"/>
          <p:cNvSpPr/>
          <p:nvPr/>
        </p:nvSpPr>
        <p:spPr>
          <a:xfrm>
            <a:off x="9509760" y="1645920"/>
            <a:ext cx="2103120" cy="2743200"/>
          </a:xfrm>
          <a:prstGeom prst="roundRect">
            <a:avLst>
              <a:gd fmla="val 347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6"/>
          <p:cNvSpPr/>
          <p:nvPr/>
        </p:nvSpPr>
        <p:spPr>
          <a:xfrm>
            <a:off x="9674352" y="1783080"/>
            <a:ext cx="411480" cy="41148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US" sz="1400" u="none" cap="none" strike="noStrike">
                <a:solidFill>
                  <a:schemeClr val="lt1"/>
                </a:solidFill>
                <a:latin typeface="Arial"/>
                <a:ea typeface="Arial"/>
                <a:cs typeface="Arial"/>
                <a:sym typeface="Arial"/>
              </a:rPr>
              <a:t>5</a:t>
            </a:r>
            <a:endParaRPr b="0" i="0" sz="1400" u="none" cap="none" strike="noStrike">
              <a:solidFill>
                <a:schemeClr val="dk1"/>
              </a:solidFill>
              <a:latin typeface="Arial"/>
              <a:ea typeface="Arial"/>
              <a:cs typeface="Arial"/>
              <a:sym typeface="Arial"/>
            </a:endParaRPr>
          </a:p>
        </p:txBody>
      </p:sp>
      <p:sp>
        <p:nvSpPr>
          <p:cNvPr id="350" name="Google Shape;350;p16"/>
          <p:cNvSpPr txBox="1"/>
          <p:nvPr/>
        </p:nvSpPr>
        <p:spPr>
          <a:xfrm>
            <a:off x="9674352" y="2286000"/>
            <a:ext cx="18288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Sau nghiệm thu</a:t>
            </a:r>
            <a:endParaRPr b="0" i="0" sz="1500" u="none" cap="none" strike="noStrike">
              <a:solidFill>
                <a:schemeClr val="dk1"/>
              </a:solidFill>
              <a:latin typeface="Arial"/>
              <a:ea typeface="Arial"/>
              <a:cs typeface="Arial"/>
              <a:sym typeface="Arial"/>
            </a:endParaRPr>
          </a:p>
        </p:txBody>
      </p:sp>
      <p:sp>
        <p:nvSpPr>
          <p:cNvPr id="351" name="Google Shape;351;p16"/>
          <p:cNvSpPr txBox="1"/>
          <p:nvPr/>
        </p:nvSpPr>
        <p:spPr>
          <a:xfrm>
            <a:off x="9674352" y="2606040"/>
            <a:ext cx="18288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250"/>
              <a:buFont typeface="Calibri"/>
              <a:buNone/>
            </a:pPr>
            <a:r>
              <a:rPr b="1" i="0" lang="en-US" sz="1250" u="none" cap="none" strike="noStrike">
                <a:solidFill>
                  <a:schemeClr val="accent1"/>
                </a:solidFill>
                <a:latin typeface="Arial"/>
                <a:ea typeface="Arial"/>
                <a:cs typeface="Arial"/>
                <a:sym typeface="Arial"/>
              </a:rPr>
              <a:t>12 tháng</a:t>
            </a:r>
            <a:endParaRPr b="0" i="0" sz="1250" u="none" cap="none" strike="noStrike">
              <a:solidFill>
                <a:schemeClr val="dk1"/>
              </a:solidFill>
              <a:latin typeface="Arial"/>
              <a:ea typeface="Arial"/>
              <a:cs typeface="Arial"/>
              <a:sym typeface="Arial"/>
            </a:endParaRPr>
          </a:p>
        </p:txBody>
      </p:sp>
      <p:sp>
        <p:nvSpPr>
          <p:cNvPr id="352" name="Google Shape;352;p16"/>
          <p:cNvSpPr txBox="1"/>
          <p:nvPr/>
        </p:nvSpPr>
        <p:spPr>
          <a:xfrm>
            <a:off x="9674352" y="2971800"/>
            <a:ext cx="182880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0" i="0" lang="en-US" sz="1300" u="none" cap="none" strike="noStrike">
                <a:solidFill>
                  <a:schemeClr val="dk1"/>
                </a:solidFill>
                <a:latin typeface="Arial"/>
                <a:ea typeface="Arial"/>
                <a:cs typeface="Arial"/>
                <a:sym typeface="Arial"/>
              </a:rPr>
              <a:t>Bảo hành lỗi thuộc trách nhiệm nhà thầu.</a:t>
            </a:r>
            <a:endParaRPr b="0" i="0" sz="1300" u="none" cap="none" strike="noStrike">
              <a:solidFill>
                <a:schemeClr val="dk1"/>
              </a:solidFill>
              <a:latin typeface="Arial"/>
              <a:ea typeface="Arial"/>
              <a:cs typeface="Arial"/>
              <a:sym typeface="Arial"/>
            </a:endParaRPr>
          </a:p>
        </p:txBody>
      </p:sp>
      <p:sp>
        <p:nvSpPr>
          <p:cNvPr id="353" name="Google Shape;353;p16"/>
          <p:cNvSpPr txBox="1"/>
          <p:nvPr/>
        </p:nvSpPr>
        <p:spPr>
          <a:xfrm>
            <a:off x="548640" y="4572000"/>
            <a:ext cx="110642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Arial"/>
                <a:ea typeface="Arial"/>
                <a:cs typeface="Arial"/>
                <a:sym typeface="Arial"/>
              </a:rPr>
              <a:t>Ba đường cơ sở, rà soát cuối mỗi sprint</a:t>
            </a:r>
            <a:endParaRPr b="0" i="0" sz="1500" u="none" cap="none" strike="noStrike">
              <a:solidFill>
                <a:schemeClr val="dk1"/>
              </a:solidFill>
              <a:latin typeface="Arial"/>
              <a:ea typeface="Arial"/>
              <a:cs typeface="Arial"/>
              <a:sym typeface="Arial"/>
            </a:endParaRPr>
          </a:p>
        </p:txBody>
      </p:sp>
      <p:sp>
        <p:nvSpPr>
          <p:cNvPr id="354" name="Google Shape;354;p16"/>
          <p:cNvSpPr/>
          <p:nvPr/>
        </p:nvSpPr>
        <p:spPr>
          <a:xfrm>
            <a:off x="548640" y="4983480"/>
            <a:ext cx="3566160" cy="1188720"/>
          </a:xfrm>
          <a:prstGeom prst="roundRect">
            <a:avLst>
              <a:gd fmla="val 6154"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6"/>
          <p:cNvSpPr txBox="1"/>
          <p:nvPr/>
        </p:nvSpPr>
        <p:spPr>
          <a:xfrm>
            <a:off x="777240" y="5074920"/>
            <a:ext cx="3108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800"/>
              <a:buFont typeface="Cambria"/>
              <a:buNone/>
            </a:pPr>
            <a:r>
              <a:rPr b="1" i="0" lang="en-US" sz="2800" u="none" cap="none" strike="noStrike">
                <a:solidFill>
                  <a:schemeClr val="accent3"/>
                </a:solidFill>
                <a:latin typeface="Arial"/>
                <a:ea typeface="Arial"/>
                <a:cs typeface="Arial"/>
                <a:sym typeface="Arial"/>
              </a:rPr>
              <a:t>657 MD</a:t>
            </a:r>
            <a:endParaRPr b="0" i="0" sz="2800" u="none" cap="none" strike="noStrike">
              <a:solidFill>
                <a:schemeClr val="dk1"/>
              </a:solidFill>
              <a:latin typeface="Arial"/>
              <a:ea typeface="Arial"/>
              <a:cs typeface="Arial"/>
              <a:sym typeface="Arial"/>
            </a:endParaRPr>
          </a:p>
        </p:txBody>
      </p:sp>
      <p:sp>
        <p:nvSpPr>
          <p:cNvPr id="356" name="Google Shape;356;p16"/>
          <p:cNvSpPr txBox="1"/>
          <p:nvPr/>
        </p:nvSpPr>
        <p:spPr>
          <a:xfrm>
            <a:off x="777240" y="5669280"/>
            <a:ext cx="3108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300"/>
              <a:buFont typeface="Calibri"/>
              <a:buNone/>
            </a:pPr>
            <a:r>
              <a:rPr b="0" i="0" lang="en-US" sz="1300" u="none" cap="none" strike="noStrike">
                <a:solidFill>
                  <a:schemeClr val="lt1"/>
                </a:solidFill>
                <a:latin typeface="Arial"/>
                <a:ea typeface="Arial"/>
                <a:cs typeface="Arial"/>
                <a:sym typeface="Arial"/>
              </a:rPr>
              <a:t>Phạm vi: SRS và WBS</a:t>
            </a:r>
            <a:endParaRPr b="0" i="0" sz="1300" u="none" cap="none" strike="noStrike">
              <a:solidFill>
                <a:schemeClr val="dk1"/>
              </a:solidFill>
              <a:latin typeface="Arial"/>
              <a:ea typeface="Arial"/>
              <a:cs typeface="Arial"/>
              <a:sym typeface="Arial"/>
            </a:endParaRPr>
          </a:p>
        </p:txBody>
      </p:sp>
      <p:sp>
        <p:nvSpPr>
          <p:cNvPr id="357" name="Google Shape;357;p16"/>
          <p:cNvSpPr/>
          <p:nvPr/>
        </p:nvSpPr>
        <p:spPr>
          <a:xfrm>
            <a:off x="4297680" y="4983480"/>
            <a:ext cx="3566160" cy="1188720"/>
          </a:xfrm>
          <a:prstGeom prst="roundRect">
            <a:avLst>
              <a:gd fmla="val 6154"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6"/>
          <p:cNvSpPr txBox="1"/>
          <p:nvPr/>
        </p:nvSpPr>
        <p:spPr>
          <a:xfrm>
            <a:off x="4526280" y="5074920"/>
            <a:ext cx="3108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800"/>
              <a:buFont typeface="Cambria"/>
              <a:buNone/>
            </a:pPr>
            <a:r>
              <a:rPr b="1" i="0" lang="en-US" sz="2800" u="none" cap="none" strike="noStrike">
                <a:solidFill>
                  <a:schemeClr val="accent3"/>
                </a:solidFill>
                <a:latin typeface="Arial"/>
                <a:ea typeface="Arial"/>
                <a:cs typeface="Arial"/>
                <a:sym typeface="Arial"/>
              </a:rPr>
              <a:t>7 sprint</a:t>
            </a:r>
            <a:endParaRPr b="0" i="0" sz="2800" u="none" cap="none" strike="noStrike">
              <a:solidFill>
                <a:schemeClr val="dk1"/>
              </a:solidFill>
              <a:latin typeface="Arial"/>
              <a:ea typeface="Arial"/>
              <a:cs typeface="Arial"/>
              <a:sym typeface="Arial"/>
            </a:endParaRPr>
          </a:p>
        </p:txBody>
      </p:sp>
      <p:sp>
        <p:nvSpPr>
          <p:cNvPr id="359" name="Google Shape;359;p16"/>
          <p:cNvSpPr txBox="1"/>
          <p:nvPr/>
        </p:nvSpPr>
        <p:spPr>
          <a:xfrm>
            <a:off x="4526280" y="5669280"/>
            <a:ext cx="3108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300"/>
              <a:buFont typeface="Calibri"/>
              <a:buNone/>
            </a:pPr>
            <a:r>
              <a:rPr b="0" i="0" lang="en-US" sz="1300" u="none" cap="none" strike="noStrike">
                <a:solidFill>
                  <a:schemeClr val="lt1"/>
                </a:solidFill>
                <a:latin typeface="Arial"/>
                <a:ea typeface="Arial"/>
                <a:cs typeface="Arial"/>
                <a:sym typeface="Arial"/>
              </a:rPr>
              <a:t>Tiến độ: 18/3-01/7/2027</a:t>
            </a:r>
            <a:endParaRPr b="0" i="0" sz="1300" u="none" cap="none" strike="noStrike">
              <a:solidFill>
                <a:schemeClr val="dk1"/>
              </a:solidFill>
              <a:latin typeface="Arial"/>
              <a:ea typeface="Arial"/>
              <a:cs typeface="Arial"/>
              <a:sym typeface="Arial"/>
            </a:endParaRPr>
          </a:p>
        </p:txBody>
      </p:sp>
      <p:sp>
        <p:nvSpPr>
          <p:cNvPr id="360" name="Google Shape;360;p16"/>
          <p:cNvSpPr/>
          <p:nvPr/>
        </p:nvSpPr>
        <p:spPr>
          <a:xfrm>
            <a:off x="8046720" y="4983480"/>
            <a:ext cx="3566160" cy="1188720"/>
          </a:xfrm>
          <a:prstGeom prst="roundRect">
            <a:avLst>
              <a:gd fmla="val 6154"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6"/>
          <p:cNvSpPr txBox="1"/>
          <p:nvPr/>
        </p:nvSpPr>
        <p:spPr>
          <a:xfrm>
            <a:off x="8275320" y="5074920"/>
            <a:ext cx="3108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800"/>
              <a:buFont typeface="Cambria"/>
              <a:buNone/>
            </a:pPr>
            <a:r>
              <a:rPr b="1" i="0" lang="en-US" sz="2800" u="none" cap="none" strike="noStrike">
                <a:solidFill>
                  <a:schemeClr val="accent3"/>
                </a:solidFill>
                <a:latin typeface="Arial"/>
                <a:ea typeface="Arial"/>
                <a:cs typeface="Arial"/>
                <a:sym typeface="Arial"/>
              </a:rPr>
              <a:t>1.561,98 triệu</a:t>
            </a:r>
            <a:endParaRPr b="0" i="0" sz="2800" u="none" cap="none" strike="noStrike">
              <a:solidFill>
                <a:schemeClr val="dk1"/>
              </a:solidFill>
              <a:latin typeface="Arial"/>
              <a:ea typeface="Arial"/>
              <a:cs typeface="Arial"/>
              <a:sym typeface="Arial"/>
            </a:endParaRPr>
          </a:p>
        </p:txBody>
      </p:sp>
      <p:sp>
        <p:nvSpPr>
          <p:cNvPr id="362" name="Google Shape;362;p16"/>
          <p:cNvSpPr txBox="1"/>
          <p:nvPr/>
        </p:nvSpPr>
        <p:spPr>
          <a:xfrm>
            <a:off x="8275320" y="5669280"/>
            <a:ext cx="3108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300"/>
              <a:buFont typeface="Calibri"/>
              <a:buNone/>
            </a:pPr>
            <a:r>
              <a:rPr b="0" i="0" lang="en-US" sz="1300" u="none" cap="none" strike="noStrike">
                <a:solidFill>
                  <a:schemeClr val="lt1"/>
                </a:solidFill>
                <a:latin typeface="Arial"/>
                <a:ea typeface="Arial"/>
                <a:cs typeface="Arial"/>
                <a:sym typeface="Arial"/>
              </a:rPr>
              <a:t>Chi phí: bảng dự toán (A + B)</a:t>
            </a:r>
            <a:endParaRPr b="0" i="0" sz="1300" u="none" cap="none" strike="noStrike">
              <a:solidFill>
                <a:schemeClr val="dk1"/>
              </a:solidFill>
              <a:latin typeface="Arial"/>
              <a:ea typeface="Arial"/>
              <a:cs typeface="Arial"/>
              <a:sym typeface="Arial"/>
            </a:endParaRPr>
          </a:p>
        </p:txBody>
      </p:sp>
      <p:sp>
        <p:nvSpPr>
          <p:cNvPr id="363" name="Google Shape;363;p16"/>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6F8189"/>
                </a:solidFill>
                <a:latin typeface="Arial"/>
                <a:ea typeface="Arial"/>
                <a:cs typeface="Arial"/>
                <a:sym typeface="Arial"/>
              </a:rPr>
              <a:t>‹#›</a:t>
            </a:fld>
            <a:endParaRPr i="0" sz="1000" u="none" cap="none" strike="noStrike">
              <a:solidFill>
                <a:srgbClr val="6F8189"/>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4"/>
          <p:cNvSpPr/>
          <p:nvPr/>
        </p:nvSpPr>
        <p:spPr>
          <a:xfrm>
            <a:off x="548640" y="329184"/>
            <a:ext cx="2560320" cy="310896"/>
          </a:xfrm>
          <a:prstGeom prst="roundRect">
            <a:avLst>
              <a:gd fmla="val 50000" name="adj"/>
            </a:avLst>
          </a:prstGeom>
          <a:solidFill>
            <a:schemeClr val="accen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6. Chất lượng và thay đổi</a:t>
            </a:r>
            <a:endParaRPr b="0" i="0" sz="1100" u="none" cap="none" strike="noStrike">
              <a:solidFill>
                <a:schemeClr val="dk1"/>
              </a:solidFill>
              <a:latin typeface="Calibri"/>
              <a:ea typeface="Calibri"/>
              <a:cs typeface="Calibri"/>
              <a:sym typeface="Calibri"/>
            </a:endParaRPr>
          </a:p>
        </p:txBody>
      </p:sp>
      <p:sp>
        <p:nvSpPr>
          <p:cNvPr id="370" name="Google Shape;370;p14"/>
          <p:cNvSpPr txBox="1"/>
          <p:nvPr>
            <p:ph type="title"/>
          </p:nvPr>
        </p:nvSpPr>
        <p:spPr>
          <a:xfrm>
            <a:off x="548640" y="786384"/>
            <a:ext cx="11064240" cy="6583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Cambria"/>
              <a:buNone/>
            </a:pPr>
            <a:r>
              <a:rPr b="1" lang="en-US" sz="2800">
                <a:solidFill>
                  <a:schemeClr val="dk2"/>
                </a:solidFill>
              </a:rPr>
              <a:t>Quản lý chất lượng, thay đổi và cấu hình</a:t>
            </a:r>
            <a:endParaRPr sz="2800"/>
          </a:p>
        </p:txBody>
      </p:sp>
      <p:sp>
        <p:nvSpPr>
          <p:cNvPr id="371" name="Google Shape;371;p14"/>
          <p:cNvSpPr/>
          <p:nvPr/>
        </p:nvSpPr>
        <p:spPr>
          <a:xfrm>
            <a:off x="548640"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txBox="1"/>
          <p:nvPr/>
        </p:nvSpPr>
        <p:spPr>
          <a:xfrm>
            <a:off x="685800"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1. Lập phiếu CR</a:t>
            </a:r>
            <a:endParaRPr b="0" i="0" sz="1400" u="none" cap="none" strike="noStrike">
              <a:solidFill>
                <a:schemeClr val="dk1"/>
              </a:solidFill>
              <a:latin typeface="Calibri"/>
              <a:ea typeface="Calibri"/>
              <a:cs typeface="Calibri"/>
              <a:sym typeface="Calibri"/>
            </a:endParaRPr>
          </a:p>
        </p:txBody>
      </p:sp>
      <p:sp>
        <p:nvSpPr>
          <p:cNvPr id="373" name="Google Shape;373;p14"/>
          <p:cNvSpPr txBox="1"/>
          <p:nvPr/>
        </p:nvSpPr>
        <p:spPr>
          <a:xfrm>
            <a:off x="685800"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Áp dụng cho yêu cầu thay đổi sau ngày ký baseline SRS.</a:t>
            </a:r>
            <a:endParaRPr b="0" i="0" sz="1200" u="none" cap="none" strike="noStrike">
              <a:solidFill>
                <a:schemeClr val="dk1"/>
              </a:solidFill>
              <a:latin typeface="Calibri"/>
              <a:ea typeface="Calibri"/>
              <a:cs typeface="Calibri"/>
              <a:sym typeface="Calibri"/>
            </a:endParaRPr>
          </a:p>
        </p:txBody>
      </p:sp>
      <p:sp>
        <p:nvSpPr>
          <p:cNvPr id="374" name="Google Shape;374;p14"/>
          <p:cNvSpPr/>
          <p:nvPr/>
        </p:nvSpPr>
        <p:spPr>
          <a:xfrm>
            <a:off x="3108960" y="2103120"/>
            <a:ext cx="246888" cy="274320"/>
          </a:xfrm>
          <a:prstGeom prst="rightArrow">
            <a:avLst>
              <a:gd fmla="val 50000" name="adj1"/>
              <a:gd fmla="val 50000" name="adj2"/>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4"/>
          <p:cNvSpPr/>
          <p:nvPr/>
        </p:nvSpPr>
        <p:spPr>
          <a:xfrm>
            <a:off x="3401568"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4"/>
          <p:cNvSpPr txBox="1"/>
          <p:nvPr/>
        </p:nvSpPr>
        <p:spPr>
          <a:xfrm>
            <a:off x="3538728"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2. Đánh giá tác động</a:t>
            </a:r>
            <a:endParaRPr b="0" i="0" sz="1400" u="none" cap="none" strike="noStrike">
              <a:solidFill>
                <a:schemeClr val="dk1"/>
              </a:solidFill>
              <a:latin typeface="Calibri"/>
              <a:ea typeface="Calibri"/>
              <a:cs typeface="Calibri"/>
              <a:sym typeface="Calibri"/>
            </a:endParaRPr>
          </a:p>
        </p:txBody>
      </p:sp>
      <p:sp>
        <p:nvSpPr>
          <p:cNvPr id="377" name="Google Shape;377;p14"/>
          <p:cNvSpPr txBox="1"/>
          <p:nvPr/>
        </p:nvSpPr>
        <p:spPr>
          <a:xfrm>
            <a:off x="3538728"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Đánh giá WBS, MD, chi phí và mốc trong 3 ngày làm việc.</a:t>
            </a:r>
            <a:endParaRPr b="0" i="0" sz="1200" u="none" cap="none" strike="noStrike">
              <a:solidFill>
                <a:schemeClr val="dk1"/>
              </a:solidFill>
              <a:latin typeface="Calibri"/>
              <a:ea typeface="Calibri"/>
              <a:cs typeface="Calibri"/>
              <a:sym typeface="Calibri"/>
            </a:endParaRPr>
          </a:p>
        </p:txBody>
      </p:sp>
      <p:sp>
        <p:nvSpPr>
          <p:cNvPr id="378" name="Google Shape;378;p14"/>
          <p:cNvSpPr/>
          <p:nvPr/>
        </p:nvSpPr>
        <p:spPr>
          <a:xfrm>
            <a:off x="5961888" y="2103120"/>
            <a:ext cx="246888" cy="274320"/>
          </a:xfrm>
          <a:prstGeom prst="rightArrow">
            <a:avLst>
              <a:gd fmla="val 50000" name="adj1"/>
              <a:gd fmla="val 50000" name="adj2"/>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4"/>
          <p:cNvSpPr/>
          <p:nvPr/>
        </p:nvSpPr>
        <p:spPr>
          <a:xfrm>
            <a:off x="6254496"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4"/>
          <p:cNvSpPr txBox="1"/>
          <p:nvPr/>
        </p:nvSpPr>
        <p:spPr>
          <a:xfrm>
            <a:off x="6391656"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3. Phê duyệt</a:t>
            </a:r>
            <a:endParaRPr b="0" i="0" sz="1400" u="none" cap="none" strike="noStrike">
              <a:solidFill>
                <a:schemeClr val="dk1"/>
              </a:solidFill>
              <a:latin typeface="Calibri"/>
              <a:ea typeface="Calibri"/>
              <a:cs typeface="Calibri"/>
              <a:sym typeface="Calibri"/>
            </a:endParaRPr>
          </a:p>
        </p:txBody>
      </p:sp>
      <p:sp>
        <p:nvSpPr>
          <p:cNvPr id="381" name="Google Shape;381;p14"/>
          <p:cNvSpPr txBox="1"/>
          <p:nvPr/>
        </p:nvSpPr>
        <p:spPr>
          <a:xfrm>
            <a:off x="6391656"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Chủ sản phẩm và PM duyệt thay đổi nhỏ. Ban chỉ đạo duyệt thay đổi về giá, mốc vận hành.</a:t>
            </a:r>
            <a:endParaRPr b="0" i="0" sz="1200" u="none" cap="none" strike="noStrike">
              <a:solidFill>
                <a:schemeClr val="dk1"/>
              </a:solidFill>
              <a:latin typeface="Calibri"/>
              <a:ea typeface="Calibri"/>
              <a:cs typeface="Calibri"/>
              <a:sym typeface="Calibri"/>
            </a:endParaRPr>
          </a:p>
        </p:txBody>
      </p:sp>
      <p:sp>
        <p:nvSpPr>
          <p:cNvPr id="382" name="Google Shape;382;p14"/>
          <p:cNvSpPr/>
          <p:nvPr/>
        </p:nvSpPr>
        <p:spPr>
          <a:xfrm>
            <a:off x="8814816" y="2103120"/>
            <a:ext cx="246888" cy="274320"/>
          </a:xfrm>
          <a:prstGeom prst="rightArrow">
            <a:avLst>
              <a:gd fmla="val 50000" name="adj1"/>
              <a:gd fmla="val 50000" name="adj2"/>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4"/>
          <p:cNvSpPr/>
          <p:nvPr/>
        </p:nvSpPr>
        <p:spPr>
          <a:xfrm>
            <a:off x="9107424" y="1600200"/>
            <a:ext cx="2514600" cy="128016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4"/>
          <p:cNvSpPr txBox="1"/>
          <p:nvPr/>
        </p:nvSpPr>
        <p:spPr>
          <a:xfrm>
            <a:off x="9244584" y="1691640"/>
            <a:ext cx="224028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4. Cập nhật cấu hình</a:t>
            </a:r>
            <a:endParaRPr b="0" i="0" sz="1400" u="none" cap="none" strike="noStrike">
              <a:solidFill>
                <a:schemeClr val="dk1"/>
              </a:solidFill>
              <a:latin typeface="Calibri"/>
              <a:ea typeface="Calibri"/>
              <a:cs typeface="Calibri"/>
              <a:sym typeface="Calibri"/>
            </a:endParaRPr>
          </a:p>
        </p:txBody>
      </p:sp>
      <p:sp>
        <p:nvSpPr>
          <p:cNvPr id="385" name="Google Shape;385;p14"/>
          <p:cNvSpPr txBox="1"/>
          <p:nvPr/>
        </p:nvSpPr>
        <p:spPr>
          <a:xfrm>
            <a:off x="9244584" y="201168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Cập nhật phiên bản SRS, API, CSDL và mã nguồn liên quan.</a:t>
            </a:r>
            <a:endParaRPr b="0" i="0" sz="1200" u="none" cap="none" strike="noStrike">
              <a:solidFill>
                <a:schemeClr val="dk1"/>
              </a:solidFill>
              <a:latin typeface="Calibri"/>
              <a:ea typeface="Calibri"/>
              <a:cs typeface="Calibri"/>
              <a:sym typeface="Calibri"/>
            </a:endParaRPr>
          </a:p>
        </p:txBody>
      </p:sp>
      <p:sp>
        <p:nvSpPr>
          <p:cNvPr id="386" name="Google Shape;386;p14"/>
          <p:cNvSpPr/>
          <p:nvPr/>
        </p:nvSpPr>
        <p:spPr>
          <a:xfrm>
            <a:off x="548640" y="3154680"/>
            <a:ext cx="3566160" cy="2103120"/>
          </a:xfrm>
          <a:prstGeom prst="roundRect">
            <a:avLst>
              <a:gd fmla="val 3478" name="adj"/>
            </a:avLst>
          </a:prstGeom>
          <a:solidFill>
            <a:schemeClr val="lt1"/>
          </a:solidFill>
          <a:ln cap="flat" cmpd="sng" w="12700">
            <a:solidFill>
              <a:srgbClr val="C9D2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4"/>
          <p:cNvSpPr/>
          <p:nvPr/>
        </p:nvSpPr>
        <p:spPr>
          <a:xfrm>
            <a:off x="731520" y="333756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8" name="Google Shape;388;p14"/>
          <p:cNvPicPr preferRelativeResize="0"/>
          <p:nvPr/>
        </p:nvPicPr>
        <p:blipFill rotWithShape="1">
          <a:blip r:embed="rId3">
            <a:alphaModFix/>
          </a:blip>
          <a:srcRect b="0" l="0" r="0" t="0"/>
          <a:stretch/>
        </p:blipFill>
        <p:spPr>
          <a:xfrm>
            <a:off x="842162" y="3448202"/>
            <a:ext cx="281635" cy="281635"/>
          </a:xfrm>
          <a:prstGeom prst="rect">
            <a:avLst/>
          </a:prstGeom>
          <a:noFill/>
          <a:ln>
            <a:noFill/>
          </a:ln>
        </p:spPr>
      </p:pic>
      <p:sp>
        <p:nvSpPr>
          <p:cNvPr id="389" name="Google Shape;389;p14"/>
          <p:cNvSpPr txBox="1"/>
          <p:nvPr/>
        </p:nvSpPr>
        <p:spPr>
          <a:xfrm>
            <a:off x="1371600" y="3401568"/>
            <a:ext cx="2606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Định nghĩa hoàn thành</a:t>
            </a:r>
            <a:endParaRPr b="0" i="0" sz="1500" u="none" cap="none" strike="noStrike">
              <a:solidFill>
                <a:schemeClr val="dk1"/>
              </a:solidFill>
              <a:latin typeface="Calibri"/>
              <a:ea typeface="Calibri"/>
              <a:cs typeface="Calibri"/>
              <a:sym typeface="Calibri"/>
            </a:endParaRPr>
          </a:p>
        </p:txBody>
      </p:sp>
      <p:sp>
        <p:nvSpPr>
          <p:cNvPr id="390" name="Google Shape;390;p14"/>
          <p:cNvSpPr txBox="1"/>
          <p:nvPr/>
        </p:nvSpPr>
        <p:spPr>
          <a:xfrm>
            <a:off x="731520" y="4023360"/>
            <a:ext cx="3200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50"/>
              <a:buFont typeface="Calibri"/>
              <a:buNone/>
            </a:pPr>
            <a:r>
              <a:rPr b="0" i="0" lang="en-US" sz="1550" u="none" cap="none" strike="noStrike">
                <a:solidFill>
                  <a:schemeClr val="dk1"/>
                </a:solidFill>
                <a:latin typeface="Calibri"/>
                <a:ea typeface="Calibri"/>
                <a:cs typeface="Calibri"/>
                <a:sym typeface="Calibri"/>
              </a:rPr>
              <a:t>Review mã nguồn, kiểm thử đơn vị đạt, triển khai thành công trên môi trường thử, cập nhật tài liệu và xác nhận tại buổi demo.</a:t>
            </a:r>
            <a:endParaRPr b="0" i="0" sz="1550" u="none" cap="none" strike="noStrike">
              <a:solidFill>
                <a:schemeClr val="dk1"/>
              </a:solidFill>
              <a:latin typeface="Calibri"/>
              <a:ea typeface="Calibri"/>
              <a:cs typeface="Calibri"/>
              <a:sym typeface="Calibri"/>
            </a:endParaRPr>
          </a:p>
        </p:txBody>
      </p:sp>
      <p:sp>
        <p:nvSpPr>
          <p:cNvPr id="391" name="Google Shape;391;p14"/>
          <p:cNvSpPr/>
          <p:nvPr/>
        </p:nvSpPr>
        <p:spPr>
          <a:xfrm>
            <a:off x="4297680" y="3154680"/>
            <a:ext cx="3566160" cy="2103120"/>
          </a:xfrm>
          <a:prstGeom prst="roundRect">
            <a:avLst>
              <a:gd fmla="val 3478" name="adj"/>
            </a:avLst>
          </a:prstGeom>
          <a:solidFill>
            <a:schemeClr val="lt1"/>
          </a:solidFill>
          <a:ln cap="flat" cmpd="sng" w="12700">
            <a:solidFill>
              <a:srgbClr val="C9D2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4"/>
          <p:cNvSpPr/>
          <p:nvPr/>
        </p:nvSpPr>
        <p:spPr>
          <a:xfrm>
            <a:off x="4480560" y="333756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3" name="Google Shape;393;p14"/>
          <p:cNvPicPr preferRelativeResize="0"/>
          <p:nvPr/>
        </p:nvPicPr>
        <p:blipFill rotWithShape="1">
          <a:blip r:embed="rId4">
            <a:alphaModFix/>
          </a:blip>
          <a:srcRect b="0" l="0" r="0" t="0"/>
          <a:stretch/>
        </p:blipFill>
        <p:spPr>
          <a:xfrm>
            <a:off x="4591202" y="3448202"/>
            <a:ext cx="281635" cy="281635"/>
          </a:xfrm>
          <a:prstGeom prst="rect">
            <a:avLst/>
          </a:prstGeom>
          <a:noFill/>
          <a:ln>
            <a:noFill/>
          </a:ln>
        </p:spPr>
      </p:pic>
      <p:sp>
        <p:nvSpPr>
          <p:cNvPr id="394" name="Google Shape;394;p14"/>
          <p:cNvSpPr txBox="1"/>
          <p:nvPr/>
        </p:nvSpPr>
        <p:spPr>
          <a:xfrm>
            <a:off x="5120640" y="3401568"/>
            <a:ext cx="2606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Chất lượng và nghiệm thu</a:t>
            </a:r>
            <a:endParaRPr b="0" i="0" sz="1500" u="none" cap="none" strike="noStrike">
              <a:solidFill>
                <a:schemeClr val="dk1"/>
              </a:solidFill>
              <a:latin typeface="Calibri"/>
              <a:ea typeface="Calibri"/>
              <a:cs typeface="Calibri"/>
              <a:sym typeface="Calibri"/>
            </a:endParaRPr>
          </a:p>
        </p:txBody>
      </p:sp>
      <p:sp>
        <p:nvSpPr>
          <p:cNvPr id="395" name="Google Shape;395;p14"/>
          <p:cNvSpPr txBox="1"/>
          <p:nvPr/>
        </p:nvSpPr>
        <p:spPr>
          <a:xfrm>
            <a:off x="4480560" y="4023360"/>
            <a:ext cx="3200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50"/>
              <a:buFont typeface="Calibri"/>
              <a:buNone/>
            </a:pPr>
            <a:r>
              <a:rPr b="0" i="0" lang="en-US" sz="1550" u="none" cap="none" strike="noStrike">
                <a:solidFill>
                  <a:schemeClr val="dk1"/>
                </a:solidFill>
                <a:latin typeface="Calibri"/>
                <a:ea typeface="Calibri"/>
                <a:cs typeface="Calibri"/>
                <a:sym typeface="Calibri"/>
              </a:rPr>
              <a:t>Truy vết yêu cầu với test case, phân loại lỗi. Nghiệm thu khi UAT đạt và không còn lỗi gây gián đoạn đặt hàng.</a:t>
            </a:r>
            <a:endParaRPr b="0" i="0" sz="1550" u="none" cap="none" strike="noStrike">
              <a:solidFill>
                <a:schemeClr val="dk1"/>
              </a:solidFill>
              <a:latin typeface="Calibri"/>
              <a:ea typeface="Calibri"/>
              <a:cs typeface="Calibri"/>
              <a:sym typeface="Calibri"/>
            </a:endParaRPr>
          </a:p>
        </p:txBody>
      </p:sp>
      <p:sp>
        <p:nvSpPr>
          <p:cNvPr id="396" name="Google Shape;396;p14"/>
          <p:cNvSpPr/>
          <p:nvPr/>
        </p:nvSpPr>
        <p:spPr>
          <a:xfrm>
            <a:off x="8046720" y="3154680"/>
            <a:ext cx="3566160" cy="2103120"/>
          </a:xfrm>
          <a:prstGeom prst="roundRect">
            <a:avLst>
              <a:gd fmla="val 3478" name="adj"/>
            </a:avLst>
          </a:prstGeom>
          <a:solidFill>
            <a:schemeClr val="lt1"/>
          </a:solidFill>
          <a:ln cap="flat" cmpd="sng" w="12700">
            <a:solidFill>
              <a:srgbClr val="C9D2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4"/>
          <p:cNvSpPr/>
          <p:nvPr/>
        </p:nvSpPr>
        <p:spPr>
          <a:xfrm>
            <a:off x="8229600" y="3337560"/>
            <a:ext cx="502920" cy="50292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8" name="Google Shape;398;p14"/>
          <p:cNvPicPr preferRelativeResize="0"/>
          <p:nvPr/>
        </p:nvPicPr>
        <p:blipFill rotWithShape="1">
          <a:blip r:embed="rId5">
            <a:alphaModFix/>
          </a:blip>
          <a:srcRect b="0" l="0" r="0" t="0"/>
          <a:stretch/>
        </p:blipFill>
        <p:spPr>
          <a:xfrm>
            <a:off x="8340242" y="3448202"/>
            <a:ext cx="281635" cy="281635"/>
          </a:xfrm>
          <a:prstGeom prst="rect">
            <a:avLst/>
          </a:prstGeom>
          <a:noFill/>
          <a:ln>
            <a:noFill/>
          </a:ln>
        </p:spPr>
      </p:pic>
      <p:sp>
        <p:nvSpPr>
          <p:cNvPr id="399" name="Google Shape;399;p14"/>
          <p:cNvSpPr txBox="1"/>
          <p:nvPr/>
        </p:nvSpPr>
        <p:spPr>
          <a:xfrm>
            <a:off x="8869680" y="3401568"/>
            <a:ext cx="2606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Quản lý cấu hình</a:t>
            </a:r>
            <a:endParaRPr b="0" i="0" sz="1500" u="none" cap="none" strike="noStrike">
              <a:solidFill>
                <a:schemeClr val="dk1"/>
              </a:solidFill>
              <a:latin typeface="Calibri"/>
              <a:ea typeface="Calibri"/>
              <a:cs typeface="Calibri"/>
              <a:sym typeface="Calibri"/>
            </a:endParaRPr>
          </a:p>
        </p:txBody>
      </p:sp>
      <p:sp>
        <p:nvSpPr>
          <p:cNvPr id="400" name="Google Shape;400;p14"/>
          <p:cNvSpPr txBox="1"/>
          <p:nvPr/>
        </p:nvSpPr>
        <p:spPr>
          <a:xfrm>
            <a:off x="8229600" y="4023360"/>
            <a:ext cx="3200400"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50"/>
              <a:buFont typeface="Calibri"/>
              <a:buNone/>
            </a:pPr>
            <a:r>
              <a:rPr b="0" i="0" lang="en-US" sz="1550" u="none" cap="none" strike="noStrike">
                <a:solidFill>
                  <a:schemeClr val="dk1"/>
                </a:solidFill>
                <a:latin typeface="Calibri"/>
                <a:ea typeface="Calibri"/>
                <a:cs typeface="Calibri"/>
                <a:sym typeface="Calibri"/>
              </a:rPr>
              <a:t>Đánh phiên bản SRS, API, CSDL, mã nguồn và xác nhận phiên bản cuối mỗi sprint. Có phương án rollback khi phát hành.</a:t>
            </a:r>
            <a:endParaRPr b="0" i="0" sz="1550" u="none" cap="none" strike="noStrike">
              <a:solidFill>
                <a:schemeClr val="dk1"/>
              </a:solidFill>
              <a:latin typeface="Calibri"/>
              <a:ea typeface="Calibri"/>
              <a:cs typeface="Calibri"/>
              <a:sym typeface="Calibri"/>
            </a:endParaRPr>
          </a:p>
        </p:txBody>
      </p:sp>
      <p:sp>
        <p:nvSpPr>
          <p:cNvPr id="401" name="Google Shape;401;p14"/>
          <p:cNvSpPr txBox="1"/>
          <p:nvPr/>
        </p:nvSpPr>
        <p:spPr>
          <a:xfrm>
            <a:off x="548640" y="5486400"/>
            <a:ext cx="110642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Calibri"/>
              <a:buNone/>
            </a:pPr>
            <a:r>
              <a:rPr b="0" i="1" lang="en-US" sz="1200" u="none" cap="none" strike="noStrike">
                <a:solidFill>
                  <a:schemeClr val="accent4"/>
                </a:solidFill>
                <a:latin typeface="Calibri"/>
                <a:ea typeface="Calibri"/>
                <a:cs typeface="Calibri"/>
                <a:sym typeface="Calibri"/>
              </a:rPr>
              <a:t>Nội dung là quy trình theo kế hoạch, không phải kết quả kiểm thử thực tế.</a:t>
            </a:r>
            <a:endParaRPr b="0" i="0" sz="1200" u="none" cap="none" strike="noStrike">
              <a:solidFill>
                <a:schemeClr val="dk1"/>
              </a:solidFill>
              <a:latin typeface="Calibri"/>
              <a:ea typeface="Calibri"/>
              <a:cs typeface="Calibri"/>
              <a:sym typeface="Calibri"/>
            </a:endParaRPr>
          </a:p>
        </p:txBody>
      </p:sp>
      <p:sp>
        <p:nvSpPr>
          <p:cNvPr id="402" name="Google Shape;402;p14"/>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6F8189"/>
                </a:solidFill>
                <a:latin typeface="Calibri"/>
                <a:ea typeface="Calibri"/>
                <a:cs typeface="Calibri"/>
                <a:sym typeface="Calibri"/>
              </a:rPr>
              <a:t>‹#›</a:t>
            </a:fld>
            <a:endParaRPr b="0" i="0" sz="1000" u="none" cap="none" strike="noStrike">
              <a:solidFill>
                <a:srgbClr val="6F8189"/>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7" name="Shape 407"/>
        <p:cNvGrpSpPr/>
        <p:nvPr/>
      </p:nvGrpSpPr>
      <p:grpSpPr>
        <a:xfrm>
          <a:off x="0" y="0"/>
          <a:ext cx="0" cy="0"/>
          <a:chOff x="0" y="0"/>
          <a:chExt cx="0" cy="0"/>
        </a:xfrm>
      </p:grpSpPr>
      <p:sp>
        <p:nvSpPr>
          <p:cNvPr id="408" name="Google Shape;408;p17"/>
          <p:cNvSpPr txBox="1"/>
          <p:nvPr>
            <p:ph type="title"/>
          </p:nvPr>
        </p:nvSpPr>
        <p:spPr>
          <a:xfrm>
            <a:off x="548640" y="548640"/>
            <a:ext cx="11064240" cy="7315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3200"/>
              <a:buFont typeface="Cambria"/>
              <a:buNone/>
            </a:pPr>
            <a:r>
              <a:rPr lang="en-US" sz="3200">
                <a:solidFill>
                  <a:schemeClr val="dk2"/>
                </a:solidFill>
                <a:latin typeface="Arial"/>
                <a:ea typeface="Arial"/>
                <a:cs typeface="Arial"/>
                <a:sym typeface="Arial"/>
              </a:rPr>
              <a:t>Tổng kết</a:t>
            </a:r>
            <a:endParaRPr sz="3200">
              <a:solidFill>
                <a:schemeClr val="dk2"/>
              </a:solidFill>
              <a:latin typeface="Arial"/>
              <a:ea typeface="Arial"/>
              <a:cs typeface="Arial"/>
              <a:sym typeface="Arial"/>
            </a:endParaRPr>
          </a:p>
        </p:txBody>
      </p:sp>
      <p:sp>
        <p:nvSpPr>
          <p:cNvPr id="409" name="Google Shape;409;p17"/>
          <p:cNvSpPr/>
          <p:nvPr/>
        </p:nvSpPr>
        <p:spPr>
          <a:xfrm>
            <a:off x="54864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7"/>
          <p:cNvSpPr txBox="1"/>
          <p:nvPr/>
        </p:nvSpPr>
        <p:spPr>
          <a:xfrm>
            <a:off x="71323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Hồ sơ mời thầu</a:t>
            </a:r>
            <a:endParaRPr b="0" i="0" sz="1500" u="none" cap="none" strike="noStrike">
              <a:solidFill>
                <a:schemeClr val="dk1"/>
              </a:solidFill>
              <a:latin typeface="Arial"/>
              <a:ea typeface="Arial"/>
              <a:cs typeface="Arial"/>
              <a:sym typeface="Arial"/>
            </a:endParaRPr>
          </a:p>
        </p:txBody>
      </p:sp>
      <p:sp>
        <p:nvSpPr>
          <p:cNvPr id="411" name="Google Shape;411;p17"/>
          <p:cNvSpPr txBox="1"/>
          <p:nvPr/>
        </p:nvSpPr>
        <p:spPr>
          <a:xfrm>
            <a:off x="71323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Mẫu 5A, giá gói thầu 2 tỷ đồng, đủ 23 mục E-BDL và E-ĐKCT</a:t>
            </a:r>
            <a:endParaRPr b="0" i="0" sz="1400" u="none" cap="none" strike="noStrike">
              <a:solidFill>
                <a:schemeClr val="dk2"/>
              </a:solidFill>
              <a:latin typeface="Arial"/>
              <a:ea typeface="Arial"/>
              <a:cs typeface="Arial"/>
              <a:sym typeface="Arial"/>
            </a:endParaRPr>
          </a:p>
        </p:txBody>
      </p:sp>
      <p:sp>
        <p:nvSpPr>
          <p:cNvPr id="412" name="Google Shape;412;p17"/>
          <p:cNvSpPr/>
          <p:nvPr/>
        </p:nvSpPr>
        <p:spPr>
          <a:xfrm>
            <a:off x="278892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7"/>
          <p:cNvSpPr txBox="1"/>
          <p:nvPr/>
        </p:nvSpPr>
        <p:spPr>
          <a:xfrm>
            <a:off x="295351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WBS</a:t>
            </a:r>
            <a:endParaRPr b="0" i="0" sz="1500" u="none" cap="none" strike="noStrike">
              <a:solidFill>
                <a:schemeClr val="dk1"/>
              </a:solidFill>
              <a:latin typeface="Arial"/>
              <a:ea typeface="Arial"/>
              <a:cs typeface="Arial"/>
              <a:sym typeface="Arial"/>
            </a:endParaRPr>
          </a:p>
        </p:txBody>
      </p:sp>
      <p:sp>
        <p:nvSpPr>
          <p:cNvPr id="414" name="Google Shape;414;p17"/>
          <p:cNvSpPr txBox="1"/>
          <p:nvPr/>
        </p:nvSpPr>
        <p:spPr>
          <a:xfrm>
            <a:off x="295351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8 nhóm công việc, 4 phân hệ chức năng, tổng 657 MD</a:t>
            </a:r>
            <a:endParaRPr b="0" i="0" sz="1400" u="none" cap="none" strike="noStrike">
              <a:solidFill>
                <a:schemeClr val="dk2"/>
              </a:solidFill>
              <a:latin typeface="Arial"/>
              <a:ea typeface="Arial"/>
              <a:cs typeface="Arial"/>
              <a:sym typeface="Arial"/>
            </a:endParaRPr>
          </a:p>
        </p:txBody>
      </p:sp>
      <p:sp>
        <p:nvSpPr>
          <p:cNvPr id="415" name="Google Shape;415;p17"/>
          <p:cNvSpPr/>
          <p:nvPr/>
        </p:nvSpPr>
        <p:spPr>
          <a:xfrm>
            <a:off x="502920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7"/>
          <p:cNvSpPr txBox="1"/>
          <p:nvPr/>
        </p:nvSpPr>
        <p:spPr>
          <a:xfrm>
            <a:off x="519379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Tiến độ và nhân sự</a:t>
            </a:r>
            <a:endParaRPr b="0" i="0" sz="1500" u="none" cap="none" strike="noStrike">
              <a:solidFill>
                <a:schemeClr val="dk1"/>
              </a:solidFill>
              <a:latin typeface="Arial"/>
              <a:ea typeface="Arial"/>
              <a:cs typeface="Arial"/>
              <a:sym typeface="Arial"/>
            </a:endParaRPr>
          </a:p>
        </p:txBody>
      </p:sp>
      <p:sp>
        <p:nvSpPr>
          <p:cNvPr id="417" name="Google Shape;417;p17"/>
          <p:cNvSpPr txBox="1"/>
          <p:nvPr/>
        </p:nvSpPr>
        <p:spPr>
          <a:xfrm>
            <a:off x="519379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7 sprint, 5 người chính và 6 vị trí bổ sung, quỹ 677 MD</a:t>
            </a:r>
            <a:endParaRPr b="0" i="0" sz="1400" u="none" cap="none" strike="noStrike">
              <a:solidFill>
                <a:schemeClr val="dk2"/>
              </a:solidFill>
              <a:latin typeface="Arial"/>
              <a:ea typeface="Arial"/>
              <a:cs typeface="Arial"/>
              <a:sym typeface="Arial"/>
            </a:endParaRPr>
          </a:p>
        </p:txBody>
      </p:sp>
      <p:sp>
        <p:nvSpPr>
          <p:cNvPr id="418" name="Google Shape;418;p17"/>
          <p:cNvSpPr/>
          <p:nvPr/>
        </p:nvSpPr>
        <p:spPr>
          <a:xfrm>
            <a:off x="726948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7"/>
          <p:cNvSpPr txBox="1"/>
          <p:nvPr/>
        </p:nvSpPr>
        <p:spPr>
          <a:xfrm>
            <a:off x="743407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Ước lượng và chi phí</a:t>
            </a:r>
            <a:endParaRPr b="0" i="0" sz="1500" u="none" cap="none" strike="noStrike">
              <a:solidFill>
                <a:schemeClr val="dk1"/>
              </a:solidFill>
              <a:latin typeface="Arial"/>
              <a:ea typeface="Arial"/>
              <a:cs typeface="Arial"/>
              <a:sym typeface="Arial"/>
            </a:endParaRPr>
          </a:p>
        </p:txBody>
      </p:sp>
      <p:sp>
        <p:nvSpPr>
          <p:cNvPr id="420" name="Google Shape;420;p17"/>
          <p:cNvSpPr txBox="1"/>
          <p:nvPr/>
        </p:nvSpPr>
        <p:spPr>
          <a:xfrm>
            <a:off x="743407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Nỗ lực theo loại công việc, đối chiếu chi phí theo người, giá chào 1,75 tỷ đồng</a:t>
            </a:r>
            <a:endParaRPr b="0" i="0" sz="1400" u="none" cap="none" strike="noStrike">
              <a:solidFill>
                <a:schemeClr val="dk2"/>
              </a:solidFill>
              <a:latin typeface="Arial"/>
              <a:ea typeface="Arial"/>
              <a:cs typeface="Arial"/>
              <a:sym typeface="Arial"/>
            </a:endParaRPr>
          </a:p>
        </p:txBody>
      </p:sp>
      <p:sp>
        <p:nvSpPr>
          <p:cNvPr id="421" name="Google Shape;421;p17"/>
          <p:cNvSpPr/>
          <p:nvPr/>
        </p:nvSpPr>
        <p:spPr>
          <a:xfrm>
            <a:off x="9509760" y="1600200"/>
            <a:ext cx="2103120" cy="2377440"/>
          </a:xfrm>
          <a:prstGeom prst="roundRect">
            <a:avLst>
              <a:gd fmla="val 3478" name="adj"/>
            </a:avLst>
          </a:prstGeom>
          <a:solidFill>
            <a:schemeClr val="lt1">
              <a:alpha val="10196"/>
            </a:schemeClr>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7"/>
          <p:cNvSpPr txBox="1"/>
          <p:nvPr/>
        </p:nvSpPr>
        <p:spPr>
          <a:xfrm>
            <a:off x="9674352" y="1783080"/>
            <a:ext cx="17830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500"/>
              <a:buFont typeface="Calibri"/>
              <a:buNone/>
            </a:pPr>
            <a:r>
              <a:rPr b="1" i="0" lang="en-US" sz="1500" u="none" cap="none" strike="noStrike">
                <a:solidFill>
                  <a:schemeClr val="accent3"/>
                </a:solidFill>
                <a:latin typeface="Arial"/>
                <a:ea typeface="Arial"/>
                <a:cs typeface="Arial"/>
                <a:sym typeface="Arial"/>
              </a:rPr>
              <a:t>Kiểm soát và chuyển giao</a:t>
            </a:r>
            <a:endParaRPr b="0" i="0" sz="1500" u="none" cap="none" strike="noStrike">
              <a:solidFill>
                <a:schemeClr val="dk1"/>
              </a:solidFill>
              <a:latin typeface="Arial"/>
              <a:ea typeface="Arial"/>
              <a:cs typeface="Arial"/>
              <a:sym typeface="Arial"/>
            </a:endParaRPr>
          </a:p>
        </p:txBody>
      </p:sp>
      <p:sp>
        <p:nvSpPr>
          <p:cNvPr id="423" name="Google Shape;423;p17"/>
          <p:cNvSpPr txBox="1"/>
          <p:nvPr/>
        </p:nvSpPr>
        <p:spPr>
          <a:xfrm>
            <a:off x="9674352" y="2514600"/>
            <a:ext cx="178308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400"/>
              <a:buFont typeface="Calibri"/>
              <a:buNone/>
            </a:pPr>
            <a:r>
              <a:rPr b="0" i="0" lang="en-US" sz="1400" u="none" cap="none" strike="noStrike">
                <a:solidFill>
                  <a:schemeClr val="dk2"/>
                </a:solidFill>
                <a:latin typeface="Arial"/>
                <a:ea typeface="Arial"/>
                <a:cs typeface="Arial"/>
                <a:sym typeface="Arial"/>
              </a:rPr>
              <a:t>Chất lượng, thay đổi, cấu hình, rủi ro, báo cáo và điều kiện bàn giao</a:t>
            </a:r>
            <a:endParaRPr b="0" i="0" sz="1400" u="none" cap="none" strike="noStrike">
              <a:solidFill>
                <a:schemeClr val="dk2"/>
              </a:solidFill>
              <a:latin typeface="Arial"/>
              <a:ea typeface="Arial"/>
              <a:cs typeface="Arial"/>
              <a:sym typeface="Arial"/>
            </a:endParaRPr>
          </a:p>
        </p:txBody>
      </p:sp>
      <p:sp>
        <p:nvSpPr>
          <p:cNvPr id="424" name="Google Shape;424;p17"/>
          <p:cNvSpPr txBox="1"/>
          <p:nvPr/>
        </p:nvSpPr>
        <p:spPr>
          <a:xfrm>
            <a:off x="548640" y="4343400"/>
            <a:ext cx="11064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900"/>
              <a:buFont typeface="Cambria"/>
              <a:buNone/>
            </a:pPr>
            <a:r>
              <a:rPr b="0" i="0" lang="en-US" sz="1900" u="none" cap="none" strike="noStrike">
                <a:solidFill>
                  <a:schemeClr val="dk2"/>
                </a:solidFill>
                <a:latin typeface="Arial"/>
                <a:ea typeface="Arial"/>
                <a:cs typeface="Arial"/>
                <a:sym typeface="Arial"/>
              </a:rPr>
              <a:t>Các tài liệu được liên kết theo mã WBS: công việc, thời gian, nhân sự, chi phí và kiểm soát dự án.</a:t>
            </a:r>
            <a:endParaRPr b="0" i="0" sz="1900" u="none" cap="none" strike="noStrike">
              <a:solidFill>
                <a:schemeClr val="dk2"/>
              </a:solidFill>
              <a:latin typeface="Arial"/>
              <a:ea typeface="Arial"/>
              <a:cs typeface="Arial"/>
              <a:sym typeface="Arial"/>
            </a:endParaRPr>
          </a:p>
        </p:txBody>
      </p:sp>
      <p:sp>
        <p:nvSpPr>
          <p:cNvPr id="425" name="Google Shape;425;p17"/>
          <p:cNvSpPr txBox="1"/>
          <p:nvPr/>
        </p:nvSpPr>
        <p:spPr>
          <a:xfrm>
            <a:off x="548640" y="5120640"/>
            <a:ext cx="11064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3000"/>
              <a:buFont typeface="Cambria"/>
              <a:buNone/>
            </a:pPr>
            <a:r>
              <a:rPr b="1" i="0" lang="en-US" sz="3000" u="none" cap="none" strike="noStrike">
                <a:solidFill>
                  <a:schemeClr val="accent3"/>
                </a:solidFill>
                <a:latin typeface="Arial"/>
                <a:ea typeface="Arial"/>
                <a:cs typeface="Arial"/>
                <a:sym typeface="Arial"/>
              </a:rPr>
              <a:t>Trao đổi và câu hỏi</a:t>
            </a:r>
            <a:endParaRPr b="0" i="0" sz="3000" u="none" cap="none" strike="noStrike">
              <a:solidFill>
                <a:schemeClr val="dk1"/>
              </a:solidFill>
              <a:latin typeface="Arial"/>
              <a:ea typeface="Arial"/>
              <a:cs typeface="Arial"/>
              <a:sym typeface="Arial"/>
            </a:endParaRPr>
          </a:p>
        </p:txBody>
      </p:sp>
      <p:sp>
        <p:nvSpPr>
          <p:cNvPr id="426" name="Google Shape;426;p17"/>
          <p:cNvSpPr txBox="1"/>
          <p:nvPr>
            <p:ph idx="4294967295" type="sldNum"/>
          </p:nvPr>
        </p:nvSpPr>
        <p:spPr>
          <a:xfrm>
            <a:off x="1110996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i="0" lang="en-US" sz="1000" u="none" cap="none" strike="noStrike">
                <a:solidFill>
                  <a:srgbClr val="A8C1C4"/>
                </a:solidFill>
                <a:latin typeface="Arial"/>
                <a:ea typeface="Arial"/>
                <a:cs typeface="Arial"/>
                <a:sym typeface="Arial"/>
              </a:rPr>
              <a:t>‹#›</a:t>
            </a:fld>
            <a:endParaRPr i="0" sz="1000" u="none" cap="none" strike="noStrike">
              <a:solidFill>
                <a:srgbClr val="A8C1C4"/>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1" name="Shape 43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ABC Wear W3">
  <a:themeElements>
    <a:clrScheme name="ABC Wear W3">
      <a:dk1>
        <a:srgbClr val="1D2327"/>
      </a:dk1>
      <a:lt1>
        <a:srgbClr val="FFFFFF"/>
      </a:lt1>
      <a:dk2>
        <a:srgbClr val="24343D"/>
      </a:dk2>
      <a:lt2>
        <a:srgbClr val="EEF2F3"/>
      </a:lt2>
      <a:accent1>
        <a:srgbClr val="B4523A"/>
      </a:accent1>
      <a:accent2>
        <a:srgbClr val="3E6F74"/>
      </a:accent2>
      <a:accent3>
        <a:srgbClr val="D3A13F"/>
      </a:accent3>
      <a:accent4>
        <a:srgbClr val="6F8189"/>
      </a:accent4>
      <a:accent5>
        <a:srgbClr val="8A3A2A"/>
      </a:accent5>
      <a:accent6>
        <a:srgbClr val="A8C1C4"/>
      </a:accent6>
      <a:hlink>
        <a:srgbClr val="3E6F74"/>
      </a:hlink>
      <a:folHlink>
        <a:srgbClr val="6F81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C Wear W3">
  <a:themeElements>
    <a:clrScheme name="ABC Wear W3">
      <a:dk1>
        <a:srgbClr val="1D2327"/>
      </a:dk1>
      <a:lt1>
        <a:srgbClr val="FFFFFF"/>
      </a:lt1>
      <a:dk2>
        <a:srgbClr val="24343D"/>
      </a:dk2>
      <a:lt2>
        <a:srgbClr val="EEF2F3"/>
      </a:lt2>
      <a:accent1>
        <a:srgbClr val="B4523A"/>
      </a:accent1>
      <a:accent2>
        <a:srgbClr val="3E6F74"/>
      </a:accent2>
      <a:accent3>
        <a:srgbClr val="D3A13F"/>
      </a:accent3>
      <a:accent4>
        <a:srgbClr val="6F8189"/>
      </a:accent4>
      <a:accent5>
        <a:srgbClr val="8A3A2A"/>
      </a:accent5>
      <a:accent6>
        <a:srgbClr val="A8C1C4"/>
      </a:accent6>
      <a:hlink>
        <a:srgbClr val="3E6F74"/>
      </a:hlink>
      <a:folHlink>
        <a:srgbClr val="6F81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2026-10-02T18:09:41Z</dcterms:created>
  <dc:creator>Tran Ba Dat</dc:creator>
</cp:coreProperties>
</file>